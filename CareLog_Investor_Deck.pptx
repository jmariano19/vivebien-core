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3E2D"/>
        </a:solidFill>
      </p:bgPr>
    </p:bg>
    <p:spTree>
      <p:nvGrpSpPr>
        <p:cNvPr id="1" name=""/>
        <p:cNvGrpSpPr/>
        <p:nvPr/>
      </p:nvGrpSpPr>
      <p:grpSpPr>
        <a:xfrm>
          <a:off x="0" y="0"/>
          <a:ext cx="0" cy="0"/>
          <a:chOff x="0" y="0"/>
          <a:chExt cx="0" cy="0"/>
        </a:xfrm>
      </p:grpSpPr>
      <p:sp>
        <p:nvSpPr>
          <p:cNvPr id="2" name="Text 0"/>
          <p:cNvSpPr/>
          <p:nvPr/>
        </p:nvSpPr>
        <p:spPr>
          <a:xfrm>
            <a:off x="731520" y="457200"/>
            <a:ext cx="7680960" cy="109728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Every Visit Starts at Zero.</a:t>
            </a:r>
            <a:endParaRPr lang="en-US" sz="4000" dirty="0"/>
          </a:p>
        </p:txBody>
      </p:sp>
      <p:sp>
        <p:nvSpPr>
          <p:cNvPr id="3" name="Text 1"/>
          <p:cNvSpPr/>
          <p:nvPr/>
        </p:nvSpPr>
        <p:spPr>
          <a:xfrm>
            <a:off x="914400" y="1828800"/>
            <a:ext cx="1371600" cy="731520"/>
          </a:xfrm>
          <a:prstGeom prst="rect">
            <a:avLst/>
          </a:prstGeom>
          <a:noFill/>
          <a:ln/>
        </p:spPr>
        <p:txBody>
          <a:bodyPr wrap="square" lIns="0" tIns="0" rIns="0" bIns="0" rtlCol="0" anchor="ctr"/>
          <a:lstStyle/>
          <a:p>
            <a:pPr algn="r" indent="0" marL="0">
              <a:buNone/>
            </a:pPr>
            <a:r>
              <a:rPr lang="en-US" sz="5200" b="1" dirty="0">
                <a:solidFill>
                  <a:srgbClr val="3DDC84"/>
                </a:solidFill>
                <a:latin typeface="Georgia" pitchFamily="34" charset="0"/>
                <a:ea typeface="Georgia" pitchFamily="34" charset="-122"/>
                <a:cs typeface="Georgia" pitchFamily="34" charset="-120"/>
              </a:rPr>
              <a:t>15</a:t>
            </a:r>
            <a:endParaRPr lang="en-US" sz="5200" dirty="0"/>
          </a:p>
        </p:txBody>
      </p:sp>
      <p:sp>
        <p:nvSpPr>
          <p:cNvPr id="4" name="Text 2"/>
          <p:cNvSpPr/>
          <p:nvPr/>
        </p:nvSpPr>
        <p:spPr>
          <a:xfrm>
            <a:off x="2468880" y="1901952"/>
            <a:ext cx="3200400" cy="640080"/>
          </a:xfrm>
          <a:prstGeom prst="rect">
            <a:avLst/>
          </a:prstGeom>
          <a:noFill/>
          <a:ln/>
        </p:spPr>
        <p:txBody>
          <a:bodyPr wrap="square" lIns="0" tIns="0" rIns="0" bIns="0" rtlCol="0" anchor="ctr"/>
          <a:lstStyle/>
          <a:p>
            <a:pPr indent="0" marL="0">
              <a:buNone/>
            </a:pPr>
            <a:r>
              <a:rPr lang="en-US" sz="1500" dirty="0">
                <a:solidFill>
                  <a:srgbClr val="E8E8E0"/>
                </a:solidFill>
                <a:latin typeface="Calibri" pitchFamily="34" charset="0"/>
                <a:ea typeface="Calibri" pitchFamily="34" charset="-122"/>
                <a:cs typeface="Calibri" pitchFamily="34" charset="-120"/>
              </a:rPr>
              <a:t>minutes per visit. The entire allocation.</a:t>
            </a:r>
            <a:endParaRPr lang="en-US" sz="1500" dirty="0"/>
          </a:p>
        </p:txBody>
      </p:sp>
      <p:sp>
        <p:nvSpPr>
          <p:cNvPr id="5" name="Text 3"/>
          <p:cNvSpPr/>
          <p:nvPr/>
        </p:nvSpPr>
        <p:spPr>
          <a:xfrm>
            <a:off x="914400" y="2743200"/>
            <a:ext cx="1371600" cy="731520"/>
          </a:xfrm>
          <a:prstGeom prst="rect">
            <a:avLst/>
          </a:prstGeom>
          <a:noFill/>
          <a:ln/>
        </p:spPr>
        <p:txBody>
          <a:bodyPr wrap="square" lIns="0" tIns="0" rIns="0" bIns="0" rtlCol="0" anchor="ctr"/>
          <a:lstStyle/>
          <a:p>
            <a:pPr algn="r" indent="0" marL="0">
              <a:buNone/>
            </a:pPr>
            <a:r>
              <a:rPr lang="en-US" sz="5200" b="1" dirty="0">
                <a:solidFill>
                  <a:srgbClr val="E86060"/>
                </a:solidFill>
                <a:latin typeface="Georgia" pitchFamily="34" charset="0"/>
                <a:ea typeface="Georgia" pitchFamily="34" charset="-122"/>
                <a:cs typeface="Georgia" pitchFamily="34" charset="-120"/>
              </a:rPr>
              <a:t>10</a:t>
            </a:r>
            <a:endParaRPr lang="en-US" sz="5200" dirty="0"/>
          </a:p>
        </p:txBody>
      </p:sp>
      <p:sp>
        <p:nvSpPr>
          <p:cNvPr id="6" name="Text 4"/>
          <p:cNvSpPr/>
          <p:nvPr/>
        </p:nvSpPr>
        <p:spPr>
          <a:xfrm>
            <a:off x="2468880" y="2816352"/>
            <a:ext cx="3200400" cy="640080"/>
          </a:xfrm>
          <a:prstGeom prst="rect">
            <a:avLst/>
          </a:prstGeom>
          <a:noFill/>
          <a:ln/>
        </p:spPr>
        <p:txBody>
          <a:bodyPr wrap="square" lIns="0" tIns="0" rIns="0" bIns="0" rtlCol="0" anchor="ctr"/>
          <a:lstStyle/>
          <a:p>
            <a:pPr indent="0" marL="0">
              <a:buNone/>
            </a:pPr>
            <a:r>
              <a:rPr lang="en-US" sz="1500" dirty="0">
                <a:solidFill>
                  <a:srgbClr val="E8E8E0"/>
                </a:solidFill>
                <a:latin typeface="Calibri" pitchFamily="34" charset="0"/>
                <a:ea typeface="Calibri" pitchFamily="34" charset="-122"/>
                <a:cs typeface="Calibri" pitchFamily="34" charset="-120"/>
              </a:rPr>
              <a:t>consumed by reconstruction. Not reasoning.</a:t>
            </a:r>
            <a:endParaRPr lang="en-US" sz="1500" dirty="0"/>
          </a:p>
        </p:txBody>
      </p:sp>
      <p:sp>
        <p:nvSpPr>
          <p:cNvPr id="7" name="Text 5"/>
          <p:cNvSpPr/>
          <p:nvPr/>
        </p:nvSpPr>
        <p:spPr>
          <a:xfrm>
            <a:off x="914400" y="3657600"/>
            <a:ext cx="1371600" cy="731520"/>
          </a:xfrm>
          <a:prstGeom prst="rect">
            <a:avLst/>
          </a:prstGeom>
          <a:noFill/>
          <a:ln/>
        </p:spPr>
        <p:txBody>
          <a:bodyPr wrap="square" lIns="0" tIns="0" rIns="0" bIns="0" rtlCol="0" anchor="ctr"/>
          <a:lstStyle/>
          <a:p>
            <a:pPr algn="r" indent="0" marL="0">
              <a:buNone/>
            </a:pPr>
            <a:r>
              <a:rPr lang="en-US" sz="5200" b="1" dirty="0">
                <a:solidFill>
                  <a:srgbClr val="E8A838"/>
                </a:solidFill>
                <a:latin typeface="Georgia" pitchFamily="34" charset="0"/>
                <a:ea typeface="Georgia" pitchFamily="34" charset="-122"/>
                <a:cs typeface="Georgia" pitchFamily="34" charset="-120"/>
              </a:rPr>
              <a:t>5</a:t>
            </a:r>
            <a:endParaRPr lang="en-US" sz="5200" dirty="0"/>
          </a:p>
        </p:txBody>
      </p:sp>
      <p:sp>
        <p:nvSpPr>
          <p:cNvPr id="8" name="Text 6"/>
          <p:cNvSpPr/>
          <p:nvPr/>
        </p:nvSpPr>
        <p:spPr>
          <a:xfrm>
            <a:off x="2468880" y="3730752"/>
            <a:ext cx="3200400" cy="640080"/>
          </a:xfrm>
          <a:prstGeom prst="rect">
            <a:avLst/>
          </a:prstGeom>
          <a:noFill/>
          <a:ln/>
        </p:spPr>
        <p:txBody>
          <a:bodyPr wrap="square" lIns="0" tIns="0" rIns="0" bIns="0" rtlCol="0" anchor="ctr"/>
          <a:lstStyle/>
          <a:p>
            <a:pPr indent="0" marL="0">
              <a:buNone/>
            </a:pPr>
            <a:r>
              <a:rPr lang="en-US" sz="1500" dirty="0">
                <a:solidFill>
                  <a:srgbClr val="E8E8E0"/>
                </a:solidFill>
                <a:latin typeface="Calibri" pitchFamily="34" charset="0"/>
                <a:ea typeface="Calibri" pitchFamily="34" charset="-122"/>
                <a:cs typeface="Calibri" pitchFamily="34" charset="-120"/>
              </a:rPr>
              <a:t>remain. For diagnosis, treatment, and the patient.</a:t>
            </a:r>
            <a:endParaRPr lang="en-US" sz="1500" dirty="0"/>
          </a:p>
        </p:txBody>
      </p:sp>
      <p:sp>
        <p:nvSpPr>
          <p:cNvPr id="9" name="Shape 7"/>
          <p:cNvSpPr/>
          <p:nvPr/>
        </p:nvSpPr>
        <p:spPr>
          <a:xfrm>
            <a:off x="5943600" y="1828800"/>
            <a:ext cx="2743200" cy="2560320"/>
          </a:xfrm>
          <a:prstGeom prst="roundRect">
            <a:avLst>
              <a:gd name="adj" fmla="val 4286"/>
            </a:avLst>
          </a:prstGeom>
          <a:solidFill>
            <a:srgbClr val="374738"/>
          </a:solidFill>
          <a:ln/>
        </p:spPr>
      </p:sp>
      <p:sp>
        <p:nvSpPr>
          <p:cNvPr id="10" name="Text 8"/>
          <p:cNvSpPr/>
          <p:nvPr/>
        </p:nvSpPr>
        <p:spPr>
          <a:xfrm>
            <a:off x="5943600" y="1965960"/>
            <a:ext cx="2743200" cy="914400"/>
          </a:xfrm>
          <a:prstGeom prst="rect">
            <a:avLst/>
          </a:prstGeom>
          <a:noFill/>
          <a:ln/>
        </p:spPr>
        <p:txBody>
          <a:bodyPr wrap="square" lIns="0" tIns="0" rIns="0" bIns="0" rtlCol="0" anchor="ctr"/>
          <a:lstStyle/>
          <a:p>
            <a:pPr algn="ctr" indent="0" marL="0">
              <a:buNone/>
            </a:pPr>
            <a:r>
              <a:rPr lang="en-US" sz="4800" b="1" dirty="0">
                <a:solidFill>
                  <a:srgbClr val="E86060"/>
                </a:solidFill>
                <a:latin typeface="Georgia" pitchFamily="34" charset="0"/>
                <a:ea typeface="Georgia" pitchFamily="34" charset="-122"/>
                <a:cs typeface="Georgia" pitchFamily="34" charset="-120"/>
              </a:rPr>
              <a:t>$150B+</a:t>
            </a:r>
            <a:endParaRPr lang="en-US" sz="4800" dirty="0"/>
          </a:p>
        </p:txBody>
      </p:sp>
      <p:sp>
        <p:nvSpPr>
          <p:cNvPr id="11" name="Text 9"/>
          <p:cNvSpPr/>
          <p:nvPr/>
        </p:nvSpPr>
        <p:spPr>
          <a:xfrm>
            <a:off x="6126480" y="2880360"/>
            <a:ext cx="2377440" cy="1097280"/>
          </a:xfrm>
          <a:prstGeom prst="rect">
            <a:avLst/>
          </a:prstGeom>
          <a:noFill/>
          <a:ln/>
        </p:spPr>
        <p:txBody>
          <a:bodyPr wrap="square" lIns="0" tIns="0" rIns="0" bIns="0" rtlCol="0" anchor="ctr"/>
          <a:lstStyle/>
          <a:p>
            <a:pPr algn="ctr" indent="0" marL="0">
              <a:lnSpc>
                <a:spcPct val="135000"/>
              </a:lnSpc>
              <a:buNone/>
            </a:pPr>
            <a:r>
              <a:rPr lang="en-US" sz="1300" dirty="0">
                <a:solidFill>
                  <a:srgbClr val="E8E8E0"/>
                </a:solidFill>
                <a:latin typeface="Calibri" pitchFamily="34" charset="0"/>
                <a:ea typeface="Calibri" pitchFamily="34" charset="-122"/>
                <a:cs typeface="Calibri" pitchFamily="34" charset="-120"/>
              </a:rPr>
              <a:t>estimated annual cost</a:t>
            </a:r>
            <a:endParaRPr lang="en-US" sz="1300" dirty="0"/>
          </a:p>
          <a:p>
            <a:pPr algn="ctr" indent="0" marL="0">
              <a:lnSpc>
                <a:spcPct val="135000"/>
              </a:lnSpc>
              <a:buNone/>
            </a:pPr>
            <a:r>
              <a:rPr lang="en-US" sz="1300" dirty="0">
                <a:solidFill>
                  <a:srgbClr val="E8E8E0"/>
                </a:solidFill>
                <a:latin typeface="Calibri" pitchFamily="34" charset="0"/>
                <a:ea typeface="Calibri" pitchFamily="34" charset="-122"/>
                <a:cs typeface="Calibri" pitchFamily="34" charset="-120"/>
              </a:rPr>
              <a:t>of clinical reconstruction</a:t>
            </a:r>
            <a:endParaRPr lang="en-US" sz="1300" dirty="0"/>
          </a:p>
          <a:p>
            <a:pPr algn="ctr" indent="0" marL="0">
              <a:lnSpc>
                <a:spcPct val="135000"/>
              </a:lnSpc>
              <a:buNone/>
            </a:pPr>
            <a:r>
              <a:rPr lang="en-US" sz="1300" dirty="0">
                <a:solidFill>
                  <a:srgbClr val="E8E8E0"/>
                </a:solidFill>
                <a:latin typeface="Calibri" pitchFamily="34" charset="0"/>
                <a:ea typeface="Calibri" pitchFamily="34" charset="-122"/>
                <a:cs typeface="Calibri" pitchFamily="34" charset="-120"/>
              </a:rPr>
              <a:t>across US primary care</a:t>
            </a:r>
            <a:endParaRPr lang="en-US" sz="1300" dirty="0"/>
          </a:p>
        </p:txBody>
      </p:sp>
      <p:sp>
        <p:nvSpPr>
          <p:cNvPr id="12" name="Text 10"/>
          <p:cNvSpPr/>
          <p:nvPr/>
        </p:nvSpPr>
        <p:spPr>
          <a:xfrm>
            <a:off x="731520" y="4572000"/>
            <a:ext cx="7680960" cy="365760"/>
          </a:xfrm>
          <a:prstGeom prst="rect">
            <a:avLst/>
          </a:prstGeom>
          <a:noFill/>
          <a:ln/>
        </p:spPr>
        <p:txBody>
          <a:bodyPr wrap="square" lIns="0" tIns="0" rIns="0" bIns="0" rtlCol="0" anchor="ctr"/>
          <a:lstStyle/>
          <a:p>
            <a:pPr indent="0" marL="0">
              <a:buNone/>
            </a:pPr>
            <a:r>
              <a:rPr lang="en-US" sz="1400" i="1" dirty="0">
                <a:solidFill>
                  <a:srgbClr val="E8A838"/>
                </a:solidFill>
                <a:latin typeface="Calibri" pitchFamily="34" charset="0"/>
                <a:ea typeface="Calibri" pitchFamily="34" charset="-122"/>
                <a:cs typeface="Calibri" pitchFamily="34" charset="-120"/>
              </a:rPr>
              <a:t>This is not inefficiency. It is a structural failure in how medicine stores time.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C3E2D"/>
        </a:solidFill>
      </p:bgPr>
    </p:bg>
    <p:spTree>
      <p:nvGrpSpPr>
        <p:cNvPr id="1" name=""/>
        <p:cNvGrpSpPr/>
        <p:nvPr/>
      </p:nvGrpSpPr>
      <p:grpSpPr>
        <a:xfrm>
          <a:off x="0" y="0"/>
          <a:ext cx="0" cy="0"/>
          <a:chOff x="0" y="0"/>
          <a:chExt cx="0" cy="0"/>
        </a:xfrm>
      </p:grpSpPr>
      <p:sp>
        <p:nvSpPr>
          <p:cNvPr id="2" name="Text 0"/>
          <p:cNvSpPr/>
          <p:nvPr/>
        </p:nvSpPr>
        <p:spPr>
          <a:xfrm>
            <a:off x="731520" y="457200"/>
            <a:ext cx="7680960" cy="82296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What Breaks Without Longitudinal Signal</a:t>
            </a:r>
            <a:endParaRPr lang="en-US" sz="3400" dirty="0"/>
          </a:p>
        </p:txBody>
      </p:sp>
      <p:sp>
        <p:nvSpPr>
          <p:cNvPr id="3" name="Shape 1"/>
          <p:cNvSpPr/>
          <p:nvPr/>
        </p:nvSpPr>
        <p:spPr>
          <a:xfrm>
            <a:off x="731520" y="1554480"/>
            <a:ext cx="54864" cy="411480"/>
          </a:xfrm>
          <a:prstGeom prst="rect">
            <a:avLst/>
          </a:prstGeom>
          <a:solidFill>
            <a:srgbClr val="E86060"/>
          </a:solidFill>
          <a:ln/>
        </p:spPr>
      </p:sp>
      <p:sp>
        <p:nvSpPr>
          <p:cNvPr id="4" name="Text 2"/>
          <p:cNvSpPr/>
          <p:nvPr/>
        </p:nvSpPr>
        <p:spPr>
          <a:xfrm>
            <a:off x="1005840" y="1508760"/>
            <a:ext cx="4572000" cy="502920"/>
          </a:xfrm>
          <a:prstGeom prst="rect">
            <a:avLst/>
          </a:prstGeom>
          <a:noFill/>
          <a:ln/>
        </p:spPr>
        <p:txBody>
          <a:bodyPr wrap="square" lIns="0" tIns="0" rIns="0" bIns="0" rtlCol="0" anchor="ctr"/>
          <a:lstStyle/>
          <a:p>
            <a:pPr indent="0" marL="0">
              <a:buNone/>
            </a:pPr>
            <a:r>
              <a:rPr lang="en-US" sz="1400" dirty="0">
                <a:solidFill>
                  <a:srgbClr val="E8E8E0"/>
                </a:solidFill>
                <a:latin typeface="Calibri" pitchFamily="34" charset="0"/>
                <a:ea typeface="Calibri" pitchFamily="34" charset="-122"/>
                <a:cs typeface="Calibri" pitchFamily="34" charset="-120"/>
              </a:rPr>
              <a:t>Drug interactions go undetected across visits</a:t>
            </a:r>
            <a:endParaRPr lang="en-US" sz="1400" dirty="0"/>
          </a:p>
        </p:txBody>
      </p:sp>
      <p:sp>
        <p:nvSpPr>
          <p:cNvPr id="5" name="Text 3"/>
          <p:cNvSpPr/>
          <p:nvPr/>
        </p:nvSpPr>
        <p:spPr>
          <a:xfrm>
            <a:off x="5760720" y="1508760"/>
            <a:ext cx="2926080" cy="502920"/>
          </a:xfrm>
          <a:prstGeom prst="rect">
            <a:avLst/>
          </a:prstGeom>
          <a:noFill/>
          <a:ln/>
        </p:spPr>
        <p:txBody>
          <a:bodyPr wrap="square" lIns="0" tIns="0" rIns="0" bIns="0" rtlCol="0" anchor="ctr"/>
          <a:lstStyle/>
          <a:p>
            <a:pPr algn="r" indent="0" marL="0">
              <a:buNone/>
            </a:pPr>
            <a:r>
              <a:rPr lang="en-US" sz="1200" i="1" dirty="0">
                <a:solidFill>
                  <a:srgbClr val="E86060"/>
                </a:solidFill>
                <a:latin typeface="Calibri" pitchFamily="34" charset="0"/>
                <a:ea typeface="Calibri" pitchFamily="34" charset="-122"/>
                <a:cs typeface="Calibri" pitchFamily="34" charset="-120"/>
              </a:rPr>
              <a:t>1.3M ER visits/yr from adverse drug events</a:t>
            </a:r>
            <a:endParaRPr lang="en-US" sz="1200" dirty="0"/>
          </a:p>
        </p:txBody>
      </p:sp>
      <p:sp>
        <p:nvSpPr>
          <p:cNvPr id="6" name="Shape 4"/>
          <p:cNvSpPr/>
          <p:nvPr/>
        </p:nvSpPr>
        <p:spPr>
          <a:xfrm>
            <a:off x="731520" y="2148840"/>
            <a:ext cx="54864" cy="411480"/>
          </a:xfrm>
          <a:prstGeom prst="rect">
            <a:avLst/>
          </a:prstGeom>
          <a:solidFill>
            <a:srgbClr val="E86060"/>
          </a:solidFill>
          <a:ln/>
        </p:spPr>
      </p:sp>
      <p:sp>
        <p:nvSpPr>
          <p:cNvPr id="7" name="Text 5"/>
          <p:cNvSpPr/>
          <p:nvPr/>
        </p:nvSpPr>
        <p:spPr>
          <a:xfrm>
            <a:off x="1005840" y="2103120"/>
            <a:ext cx="4572000" cy="502920"/>
          </a:xfrm>
          <a:prstGeom prst="rect">
            <a:avLst/>
          </a:prstGeom>
          <a:noFill/>
          <a:ln/>
        </p:spPr>
        <p:txBody>
          <a:bodyPr wrap="square" lIns="0" tIns="0" rIns="0" bIns="0" rtlCol="0" anchor="ctr"/>
          <a:lstStyle/>
          <a:p>
            <a:pPr indent="0" marL="0">
              <a:buNone/>
            </a:pPr>
            <a:r>
              <a:rPr lang="en-US" sz="1400" dirty="0">
                <a:solidFill>
                  <a:srgbClr val="E8E8E0"/>
                </a:solidFill>
                <a:latin typeface="Calibri" pitchFamily="34" charset="0"/>
                <a:ea typeface="Calibri" pitchFamily="34" charset="-122"/>
                <a:cs typeface="Calibri" pitchFamily="34" charset="-120"/>
              </a:rPr>
              <a:t>Chronic disease progresses without pattern recognition</a:t>
            </a:r>
            <a:endParaRPr lang="en-US" sz="1400" dirty="0"/>
          </a:p>
        </p:txBody>
      </p:sp>
      <p:sp>
        <p:nvSpPr>
          <p:cNvPr id="8" name="Text 6"/>
          <p:cNvSpPr/>
          <p:nvPr/>
        </p:nvSpPr>
        <p:spPr>
          <a:xfrm>
            <a:off x="5760720" y="2103120"/>
            <a:ext cx="2926080" cy="502920"/>
          </a:xfrm>
          <a:prstGeom prst="rect">
            <a:avLst/>
          </a:prstGeom>
          <a:noFill/>
          <a:ln/>
        </p:spPr>
        <p:txBody>
          <a:bodyPr wrap="square" lIns="0" tIns="0" rIns="0" bIns="0" rtlCol="0" anchor="ctr"/>
          <a:lstStyle/>
          <a:p>
            <a:pPr algn="r" indent="0" marL="0">
              <a:buNone/>
            </a:pPr>
            <a:r>
              <a:rPr lang="en-US" sz="1200" i="1" dirty="0">
                <a:solidFill>
                  <a:srgbClr val="E86060"/>
                </a:solidFill>
                <a:latin typeface="Calibri" pitchFamily="34" charset="0"/>
                <a:ea typeface="Calibri" pitchFamily="34" charset="-122"/>
                <a:cs typeface="Calibri" pitchFamily="34" charset="-120"/>
              </a:rPr>
              <a:t>80% of chronic conditions are undertreated</a:t>
            </a:r>
            <a:endParaRPr lang="en-US" sz="1200" dirty="0"/>
          </a:p>
        </p:txBody>
      </p:sp>
      <p:sp>
        <p:nvSpPr>
          <p:cNvPr id="9" name="Shape 7"/>
          <p:cNvSpPr/>
          <p:nvPr/>
        </p:nvSpPr>
        <p:spPr>
          <a:xfrm>
            <a:off x="731520" y="2743200"/>
            <a:ext cx="54864" cy="411480"/>
          </a:xfrm>
          <a:prstGeom prst="rect">
            <a:avLst/>
          </a:prstGeom>
          <a:solidFill>
            <a:srgbClr val="E86060"/>
          </a:solidFill>
          <a:ln/>
        </p:spPr>
      </p:sp>
      <p:sp>
        <p:nvSpPr>
          <p:cNvPr id="10" name="Text 8"/>
          <p:cNvSpPr/>
          <p:nvPr/>
        </p:nvSpPr>
        <p:spPr>
          <a:xfrm>
            <a:off x="1005840" y="2697480"/>
            <a:ext cx="4572000" cy="502920"/>
          </a:xfrm>
          <a:prstGeom prst="rect">
            <a:avLst/>
          </a:prstGeom>
          <a:noFill/>
          <a:ln/>
        </p:spPr>
        <p:txBody>
          <a:bodyPr wrap="square" lIns="0" tIns="0" rIns="0" bIns="0" rtlCol="0" anchor="ctr"/>
          <a:lstStyle/>
          <a:p>
            <a:pPr indent="0" marL="0">
              <a:buNone/>
            </a:pPr>
            <a:r>
              <a:rPr lang="en-US" sz="1400" dirty="0">
                <a:solidFill>
                  <a:srgbClr val="E8E8E0"/>
                </a:solidFill>
                <a:latin typeface="Calibri" pitchFamily="34" charset="0"/>
                <a:ea typeface="Calibri" pitchFamily="34" charset="-122"/>
                <a:cs typeface="Calibri" pitchFamily="34" charset="-120"/>
              </a:rPr>
              <a:t>Diagnostic reasoning operates on incomplete signal</a:t>
            </a:r>
            <a:endParaRPr lang="en-US" sz="1400" dirty="0"/>
          </a:p>
        </p:txBody>
      </p:sp>
      <p:sp>
        <p:nvSpPr>
          <p:cNvPr id="11" name="Text 9"/>
          <p:cNvSpPr/>
          <p:nvPr/>
        </p:nvSpPr>
        <p:spPr>
          <a:xfrm>
            <a:off x="5760720" y="2697480"/>
            <a:ext cx="2926080" cy="502920"/>
          </a:xfrm>
          <a:prstGeom prst="rect">
            <a:avLst/>
          </a:prstGeom>
          <a:noFill/>
          <a:ln/>
        </p:spPr>
        <p:txBody>
          <a:bodyPr wrap="square" lIns="0" tIns="0" rIns="0" bIns="0" rtlCol="0" anchor="ctr"/>
          <a:lstStyle/>
          <a:p>
            <a:pPr algn="r" indent="0" marL="0">
              <a:buNone/>
            </a:pPr>
            <a:r>
              <a:rPr lang="en-US" sz="1200" i="1" dirty="0">
                <a:solidFill>
                  <a:srgbClr val="E86060"/>
                </a:solidFill>
                <a:latin typeface="Calibri" pitchFamily="34" charset="0"/>
                <a:ea typeface="Calibri" pitchFamily="34" charset="-122"/>
                <a:cs typeface="Calibri" pitchFamily="34" charset="-120"/>
              </a:rPr>
              <a:t>12M adults misdiagnosed annually in US</a:t>
            </a:r>
            <a:endParaRPr lang="en-US" sz="1200" dirty="0"/>
          </a:p>
        </p:txBody>
      </p:sp>
      <p:sp>
        <p:nvSpPr>
          <p:cNvPr id="12" name="Shape 10"/>
          <p:cNvSpPr/>
          <p:nvPr/>
        </p:nvSpPr>
        <p:spPr>
          <a:xfrm>
            <a:off x="731520" y="3337560"/>
            <a:ext cx="54864" cy="411480"/>
          </a:xfrm>
          <a:prstGeom prst="rect">
            <a:avLst/>
          </a:prstGeom>
          <a:solidFill>
            <a:srgbClr val="E86060"/>
          </a:solidFill>
          <a:ln/>
        </p:spPr>
      </p:sp>
      <p:sp>
        <p:nvSpPr>
          <p:cNvPr id="13" name="Text 11"/>
          <p:cNvSpPr/>
          <p:nvPr/>
        </p:nvSpPr>
        <p:spPr>
          <a:xfrm>
            <a:off x="1005840" y="3291840"/>
            <a:ext cx="4572000" cy="502920"/>
          </a:xfrm>
          <a:prstGeom prst="rect">
            <a:avLst/>
          </a:prstGeom>
          <a:noFill/>
          <a:ln/>
        </p:spPr>
        <p:txBody>
          <a:bodyPr wrap="square" lIns="0" tIns="0" rIns="0" bIns="0" rtlCol="0" anchor="ctr"/>
          <a:lstStyle/>
          <a:p>
            <a:pPr indent="0" marL="0">
              <a:buNone/>
            </a:pPr>
            <a:r>
              <a:rPr lang="en-US" sz="1400" dirty="0">
                <a:solidFill>
                  <a:srgbClr val="E8E8E0"/>
                </a:solidFill>
                <a:latin typeface="Calibri" pitchFamily="34" charset="0"/>
                <a:ea typeface="Calibri" pitchFamily="34" charset="-122"/>
                <a:cs typeface="Calibri" pitchFamily="34" charset="-120"/>
              </a:rPr>
              <a:t>Clinicians reconstruct under time pressure, not certainty</a:t>
            </a:r>
            <a:endParaRPr lang="en-US" sz="1400" dirty="0"/>
          </a:p>
        </p:txBody>
      </p:sp>
      <p:sp>
        <p:nvSpPr>
          <p:cNvPr id="14" name="Text 12"/>
          <p:cNvSpPr/>
          <p:nvPr/>
        </p:nvSpPr>
        <p:spPr>
          <a:xfrm>
            <a:off x="5760720" y="3291840"/>
            <a:ext cx="2926080" cy="502920"/>
          </a:xfrm>
          <a:prstGeom prst="rect">
            <a:avLst/>
          </a:prstGeom>
          <a:noFill/>
          <a:ln/>
        </p:spPr>
        <p:txBody>
          <a:bodyPr wrap="square" lIns="0" tIns="0" rIns="0" bIns="0" rtlCol="0" anchor="ctr"/>
          <a:lstStyle/>
          <a:p>
            <a:pPr algn="r" indent="0" marL="0">
              <a:buNone/>
            </a:pPr>
            <a:r>
              <a:rPr lang="en-US" sz="1200" i="1" dirty="0">
                <a:solidFill>
                  <a:srgbClr val="E86060"/>
                </a:solidFill>
                <a:latin typeface="Calibri" pitchFamily="34" charset="0"/>
                <a:ea typeface="Calibri" pitchFamily="34" charset="-122"/>
                <a:cs typeface="Calibri" pitchFamily="34" charset="-120"/>
              </a:rPr>
              <a:t>67% of visit time is non-clinical</a:t>
            </a:r>
            <a:endParaRPr lang="en-US" sz="1200" dirty="0"/>
          </a:p>
        </p:txBody>
      </p:sp>
      <p:sp>
        <p:nvSpPr>
          <p:cNvPr id="15" name="Shape 13"/>
          <p:cNvSpPr/>
          <p:nvPr/>
        </p:nvSpPr>
        <p:spPr>
          <a:xfrm>
            <a:off x="731520" y="3931920"/>
            <a:ext cx="54864" cy="411480"/>
          </a:xfrm>
          <a:prstGeom prst="rect">
            <a:avLst/>
          </a:prstGeom>
          <a:solidFill>
            <a:srgbClr val="E86060"/>
          </a:solidFill>
          <a:ln/>
        </p:spPr>
      </p:sp>
      <p:sp>
        <p:nvSpPr>
          <p:cNvPr id="16" name="Text 14"/>
          <p:cNvSpPr/>
          <p:nvPr/>
        </p:nvSpPr>
        <p:spPr>
          <a:xfrm>
            <a:off x="1005840" y="3886200"/>
            <a:ext cx="4572000" cy="502920"/>
          </a:xfrm>
          <a:prstGeom prst="rect">
            <a:avLst/>
          </a:prstGeom>
          <a:noFill/>
          <a:ln/>
        </p:spPr>
        <p:txBody>
          <a:bodyPr wrap="square" lIns="0" tIns="0" rIns="0" bIns="0" rtlCol="0" anchor="ctr"/>
          <a:lstStyle/>
          <a:p>
            <a:pPr indent="0" marL="0">
              <a:buNone/>
            </a:pPr>
            <a:r>
              <a:rPr lang="en-US" sz="1400" dirty="0">
                <a:solidFill>
                  <a:srgbClr val="E8E8E0"/>
                </a:solidFill>
                <a:latin typeface="Calibri" pitchFamily="34" charset="0"/>
                <a:ea typeface="Calibri" pitchFamily="34" charset="-122"/>
                <a:cs typeface="Calibri" pitchFamily="34" charset="-120"/>
              </a:rPr>
              <a:t>Patient-reported experience vanishes between encounters</a:t>
            </a:r>
            <a:endParaRPr lang="en-US" sz="1400" dirty="0"/>
          </a:p>
        </p:txBody>
      </p:sp>
      <p:sp>
        <p:nvSpPr>
          <p:cNvPr id="17" name="Text 15"/>
          <p:cNvSpPr/>
          <p:nvPr/>
        </p:nvSpPr>
        <p:spPr>
          <a:xfrm>
            <a:off x="5760720" y="3886200"/>
            <a:ext cx="2926080" cy="502920"/>
          </a:xfrm>
          <a:prstGeom prst="rect">
            <a:avLst/>
          </a:prstGeom>
          <a:noFill/>
          <a:ln/>
        </p:spPr>
        <p:txBody>
          <a:bodyPr wrap="square" lIns="0" tIns="0" rIns="0" bIns="0" rtlCol="0" anchor="ctr"/>
          <a:lstStyle/>
          <a:p>
            <a:pPr algn="r" indent="0" marL="0">
              <a:buNone/>
            </a:pPr>
            <a:r>
              <a:rPr lang="en-US" sz="1200" i="1" dirty="0">
                <a:solidFill>
                  <a:srgbClr val="E86060"/>
                </a:solidFill>
                <a:latin typeface="Calibri" pitchFamily="34" charset="0"/>
                <a:ea typeface="Calibri" pitchFamily="34" charset="-122"/>
                <a:cs typeface="Calibri" pitchFamily="34" charset="-120"/>
              </a:rPr>
              <a:t>80% of health info forgotten post-visit</a:t>
            </a:r>
            <a:endParaRPr lang="en-US" sz="1200" dirty="0"/>
          </a:p>
        </p:txBody>
      </p:sp>
      <p:sp>
        <p:nvSpPr>
          <p:cNvPr id="18" name="Text 16"/>
          <p:cNvSpPr/>
          <p:nvPr/>
        </p:nvSpPr>
        <p:spPr>
          <a:xfrm>
            <a:off x="731520" y="4572000"/>
            <a:ext cx="7680960" cy="365760"/>
          </a:xfrm>
          <a:prstGeom prst="rect">
            <a:avLst/>
          </a:prstGeom>
          <a:noFill/>
          <a:ln/>
        </p:spPr>
        <p:txBody>
          <a:bodyPr wrap="square" lIns="0" tIns="0" rIns="0" bIns="0" rtlCol="0" anchor="ctr"/>
          <a:lstStyle/>
          <a:p>
            <a:pPr indent="0" marL="0">
              <a:buNone/>
            </a:pPr>
            <a:r>
              <a:rPr lang="en-US" sz="1300" i="1" dirty="0">
                <a:solidFill>
                  <a:srgbClr val="999999"/>
                </a:solidFill>
                <a:latin typeface="Calibri" pitchFamily="34" charset="0"/>
                <a:ea typeface="Calibri" pitchFamily="34" charset="-122"/>
                <a:cs typeface="Calibri" pitchFamily="34" charset="-120"/>
              </a:rPr>
              <a:t>These are not edge cases. They are the default operating condition of medicine without a memory layer.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C3E2D"/>
        </a:solidFill>
      </p:bgPr>
    </p:bg>
    <p:spTree>
      <p:nvGrpSpPr>
        <p:cNvPr id="1" name=""/>
        <p:cNvGrpSpPr/>
        <p:nvPr/>
      </p:nvGrpSpPr>
      <p:grpSpPr>
        <a:xfrm>
          <a:off x="0" y="0"/>
          <a:ext cx="0" cy="0"/>
          <a:chOff x="0" y="0"/>
          <a:chExt cx="0" cy="0"/>
        </a:xfrm>
      </p:grpSpPr>
      <p:sp>
        <p:nvSpPr>
          <p:cNvPr id="2" name="Text 0"/>
          <p:cNvSpPr/>
          <p:nvPr/>
        </p:nvSpPr>
        <p:spPr>
          <a:xfrm>
            <a:off x="914400" y="640080"/>
            <a:ext cx="7315200" cy="1097280"/>
          </a:xfrm>
          <a:prstGeom prst="rect">
            <a:avLst/>
          </a:prstGeom>
          <a:noFill/>
          <a:ln/>
        </p:spPr>
        <p:txBody>
          <a:bodyPr wrap="square" lIns="0" tIns="0" rIns="0" bIns="0" rtlCol="0" anchor="ctr"/>
          <a:lstStyle/>
          <a:p>
            <a:pPr algn="ctr" indent="0" marL="0">
              <a:buNone/>
            </a:pPr>
            <a:r>
              <a:rPr lang="en-US" sz="3800" b="1" dirty="0">
                <a:solidFill>
                  <a:srgbClr val="FFFFFF"/>
                </a:solidFill>
                <a:latin typeface="Georgia" pitchFamily="34" charset="0"/>
                <a:ea typeface="Georgia" pitchFamily="34" charset="-122"/>
                <a:cs typeface="Georgia" pitchFamily="34" charset="-120"/>
              </a:rPr>
              <a:t>Medicine Has No Memory Architecture.</a:t>
            </a:r>
            <a:endParaRPr lang="en-US" sz="3800" dirty="0"/>
          </a:p>
        </p:txBody>
      </p:sp>
      <p:sp>
        <p:nvSpPr>
          <p:cNvPr id="3" name="Text 1"/>
          <p:cNvSpPr/>
          <p:nvPr/>
        </p:nvSpPr>
        <p:spPr>
          <a:xfrm>
            <a:off x="1097280" y="2103120"/>
            <a:ext cx="6949440" cy="457200"/>
          </a:xfrm>
          <a:prstGeom prst="rect">
            <a:avLst/>
          </a:prstGeom>
          <a:noFill/>
          <a:ln/>
        </p:spPr>
        <p:txBody>
          <a:bodyPr wrap="square" lIns="0" tIns="0" rIns="0" bIns="0" rtlCol="0" anchor="ctr"/>
          <a:lstStyle/>
          <a:p>
            <a:pPr algn="ctr" indent="0" marL="0">
              <a:buNone/>
            </a:pPr>
            <a:r>
              <a:rPr lang="en-US" sz="1700" dirty="0">
                <a:solidFill>
                  <a:srgbClr val="E8E8E0"/>
                </a:solidFill>
                <a:latin typeface="Calibri" pitchFamily="34" charset="0"/>
                <a:ea typeface="Calibri" pitchFamily="34" charset="-122"/>
                <a:cs typeface="Calibri" pitchFamily="34" charset="-120"/>
              </a:rPr>
              <a:t>EHRs store encounters. They do not synthesize them.</a:t>
            </a:r>
            <a:endParaRPr lang="en-US" sz="1700" dirty="0"/>
          </a:p>
        </p:txBody>
      </p:sp>
      <p:sp>
        <p:nvSpPr>
          <p:cNvPr id="4" name="Text 2"/>
          <p:cNvSpPr/>
          <p:nvPr/>
        </p:nvSpPr>
        <p:spPr>
          <a:xfrm>
            <a:off x="1097280" y="2651760"/>
            <a:ext cx="6949440" cy="457200"/>
          </a:xfrm>
          <a:prstGeom prst="rect">
            <a:avLst/>
          </a:prstGeom>
          <a:noFill/>
          <a:ln/>
        </p:spPr>
        <p:txBody>
          <a:bodyPr wrap="square" lIns="0" tIns="0" rIns="0" bIns="0" rtlCol="0" anchor="ctr"/>
          <a:lstStyle/>
          <a:p>
            <a:pPr algn="ctr" indent="0" marL="0">
              <a:buNone/>
            </a:pPr>
            <a:r>
              <a:rPr lang="en-US" sz="1700" dirty="0">
                <a:solidFill>
                  <a:srgbClr val="E8E8E0"/>
                </a:solidFill>
                <a:latin typeface="Calibri" pitchFamily="34" charset="0"/>
                <a:ea typeface="Calibri" pitchFamily="34" charset="-122"/>
                <a:cs typeface="Calibri" pitchFamily="34" charset="-120"/>
              </a:rPr>
              <a:t>Patient portals display records. They do not structure signal.</a:t>
            </a:r>
            <a:endParaRPr lang="en-US" sz="1700" dirty="0"/>
          </a:p>
        </p:txBody>
      </p:sp>
      <p:sp>
        <p:nvSpPr>
          <p:cNvPr id="5" name="Text 3"/>
          <p:cNvSpPr/>
          <p:nvPr/>
        </p:nvSpPr>
        <p:spPr>
          <a:xfrm>
            <a:off x="1097280" y="3200400"/>
            <a:ext cx="6949440" cy="457200"/>
          </a:xfrm>
          <a:prstGeom prst="rect">
            <a:avLst/>
          </a:prstGeom>
          <a:noFill/>
          <a:ln/>
        </p:spPr>
        <p:txBody>
          <a:bodyPr wrap="square" lIns="0" tIns="0" rIns="0" bIns="0" rtlCol="0" anchor="ctr"/>
          <a:lstStyle/>
          <a:p>
            <a:pPr algn="ctr" indent="0" marL="0">
              <a:buNone/>
            </a:pPr>
            <a:r>
              <a:rPr lang="en-US" sz="1700" dirty="0">
                <a:solidFill>
                  <a:srgbClr val="E8E8E0"/>
                </a:solidFill>
                <a:latin typeface="Calibri" pitchFamily="34" charset="0"/>
                <a:ea typeface="Calibri" pitchFamily="34" charset="-122"/>
                <a:cs typeface="Calibri" pitchFamily="34" charset="-120"/>
              </a:rPr>
              <a:t>Phone calls check in. They do not capture longitudinal data.</a:t>
            </a:r>
            <a:endParaRPr lang="en-US" sz="1700" dirty="0"/>
          </a:p>
        </p:txBody>
      </p:sp>
      <p:sp>
        <p:nvSpPr>
          <p:cNvPr id="6" name="Text 4"/>
          <p:cNvSpPr/>
          <p:nvPr/>
        </p:nvSpPr>
        <p:spPr>
          <a:xfrm>
            <a:off x="1097280" y="3749040"/>
            <a:ext cx="6949440" cy="457200"/>
          </a:xfrm>
          <a:prstGeom prst="rect">
            <a:avLst/>
          </a:prstGeom>
          <a:noFill/>
          <a:ln/>
        </p:spPr>
        <p:txBody>
          <a:bodyPr wrap="square" lIns="0" tIns="0" rIns="0" bIns="0" rtlCol="0" anchor="ctr"/>
          <a:lstStyle/>
          <a:p>
            <a:pPr algn="ctr" indent="0" marL="0">
              <a:buNone/>
            </a:pPr>
            <a:r>
              <a:rPr lang="en-US" sz="1700" dirty="0">
                <a:solidFill>
                  <a:srgbClr val="FFFFFF"/>
                </a:solidFill>
                <a:latin typeface="Calibri" pitchFamily="34" charset="0"/>
                <a:ea typeface="Calibri" pitchFamily="34" charset="-122"/>
                <a:cs typeface="Calibri" pitchFamily="34" charset="-120"/>
              </a:rPr>
              <a:t>The human brain is asked to reconstruct what infrastructure should retain.</a:t>
            </a:r>
            <a:endParaRPr lang="en-US" sz="1700" dirty="0"/>
          </a:p>
        </p:txBody>
      </p:sp>
      <p:sp>
        <p:nvSpPr>
          <p:cNvPr id="7" name="Text 5"/>
          <p:cNvSpPr/>
          <p:nvPr/>
        </p:nvSpPr>
        <p:spPr>
          <a:xfrm>
            <a:off x="914400" y="4297680"/>
            <a:ext cx="7315200" cy="457200"/>
          </a:xfrm>
          <a:prstGeom prst="rect">
            <a:avLst/>
          </a:prstGeom>
          <a:noFill/>
          <a:ln/>
        </p:spPr>
        <p:txBody>
          <a:bodyPr wrap="square" lIns="0" tIns="0" rIns="0" bIns="0" rtlCol="0" anchor="ctr"/>
          <a:lstStyle/>
          <a:p>
            <a:pPr algn="ctr" indent="0" marL="0">
              <a:buNone/>
            </a:pPr>
            <a:r>
              <a:rPr lang="en-US" sz="1500" b="1" dirty="0">
                <a:solidFill>
                  <a:srgbClr val="3DDC84"/>
                </a:solidFill>
                <a:latin typeface="Calibri" pitchFamily="34" charset="0"/>
                <a:ea typeface="Calibri" pitchFamily="34" charset="-122"/>
                <a:cs typeface="Calibri" pitchFamily="34" charset="-120"/>
              </a:rPr>
              <a:t>The most dangerous failures in medicine are longitudinal. And there is no system catching them.</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C3E2D"/>
        </a:solidFill>
      </p:bgPr>
    </p:bg>
    <p:spTree>
      <p:nvGrpSpPr>
        <p:cNvPr id="1" name=""/>
        <p:cNvGrpSpPr/>
        <p:nvPr/>
      </p:nvGrpSpPr>
      <p:grpSpPr>
        <a:xfrm>
          <a:off x="0" y="0"/>
          <a:ext cx="0" cy="0"/>
          <a:chOff x="0" y="0"/>
          <a:chExt cx="0" cy="0"/>
        </a:xfrm>
      </p:grpSpPr>
      <p:sp>
        <p:nvSpPr>
          <p:cNvPr id="2" name="Text 0"/>
          <p:cNvSpPr/>
          <p:nvPr/>
        </p:nvSpPr>
        <p:spPr>
          <a:xfrm>
            <a:off x="731520" y="457200"/>
            <a:ext cx="7680960" cy="91440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The Missing Layer Is Not Optional.</a:t>
            </a:r>
            <a:endParaRPr lang="en-US" sz="3800" dirty="0"/>
          </a:p>
        </p:txBody>
      </p:sp>
      <p:sp>
        <p:nvSpPr>
          <p:cNvPr id="3" name="Text 1"/>
          <p:cNvSpPr/>
          <p:nvPr/>
        </p:nvSpPr>
        <p:spPr>
          <a:xfrm>
            <a:off x="731520" y="1554480"/>
            <a:ext cx="3657600" cy="457200"/>
          </a:xfrm>
          <a:prstGeom prst="rect">
            <a:avLst/>
          </a:prstGeom>
          <a:noFill/>
          <a:ln/>
        </p:spPr>
        <p:txBody>
          <a:bodyPr wrap="square" lIns="0" tIns="0" rIns="0" bIns="0" rtlCol="0" anchor="ctr"/>
          <a:lstStyle/>
          <a:p>
            <a:pPr indent="0" marL="0">
              <a:buNone/>
            </a:pPr>
            <a:r>
              <a:rPr lang="en-US" sz="1600" dirty="0">
                <a:solidFill>
                  <a:srgbClr val="999999"/>
                </a:solidFill>
                <a:latin typeface="Calibri" pitchFamily="34" charset="0"/>
                <a:ea typeface="Calibri" pitchFamily="34" charset="-122"/>
                <a:cs typeface="Calibri" pitchFamily="34" charset="-120"/>
              </a:rPr>
              <a:t>Modern medicine requires:</a:t>
            </a:r>
            <a:endParaRPr lang="en-US" sz="1600" dirty="0"/>
          </a:p>
        </p:txBody>
      </p:sp>
      <p:sp>
        <p:nvSpPr>
          <p:cNvPr id="4" name="Shape 2"/>
          <p:cNvSpPr/>
          <p:nvPr/>
        </p:nvSpPr>
        <p:spPr>
          <a:xfrm>
            <a:off x="731520" y="2194560"/>
            <a:ext cx="7680960" cy="475488"/>
          </a:xfrm>
          <a:prstGeom prst="roundRect">
            <a:avLst>
              <a:gd name="adj" fmla="val 15385"/>
            </a:avLst>
          </a:prstGeom>
          <a:solidFill>
            <a:srgbClr val="374738"/>
          </a:solidFill>
          <a:ln/>
        </p:spPr>
      </p:sp>
      <p:sp>
        <p:nvSpPr>
          <p:cNvPr id="5" name="Text 3"/>
          <p:cNvSpPr/>
          <p:nvPr/>
        </p:nvSpPr>
        <p:spPr>
          <a:xfrm>
            <a:off x="1097280" y="2194560"/>
            <a:ext cx="7132320" cy="475488"/>
          </a:xfrm>
          <a:prstGeom prst="rect">
            <a:avLst/>
          </a:prstGeom>
          <a:noFill/>
          <a:ln/>
        </p:spPr>
        <p:txBody>
          <a:bodyPr wrap="square" lIns="0" tIns="0" rIns="0" bIns="0" rtlCol="0" anchor="ctr"/>
          <a:lstStyle/>
          <a:p>
            <a:pPr indent="0" marL="0">
              <a:buNone/>
            </a:pPr>
            <a:r>
              <a:rPr lang="en-US" sz="1600" dirty="0">
                <a:solidFill>
                  <a:srgbClr val="3DDC84"/>
                </a:solidFill>
                <a:latin typeface="Calibri" pitchFamily="34" charset="0"/>
                <a:ea typeface="Calibri" pitchFamily="34" charset="-122"/>
                <a:cs typeface="Calibri" pitchFamily="34" charset="-120"/>
              </a:rPr>
              <a:t>Continuous patient signal capture between encounters</a:t>
            </a:r>
            <a:endParaRPr lang="en-US" sz="1600" dirty="0"/>
          </a:p>
        </p:txBody>
      </p:sp>
      <p:sp>
        <p:nvSpPr>
          <p:cNvPr id="6" name="Shape 4"/>
          <p:cNvSpPr/>
          <p:nvPr/>
        </p:nvSpPr>
        <p:spPr>
          <a:xfrm>
            <a:off x="731520" y="2788920"/>
            <a:ext cx="7680960" cy="475488"/>
          </a:xfrm>
          <a:prstGeom prst="roundRect">
            <a:avLst>
              <a:gd name="adj" fmla="val 15385"/>
            </a:avLst>
          </a:prstGeom>
          <a:solidFill>
            <a:srgbClr val="374738"/>
          </a:solidFill>
          <a:ln/>
        </p:spPr>
      </p:sp>
      <p:sp>
        <p:nvSpPr>
          <p:cNvPr id="7" name="Text 5"/>
          <p:cNvSpPr/>
          <p:nvPr/>
        </p:nvSpPr>
        <p:spPr>
          <a:xfrm>
            <a:off x="1097280" y="2788920"/>
            <a:ext cx="7132320" cy="475488"/>
          </a:xfrm>
          <a:prstGeom prst="rect">
            <a:avLst/>
          </a:prstGeom>
          <a:noFill/>
          <a:ln/>
        </p:spPr>
        <p:txBody>
          <a:bodyPr wrap="square" lIns="0" tIns="0" rIns="0" bIns="0" rtlCol="0" anchor="ctr"/>
          <a:lstStyle/>
          <a:p>
            <a:pPr indent="0" marL="0">
              <a:buNone/>
            </a:pPr>
            <a:r>
              <a:rPr lang="en-US" sz="1600" dirty="0">
                <a:solidFill>
                  <a:srgbClr val="3DDC84"/>
                </a:solidFill>
                <a:latin typeface="Calibri" pitchFamily="34" charset="0"/>
                <a:ea typeface="Calibri" pitchFamily="34" charset="-122"/>
                <a:cs typeface="Calibri" pitchFamily="34" charset="-120"/>
              </a:rPr>
              <a:t>Automatic structuring of lived experience into clinical format</a:t>
            </a:r>
            <a:endParaRPr lang="en-US" sz="1600" dirty="0"/>
          </a:p>
        </p:txBody>
      </p:sp>
      <p:sp>
        <p:nvSpPr>
          <p:cNvPr id="8" name="Shape 6"/>
          <p:cNvSpPr/>
          <p:nvPr/>
        </p:nvSpPr>
        <p:spPr>
          <a:xfrm>
            <a:off x="731520" y="3383280"/>
            <a:ext cx="7680960" cy="475488"/>
          </a:xfrm>
          <a:prstGeom prst="roundRect">
            <a:avLst>
              <a:gd name="adj" fmla="val 15385"/>
            </a:avLst>
          </a:prstGeom>
          <a:solidFill>
            <a:srgbClr val="374738"/>
          </a:solidFill>
          <a:ln/>
        </p:spPr>
      </p:sp>
      <p:sp>
        <p:nvSpPr>
          <p:cNvPr id="9" name="Text 7"/>
          <p:cNvSpPr/>
          <p:nvPr/>
        </p:nvSpPr>
        <p:spPr>
          <a:xfrm>
            <a:off x="1097280" y="3383280"/>
            <a:ext cx="7132320" cy="475488"/>
          </a:xfrm>
          <a:prstGeom prst="rect">
            <a:avLst/>
          </a:prstGeom>
          <a:noFill/>
          <a:ln/>
        </p:spPr>
        <p:txBody>
          <a:bodyPr wrap="square" lIns="0" tIns="0" rIns="0" bIns="0" rtlCol="0" anchor="ctr"/>
          <a:lstStyle/>
          <a:p>
            <a:pPr indent="0" marL="0">
              <a:buNone/>
            </a:pPr>
            <a:r>
              <a:rPr lang="en-US" sz="1600" dirty="0">
                <a:solidFill>
                  <a:srgbClr val="3DDC84"/>
                </a:solidFill>
                <a:latin typeface="Calibri" pitchFamily="34" charset="0"/>
                <a:ea typeface="Calibri" pitchFamily="34" charset="-122"/>
                <a:cs typeface="Calibri" pitchFamily="34" charset="-120"/>
              </a:rPr>
              <a:t>Longitudinal pattern recognition that exceeds human working memory</a:t>
            </a:r>
            <a:endParaRPr lang="en-US" sz="1600" dirty="0"/>
          </a:p>
        </p:txBody>
      </p:sp>
      <p:sp>
        <p:nvSpPr>
          <p:cNvPr id="10" name="Shape 8"/>
          <p:cNvSpPr/>
          <p:nvPr/>
        </p:nvSpPr>
        <p:spPr>
          <a:xfrm>
            <a:off x="731520" y="3977640"/>
            <a:ext cx="7680960" cy="475488"/>
          </a:xfrm>
          <a:prstGeom prst="roundRect">
            <a:avLst>
              <a:gd name="adj" fmla="val 15385"/>
            </a:avLst>
          </a:prstGeom>
          <a:solidFill>
            <a:srgbClr val="374738"/>
          </a:solidFill>
          <a:ln/>
        </p:spPr>
      </p:sp>
      <p:sp>
        <p:nvSpPr>
          <p:cNvPr id="11" name="Text 9"/>
          <p:cNvSpPr/>
          <p:nvPr/>
        </p:nvSpPr>
        <p:spPr>
          <a:xfrm>
            <a:off x="1097280" y="3977640"/>
            <a:ext cx="7132320" cy="475488"/>
          </a:xfrm>
          <a:prstGeom prst="rect">
            <a:avLst/>
          </a:prstGeom>
          <a:noFill/>
          <a:ln/>
        </p:spPr>
        <p:txBody>
          <a:bodyPr wrap="square" lIns="0" tIns="0" rIns="0" bIns="0" rtlCol="0" anchor="ctr"/>
          <a:lstStyle/>
          <a:p>
            <a:pPr indent="0" marL="0">
              <a:buNone/>
            </a:pPr>
            <a:r>
              <a:rPr lang="en-US" sz="1600" dirty="0">
                <a:solidFill>
                  <a:srgbClr val="3DDC84"/>
                </a:solidFill>
                <a:latin typeface="Calibri" pitchFamily="34" charset="0"/>
                <a:ea typeface="Calibri" pitchFamily="34" charset="-122"/>
                <a:cs typeface="Calibri" pitchFamily="34" charset="-120"/>
              </a:rPr>
              <a:t>Time-tracked documentation that converts care into reimbursable events</a:t>
            </a:r>
            <a:endParaRPr lang="en-US" sz="1600" dirty="0"/>
          </a:p>
        </p:txBody>
      </p:sp>
      <p:sp>
        <p:nvSpPr>
          <p:cNvPr id="12" name="Text 10"/>
          <p:cNvSpPr/>
          <p:nvPr/>
        </p:nvSpPr>
        <p:spPr>
          <a:xfrm>
            <a:off x="731520" y="4572000"/>
            <a:ext cx="7680960" cy="365760"/>
          </a:xfrm>
          <a:prstGeom prst="rect">
            <a:avLst/>
          </a:prstGeom>
          <a:noFill/>
          <a:ln/>
        </p:spPr>
        <p:txBody>
          <a:bodyPr wrap="square" lIns="0" tIns="0" rIns="0" bIns="0" rtlCol="0" anchor="ctr"/>
          <a:lstStyle/>
          <a:p>
            <a:pPr indent="0" marL="0">
              <a:buNone/>
            </a:pPr>
            <a:r>
              <a:rPr lang="en-US" sz="1400" i="1" dirty="0">
                <a:solidFill>
                  <a:srgbClr val="999999"/>
                </a:solidFill>
                <a:latin typeface="Calibri" pitchFamily="34" charset="0"/>
                <a:ea typeface="Calibri" pitchFamily="34" charset="-122"/>
                <a:cs typeface="Calibri" pitchFamily="34" charset="-120"/>
              </a:rPr>
              <a:t>This is not a feature set. It is infrastructure that does not yet exist at scale.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C3E2D"/>
        </a:solidFill>
      </p:bgPr>
    </p:bg>
    <p:spTree>
      <p:nvGrpSpPr>
        <p:cNvPr id="1" name=""/>
        <p:cNvGrpSpPr/>
        <p:nvPr/>
      </p:nvGrpSpPr>
      <p:grpSpPr>
        <a:xfrm>
          <a:off x="0" y="0"/>
          <a:ext cx="0" cy="0"/>
          <a:chOff x="0" y="0"/>
          <a:chExt cx="0" cy="0"/>
        </a:xfrm>
      </p:grpSpPr>
      <p:sp>
        <p:nvSpPr>
          <p:cNvPr id="2" name="Text 0"/>
          <p:cNvSpPr/>
          <p:nvPr/>
        </p:nvSpPr>
        <p:spPr>
          <a:xfrm>
            <a:off x="2011680" y="640080"/>
            <a:ext cx="2926080" cy="1188720"/>
          </a:xfrm>
          <a:prstGeom prst="rect">
            <a:avLst/>
          </a:prstGeom>
          <a:noFill/>
          <a:ln/>
        </p:spPr>
        <p:txBody>
          <a:bodyPr wrap="square" lIns="0" tIns="0" rIns="0" bIns="0" rtlCol="0" anchor="ctr"/>
          <a:lstStyle/>
          <a:p>
            <a:pPr algn="r" indent="0" marL="0">
              <a:buNone/>
            </a:pPr>
            <a:r>
              <a:rPr lang="en-US" sz="6400" b="1" dirty="0">
                <a:solidFill>
                  <a:srgbClr val="FFFFFF"/>
                </a:solidFill>
                <a:latin typeface="Georgia" pitchFamily="34" charset="0"/>
                <a:ea typeface="Georgia" pitchFamily="34" charset="-122"/>
                <a:cs typeface="Georgia" pitchFamily="34" charset="-120"/>
              </a:rPr>
              <a:t>Care</a:t>
            </a:r>
            <a:endParaRPr lang="en-US" sz="6400" dirty="0"/>
          </a:p>
        </p:txBody>
      </p:sp>
      <p:sp>
        <p:nvSpPr>
          <p:cNvPr id="3" name="Text 1"/>
          <p:cNvSpPr/>
          <p:nvPr/>
        </p:nvSpPr>
        <p:spPr>
          <a:xfrm>
            <a:off x="4754880" y="640080"/>
            <a:ext cx="2560320" cy="1188720"/>
          </a:xfrm>
          <a:prstGeom prst="rect">
            <a:avLst/>
          </a:prstGeom>
          <a:noFill/>
          <a:ln/>
        </p:spPr>
        <p:txBody>
          <a:bodyPr wrap="square" lIns="0" tIns="0" rIns="0" bIns="0" rtlCol="0" anchor="ctr"/>
          <a:lstStyle/>
          <a:p>
            <a:pPr algn="l" indent="0" marL="0">
              <a:buNone/>
            </a:pPr>
            <a:r>
              <a:rPr lang="en-US" sz="6400" b="1" dirty="0">
                <a:solidFill>
                  <a:srgbClr val="3DDC84"/>
                </a:solidFill>
                <a:latin typeface="Georgia" pitchFamily="34" charset="0"/>
                <a:ea typeface="Georgia" pitchFamily="34" charset="-122"/>
                <a:cs typeface="Georgia" pitchFamily="34" charset="-120"/>
              </a:rPr>
              <a:t>Log</a:t>
            </a:r>
            <a:endParaRPr lang="en-US" sz="6400" dirty="0"/>
          </a:p>
        </p:txBody>
      </p:sp>
      <p:sp>
        <p:nvSpPr>
          <p:cNvPr id="4" name="Text 2"/>
          <p:cNvSpPr/>
          <p:nvPr/>
        </p:nvSpPr>
        <p:spPr>
          <a:xfrm>
            <a:off x="1371600" y="1920240"/>
            <a:ext cx="6400800" cy="457200"/>
          </a:xfrm>
          <a:prstGeom prst="rect">
            <a:avLst/>
          </a:prstGeom>
          <a:noFill/>
          <a:ln/>
        </p:spPr>
        <p:txBody>
          <a:bodyPr wrap="square" lIns="0" tIns="0" rIns="0" bIns="0" rtlCol="0" anchor="ctr"/>
          <a:lstStyle/>
          <a:p>
            <a:pPr algn="ctr" indent="0" marL="0">
              <a:buNone/>
            </a:pPr>
            <a:r>
              <a:rPr lang="en-US" sz="1600" dirty="0">
                <a:solidFill>
                  <a:srgbClr val="999999"/>
                </a:solidFill>
                <a:latin typeface="Calibri" pitchFamily="34" charset="0"/>
                <a:ea typeface="Calibri" pitchFamily="34" charset="-122"/>
                <a:cs typeface="Calibri" pitchFamily="34" charset="-120"/>
              </a:rPr>
              <a:t>The Longitudinal Signal Layer for Modern Medicine</a:t>
            </a:r>
            <a:endParaRPr lang="en-US" sz="1600" dirty="0"/>
          </a:p>
        </p:txBody>
      </p:sp>
      <p:sp>
        <p:nvSpPr>
          <p:cNvPr id="5" name="Text 3"/>
          <p:cNvSpPr/>
          <p:nvPr/>
        </p:nvSpPr>
        <p:spPr>
          <a:xfrm>
            <a:off x="914400" y="2560320"/>
            <a:ext cx="7315200" cy="1280160"/>
          </a:xfrm>
          <a:prstGeom prst="rect">
            <a:avLst/>
          </a:prstGeom>
          <a:noFill/>
          <a:ln/>
        </p:spPr>
        <p:txBody>
          <a:bodyPr wrap="square" lIns="0" tIns="0" rIns="0" bIns="0" rtlCol="0" anchor="ctr"/>
          <a:lstStyle/>
          <a:p>
            <a:pPr algn="ctr" indent="0" marL="0">
              <a:lnSpc>
                <a:spcPct val="140000"/>
              </a:lnSpc>
              <a:buNone/>
            </a:pPr>
            <a:r>
              <a:rPr lang="en-US" sz="1600" dirty="0">
                <a:solidFill>
                  <a:srgbClr val="E8E8E0"/>
                </a:solidFill>
                <a:latin typeface="Calibri" pitchFamily="34" charset="0"/>
                <a:ea typeface="Calibri" pitchFamily="34" charset="-122"/>
                <a:cs typeface="Calibri" pitchFamily="34" charset="-120"/>
              </a:rPr>
              <a:t>CareLog captures patient-reported experience between visits via</a:t>
            </a:r>
            <a:endParaRPr lang="en-US" sz="1600" dirty="0"/>
          </a:p>
          <a:p>
            <a:pPr algn="ctr" indent="0" marL="0">
              <a:lnSpc>
                <a:spcPct val="140000"/>
              </a:lnSpc>
              <a:buNone/>
            </a:pPr>
            <a:r>
              <a:rPr lang="en-US" sz="1600" dirty="0">
                <a:solidFill>
                  <a:srgbClr val="E8E8E0"/>
                </a:solidFill>
                <a:latin typeface="Calibri" pitchFamily="34" charset="0"/>
                <a:ea typeface="Calibri" pitchFamily="34" charset="-122"/>
                <a:cs typeface="Calibri" pitchFamily="34" charset="-120"/>
              </a:rPr>
              <a:t>SMS and WhatsApp, structures it into clinical signal, tracks time</a:t>
            </a:r>
            <a:endParaRPr lang="en-US" sz="1600" dirty="0"/>
          </a:p>
          <a:p>
            <a:pPr algn="ctr" indent="0" marL="0">
              <a:lnSpc>
                <a:spcPct val="140000"/>
              </a:lnSpc>
              <a:buNone/>
            </a:pPr>
            <a:r>
              <a:rPr lang="en-US" sz="1600" dirty="0">
                <a:solidFill>
                  <a:srgbClr val="E8E8E0"/>
                </a:solidFill>
                <a:latin typeface="Calibri" pitchFamily="34" charset="0"/>
                <a:ea typeface="Calibri" pitchFamily="34" charset="-122"/>
                <a:cs typeface="Calibri" pitchFamily="34" charset="-120"/>
              </a:rPr>
              <a:t>for billing compliance, and delivers doctor-ready summaries</a:t>
            </a:r>
            <a:endParaRPr lang="en-US" sz="1600" dirty="0"/>
          </a:p>
          <a:p>
            <a:pPr algn="ctr" indent="0" marL="0">
              <a:lnSpc>
                <a:spcPct val="140000"/>
              </a:lnSpc>
              <a:buNone/>
            </a:pPr>
            <a:r>
              <a:rPr lang="en-US" sz="1600" dirty="0">
                <a:solidFill>
                  <a:srgbClr val="E8E8E0"/>
                </a:solidFill>
                <a:latin typeface="Calibri" pitchFamily="34" charset="0"/>
                <a:ea typeface="Calibri" pitchFamily="34" charset="-122"/>
                <a:cs typeface="Calibri" pitchFamily="34" charset="-120"/>
              </a:rPr>
              <a:t>before the next encounter begins.</a:t>
            </a:r>
            <a:endParaRPr lang="en-US" sz="1600" dirty="0"/>
          </a:p>
        </p:txBody>
      </p:sp>
      <p:sp>
        <p:nvSpPr>
          <p:cNvPr id="6" name="Shape 4"/>
          <p:cNvSpPr/>
          <p:nvPr/>
        </p:nvSpPr>
        <p:spPr>
          <a:xfrm>
            <a:off x="1188720" y="4023360"/>
            <a:ext cx="1645920" cy="365760"/>
          </a:xfrm>
          <a:prstGeom prst="roundRect">
            <a:avLst>
              <a:gd name="adj" fmla="val 50000"/>
            </a:avLst>
          </a:prstGeom>
          <a:solidFill>
            <a:srgbClr val="374738"/>
          </a:solidFill>
          <a:ln/>
        </p:spPr>
      </p:sp>
      <p:sp>
        <p:nvSpPr>
          <p:cNvPr id="7" name="Text 5"/>
          <p:cNvSpPr/>
          <p:nvPr/>
        </p:nvSpPr>
        <p:spPr>
          <a:xfrm>
            <a:off x="1188720" y="4023360"/>
            <a:ext cx="1645920" cy="365760"/>
          </a:xfrm>
          <a:prstGeom prst="rect">
            <a:avLst/>
          </a:prstGeom>
          <a:noFill/>
          <a:ln/>
        </p:spPr>
        <p:txBody>
          <a:bodyPr wrap="square" lIns="0" tIns="0" rIns="0" bIns="0" rtlCol="0" anchor="ctr"/>
          <a:lstStyle/>
          <a:p>
            <a:pPr algn="ctr" indent="0" marL="0">
              <a:buNone/>
            </a:pPr>
            <a:r>
              <a:rPr lang="en-US" sz="1100" dirty="0">
                <a:solidFill>
                  <a:srgbClr val="3DDC84"/>
                </a:solidFill>
                <a:latin typeface="Calibri" pitchFamily="34" charset="0"/>
                <a:ea typeface="Calibri" pitchFamily="34" charset="-122"/>
                <a:cs typeface="Calibri" pitchFamily="34" charset="-120"/>
              </a:rPr>
              <a:t>No new apps</a:t>
            </a:r>
            <a:endParaRPr lang="en-US" sz="1100" dirty="0"/>
          </a:p>
        </p:txBody>
      </p:sp>
      <p:sp>
        <p:nvSpPr>
          <p:cNvPr id="8" name="Shape 6"/>
          <p:cNvSpPr/>
          <p:nvPr/>
        </p:nvSpPr>
        <p:spPr>
          <a:xfrm>
            <a:off x="3017520" y="4023360"/>
            <a:ext cx="1645920" cy="365760"/>
          </a:xfrm>
          <a:prstGeom prst="roundRect">
            <a:avLst>
              <a:gd name="adj" fmla="val 50000"/>
            </a:avLst>
          </a:prstGeom>
          <a:solidFill>
            <a:srgbClr val="374738"/>
          </a:solidFill>
          <a:ln/>
        </p:spPr>
      </p:sp>
      <p:sp>
        <p:nvSpPr>
          <p:cNvPr id="9" name="Text 7"/>
          <p:cNvSpPr/>
          <p:nvPr/>
        </p:nvSpPr>
        <p:spPr>
          <a:xfrm>
            <a:off x="3017520" y="4023360"/>
            <a:ext cx="1645920" cy="365760"/>
          </a:xfrm>
          <a:prstGeom prst="rect">
            <a:avLst/>
          </a:prstGeom>
          <a:noFill/>
          <a:ln/>
        </p:spPr>
        <p:txBody>
          <a:bodyPr wrap="square" lIns="0" tIns="0" rIns="0" bIns="0" rtlCol="0" anchor="ctr"/>
          <a:lstStyle/>
          <a:p>
            <a:pPr algn="ctr" indent="0" marL="0">
              <a:buNone/>
            </a:pPr>
            <a:r>
              <a:rPr lang="en-US" sz="1100" dirty="0">
                <a:solidFill>
                  <a:srgbClr val="3DDC84"/>
                </a:solidFill>
                <a:latin typeface="Calibri" pitchFamily="34" charset="0"/>
                <a:ea typeface="Calibri" pitchFamily="34" charset="-122"/>
                <a:cs typeface="Calibri" pitchFamily="34" charset="-120"/>
              </a:rPr>
              <a:t>No workflow change</a:t>
            </a:r>
            <a:endParaRPr lang="en-US" sz="1100" dirty="0"/>
          </a:p>
        </p:txBody>
      </p:sp>
      <p:sp>
        <p:nvSpPr>
          <p:cNvPr id="10" name="Shape 8"/>
          <p:cNvSpPr/>
          <p:nvPr/>
        </p:nvSpPr>
        <p:spPr>
          <a:xfrm>
            <a:off x="4846320" y="4023360"/>
            <a:ext cx="1645920" cy="365760"/>
          </a:xfrm>
          <a:prstGeom prst="roundRect">
            <a:avLst>
              <a:gd name="adj" fmla="val 50000"/>
            </a:avLst>
          </a:prstGeom>
          <a:solidFill>
            <a:srgbClr val="374738"/>
          </a:solidFill>
          <a:ln/>
        </p:spPr>
      </p:sp>
      <p:sp>
        <p:nvSpPr>
          <p:cNvPr id="11" name="Text 9"/>
          <p:cNvSpPr/>
          <p:nvPr/>
        </p:nvSpPr>
        <p:spPr>
          <a:xfrm>
            <a:off x="4846320" y="4023360"/>
            <a:ext cx="1645920" cy="365760"/>
          </a:xfrm>
          <a:prstGeom prst="rect">
            <a:avLst/>
          </a:prstGeom>
          <a:noFill/>
          <a:ln/>
        </p:spPr>
        <p:txBody>
          <a:bodyPr wrap="square" lIns="0" tIns="0" rIns="0" bIns="0" rtlCol="0" anchor="ctr"/>
          <a:lstStyle/>
          <a:p>
            <a:pPr algn="ctr" indent="0" marL="0">
              <a:buNone/>
            </a:pPr>
            <a:r>
              <a:rPr lang="en-US" sz="1100" dirty="0">
                <a:solidFill>
                  <a:srgbClr val="3DDC84"/>
                </a:solidFill>
                <a:latin typeface="Calibri" pitchFamily="34" charset="0"/>
                <a:ea typeface="Calibri" pitchFamily="34" charset="-122"/>
                <a:cs typeface="Calibri" pitchFamily="34" charset="-120"/>
              </a:rPr>
              <a:t>No patient training</a:t>
            </a:r>
            <a:endParaRPr lang="en-US" sz="1100" dirty="0"/>
          </a:p>
        </p:txBody>
      </p:sp>
      <p:sp>
        <p:nvSpPr>
          <p:cNvPr id="12" name="Shape 10"/>
          <p:cNvSpPr/>
          <p:nvPr/>
        </p:nvSpPr>
        <p:spPr>
          <a:xfrm>
            <a:off x="6675120" y="4023360"/>
            <a:ext cx="1645920" cy="365760"/>
          </a:xfrm>
          <a:prstGeom prst="roundRect">
            <a:avLst>
              <a:gd name="adj" fmla="val 50000"/>
            </a:avLst>
          </a:prstGeom>
          <a:solidFill>
            <a:srgbClr val="374738"/>
          </a:solidFill>
          <a:ln/>
        </p:spPr>
      </p:sp>
      <p:sp>
        <p:nvSpPr>
          <p:cNvPr id="13" name="Text 11"/>
          <p:cNvSpPr/>
          <p:nvPr/>
        </p:nvSpPr>
        <p:spPr>
          <a:xfrm>
            <a:off x="6675120" y="4023360"/>
            <a:ext cx="1645920" cy="365760"/>
          </a:xfrm>
          <a:prstGeom prst="rect">
            <a:avLst/>
          </a:prstGeom>
          <a:noFill/>
          <a:ln/>
        </p:spPr>
        <p:txBody>
          <a:bodyPr wrap="square" lIns="0" tIns="0" rIns="0" bIns="0" rtlCol="0" anchor="ctr"/>
          <a:lstStyle/>
          <a:p>
            <a:pPr algn="ctr" indent="0" marL="0">
              <a:buNone/>
            </a:pPr>
            <a:r>
              <a:rPr lang="en-US" sz="1100" dirty="0">
                <a:solidFill>
                  <a:srgbClr val="3DDC84"/>
                </a:solidFill>
                <a:latin typeface="Calibri" pitchFamily="34" charset="0"/>
                <a:ea typeface="Calibri" pitchFamily="34" charset="-122"/>
                <a:cs typeface="Calibri" pitchFamily="34" charset="-120"/>
              </a:rPr>
              <a:t>No staff burden</a:t>
            </a:r>
            <a:endParaRPr lang="en-US" sz="1100" dirty="0"/>
          </a:p>
        </p:txBody>
      </p:sp>
      <p:sp>
        <p:nvSpPr>
          <p:cNvPr id="14" name="Text 12"/>
          <p:cNvSpPr/>
          <p:nvPr/>
        </p:nvSpPr>
        <p:spPr>
          <a:xfrm>
            <a:off x="914400" y="4572000"/>
            <a:ext cx="73152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CareLog does not diagnose. It provides the structured memory that diagnosis requires.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C3E2D"/>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Signal Loss vs. Signal Capture</a:t>
            </a:r>
            <a:endParaRPr lang="en-US" sz="3400" dirty="0"/>
          </a:p>
        </p:txBody>
      </p:sp>
      <p:sp>
        <p:nvSpPr>
          <p:cNvPr id="3" name="Shape 1"/>
          <p:cNvSpPr/>
          <p:nvPr/>
        </p:nvSpPr>
        <p:spPr>
          <a:xfrm>
            <a:off x="457200" y="1280160"/>
            <a:ext cx="3931920" cy="3291840"/>
          </a:xfrm>
          <a:prstGeom prst="roundRect">
            <a:avLst>
              <a:gd name="adj" fmla="val 3333"/>
            </a:avLst>
          </a:prstGeom>
          <a:solidFill>
            <a:srgbClr val="374738"/>
          </a:solidFill>
          <a:ln/>
        </p:spPr>
      </p:sp>
      <p:sp>
        <p:nvSpPr>
          <p:cNvPr id="4" name="Text 2"/>
          <p:cNvSpPr/>
          <p:nvPr/>
        </p:nvSpPr>
        <p:spPr>
          <a:xfrm>
            <a:off x="640080" y="1371600"/>
            <a:ext cx="3566160" cy="365760"/>
          </a:xfrm>
          <a:prstGeom prst="rect">
            <a:avLst/>
          </a:prstGeom>
          <a:noFill/>
          <a:ln/>
        </p:spPr>
        <p:txBody>
          <a:bodyPr wrap="square" lIns="0" tIns="0" rIns="0" bIns="0" rtlCol="0" anchor="ctr"/>
          <a:lstStyle/>
          <a:p>
            <a:pPr indent="0" marL="0">
              <a:buNone/>
            </a:pPr>
            <a:r>
              <a:rPr lang="en-US" sz="1400" b="1" dirty="0">
                <a:solidFill>
                  <a:srgbClr val="E86060"/>
                </a:solidFill>
                <a:latin typeface="Calibri" pitchFamily="34" charset="0"/>
                <a:ea typeface="Calibri" pitchFamily="34" charset="-122"/>
                <a:cs typeface="Calibri" pitchFamily="34" charset="-120"/>
              </a:rPr>
              <a:t>Without CareLog: Lost</a:t>
            </a:r>
            <a:endParaRPr lang="en-US" sz="1400" dirty="0"/>
          </a:p>
        </p:txBody>
      </p:sp>
      <p:sp>
        <p:nvSpPr>
          <p:cNvPr id="5" name="Text 3"/>
          <p:cNvSpPr/>
          <p:nvPr/>
        </p:nvSpPr>
        <p:spPr>
          <a:xfrm>
            <a:off x="640080" y="1874520"/>
            <a:ext cx="548640" cy="411480"/>
          </a:xfrm>
          <a:prstGeom prst="rect">
            <a:avLst/>
          </a:prstGeom>
          <a:noFill/>
          <a:ln/>
        </p:spPr>
        <p:txBody>
          <a:bodyPr wrap="square" lIns="0" tIns="0" rIns="0" bIns="0" rtlCol="0" anchor="ctr"/>
          <a:lstStyle/>
          <a:p>
            <a:pPr indent="0" marL="0">
              <a:buNone/>
            </a:pPr>
            <a:r>
              <a:rPr lang="en-US" sz="1000" dirty="0">
                <a:solidFill>
                  <a:srgbClr val="999999"/>
                </a:solidFill>
                <a:latin typeface="Calibri" pitchFamily="34" charset="0"/>
                <a:ea typeface="Calibri" pitchFamily="34" charset="-122"/>
                <a:cs typeface="Calibri" pitchFamily="34" charset="-120"/>
              </a:rPr>
              <a:t>Mon</a:t>
            </a:r>
            <a:endParaRPr lang="en-US" sz="1000" dirty="0"/>
          </a:p>
        </p:txBody>
      </p:sp>
      <p:sp>
        <p:nvSpPr>
          <p:cNvPr id="6" name="Text 4"/>
          <p:cNvSpPr/>
          <p:nvPr/>
        </p:nvSpPr>
        <p:spPr>
          <a:xfrm>
            <a:off x="1188720" y="1874520"/>
            <a:ext cx="2926080" cy="411480"/>
          </a:xfrm>
          <a:prstGeom prst="rect">
            <a:avLst/>
          </a:prstGeom>
          <a:noFill/>
          <a:ln/>
        </p:spPr>
        <p:txBody>
          <a:bodyPr wrap="square" lIns="0" tIns="0" rIns="0" bIns="0" rtlCol="0" anchor="ctr"/>
          <a:lstStyle/>
          <a:p>
            <a:pPr indent="0" marL="0">
              <a:buNone/>
            </a:pPr>
            <a:r>
              <a:rPr lang="en-US" sz="1100" i="1" dirty="0">
                <a:solidFill>
                  <a:srgbClr val="E8E8E0"/>
                </a:solidFill>
                <a:latin typeface="Calibri" pitchFamily="34" charset="0"/>
                <a:ea typeface="Calibri" pitchFamily="34" charset="-122"/>
                <a:cs typeface="Calibri" pitchFamily="34" charset="-120"/>
              </a:rPr>
              <a:t>"My head has been pounding since Sunday"</a:t>
            </a:r>
            <a:endParaRPr lang="en-US" sz="1100" dirty="0"/>
          </a:p>
        </p:txBody>
      </p:sp>
      <p:sp>
        <p:nvSpPr>
          <p:cNvPr id="7" name="Text 5"/>
          <p:cNvSpPr/>
          <p:nvPr/>
        </p:nvSpPr>
        <p:spPr>
          <a:xfrm>
            <a:off x="640080" y="2377440"/>
            <a:ext cx="548640" cy="411480"/>
          </a:xfrm>
          <a:prstGeom prst="rect">
            <a:avLst/>
          </a:prstGeom>
          <a:noFill/>
          <a:ln/>
        </p:spPr>
        <p:txBody>
          <a:bodyPr wrap="square" lIns="0" tIns="0" rIns="0" bIns="0" rtlCol="0" anchor="ctr"/>
          <a:lstStyle/>
          <a:p>
            <a:pPr indent="0" marL="0">
              <a:buNone/>
            </a:pPr>
            <a:r>
              <a:rPr lang="en-US" sz="1000" dirty="0">
                <a:solidFill>
                  <a:srgbClr val="999999"/>
                </a:solidFill>
                <a:latin typeface="Calibri" pitchFamily="34" charset="0"/>
                <a:ea typeface="Calibri" pitchFamily="34" charset="-122"/>
                <a:cs typeface="Calibri" pitchFamily="34" charset="-120"/>
              </a:rPr>
              <a:t>Wed</a:t>
            </a:r>
            <a:endParaRPr lang="en-US" sz="1000" dirty="0"/>
          </a:p>
        </p:txBody>
      </p:sp>
      <p:sp>
        <p:nvSpPr>
          <p:cNvPr id="8" name="Text 6"/>
          <p:cNvSpPr/>
          <p:nvPr/>
        </p:nvSpPr>
        <p:spPr>
          <a:xfrm>
            <a:off x="1188720" y="2377440"/>
            <a:ext cx="2926080" cy="411480"/>
          </a:xfrm>
          <a:prstGeom prst="rect">
            <a:avLst/>
          </a:prstGeom>
          <a:noFill/>
          <a:ln/>
        </p:spPr>
        <p:txBody>
          <a:bodyPr wrap="square" lIns="0" tIns="0" rIns="0" bIns="0" rtlCol="0" anchor="ctr"/>
          <a:lstStyle/>
          <a:p>
            <a:pPr indent="0" marL="0">
              <a:buNone/>
            </a:pPr>
            <a:r>
              <a:rPr lang="en-US" sz="1100" i="1" dirty="0">
                <a:solidFill>
                  <a:srgbClr val="E8E8E0"/>
                </a:solidFill>
                <a:latin typeface="Calibri" pitchFamily="34" charset="0"/>
                <a:ea typeface="Calibri" pitchFamily="34" charset="-122"/>
                <a:cs typeface="Calibri" pitchFamily="34" charset="-120"/>
              </a:rPr>
              <a:t>"Took ibuprofen, didn’t help much"</a:t>
            </a:r>
            <a:endParaRPr lang="en-US" sz="1100" dirty="0"/>
          </a:p>
        </p:txBody>
      </p:sp>
      <p:sp>
        <p:nvSpPr>
          <p:cNvPr id="9" name="Text 7"/>
          <p:cNvSpPr/>
          <p:nvPr/>
        </p:nvSpPr>
        <p:spPr>
          <a:xfrm>
            <a:off x="640080" y="2880360"/>
            <a:ext cx="548640" cy="411480"/>
          </a:xfrm>
          <a:prstGeom prst="rect">
            <a:avLst/>
          </a:prstGeom>
          <a:noFill/>
          <a:ln/>
        </p:spPr>
        <p:txBody>
          <a:bodyPr wrap="square" lIns="0" tIns="0" rIns="0" bIns="0" rtlCol="0" anchor="ctr"/>
          <a:lstStyle/>
          <a:p>
            <a:pPr indent="0" marL="0">
              <a:buNone/>
            </a:pPr>
            <a:r>
              <a:rPr lang="en-US" sz="1000" dirty="0">
                <a:solidFill>
                  <a:srgbClr val="999999"/>
                </a:solidFill>
                <a:latin typeface="Calibri" pitchFamily="34" charset="0"/>
                <a:ea typeface="Calibri" pitchFamily="34" charset="-122"/>
                <a:cs typeface="Calibri" pitchFamily="34" charset="-120"/>
              </a:rPr>
              <a:t>Fri</a:t>
            </a:r>
            <a:endParaRPr lang="en-US" sz="1000" dirty="0"/>
          </a:p>
        </p:txBody>
      </p:sp>
      <p:sp>
        <p:nvSpPr>
          <p:cNvPr id="10" name="Text 8"/>
          <p:cNvSpPr/>
          <p:nvPr/>
        </p:nvSpPr>
        <p:spPr>
          <a:xfrm>
            <a:off x="1188720" y="2880360"/>
            <a:ext cx="2926080" cy="411480"/>
          </a:xfrm>
          <a:prstGeom prst="rect">
            <a:avLst/>
          </a:prstGeom>
          <a:noFill/>
          <a:ln/>
        </p:spPr>
        <p:txBody>
          <a:bodyPr wrap="square" lIns="0" tIns="0" rIns="0" bIns="0" rtlCol="0" anchor="ctr"/>
          <a:lstStyle/>
          <a:p>
            <a:pPr indent="0" marL="0">
              <a:buNone/>
            </a:pPr>
            <a:r>
              <a:rPr lang="en-US" sz="1100" i="1" dirty="0">
                <a:solidFill>
                  <a:srgbClr val="E8E8E0"/>
                </a:solidFill>
                <a:latin typeface="Calibri" pitchFamily="34" charset="0"/>
                <a:ea typeface="Calibri" pitchFamily="34" charset="-122"/>
                <a:cs typeface="Calibri" pitchFamily="34" charset="-120"/>
              </a:rPr>
              <a:t>"Now my vision gets blurry sometimes"</a:t>
            </a:r>
            <a:endParaRPr lang="en-US" sz="1100" dirty="0"/>
          </a:p>
        </p:txBody>
      </p:sp>
      <p:sp>
        <p:nvSpPr>
          <p:cNvPr id="11" name="Text 9"/>
          <p:cNvSpPr/>
          <p:nvPr/>
        </p:nvSpPr>
        <p:spPr>
          <a:xfrm>
            <a:off x="640080" y="3383280"/>
            <a:ext cx="548640" cy="411480"/>
          </a:xfrm>
          <a:prstGeom prst="rect">
            <a:avLst/>
          </a:prstGeom>
          <a:noFill/>
          <a:ln/>
        </p:spPr>
        <p:txBody>
          <a:bodyPr wrap="square" lIns="0" tIns="0" rIns="0" bIns="0" rtlCol="0" anchor="ctr"/>
          <a:lstStyle/>
          <a:p>
            <a:pPr indent="0" marL="0">
              <a:buNone/>
            </a:pPr>
            <a:r>
              <a:rPr lang="en-US" sz="1000" dirty="0">
                <a:solidFill>
                  <a:srgbClr val="999999"/>
                </a:solidFill>
                <a:latin typeface="Calibri" pitchFamily="34" charset="0"/>
                <a:ea typeface="Calibri" pitchFamily="34" charset="-122"/>
                <a:cs typeface="Calibri" pitchFamily="34" charset="-120"/>
              </a:rPr>
              <a:t>Mon</a:t>
            </a:r>
            <a:endParaRPr lang="en-US" sz="1000" dirty="0"/>
          </a:p>
        </p:txBody>
      </p:sp>
      <p:sp>
        <p:nvSpPr>
          <p:cNvPr id="12" name="Text 10"/>
          <p:cNvSpPr/>
          <p:nvPr/>
        </p:nvSpPr>
        <p:spPr>
          <a:xfrm>
            <a:off x="1188720" y="3383280"/>
            <a:ext cx="2926080" cy="411480"/>
          </a:xfrm>
          <a:prstGeom prst="rect">
            <a:avLst/>
          </a:prstGeom>
          <a:noFill/>
          <a:ln/>
        </p:spPr>
        <p:txBody>
          <a:bodyPr wrap="square" lIns="0" tIns="0" rIns="0" bIns="0" rtlCol="0" anchor="ctr"/>
          <a:lstStyle/>
          <a:p>
            <a:pPr indent="0" marL="0">
              <a:buNone/>
            </a:pPr>
            <a:r>
              <a:rPr lang="en-US" sz="1100" i="1" dirty="0">
                <a:solidFill>
                  <a:srgbClr val="E8E8E0"/>
                </a:solidFill>
                <a:latin typeface="Calibri" pitchFamily="34" charset="0"/>
                <a:ea typeface="Calibri" pitchFamily="34" charset="-122"/>
                <a:cs typeface="Calibri" pitchFamily="34" charset="-120"/>
              </a:rPr>
              <a:t>"Still happening. Worse in the mornings"</a:t>
            </a:r>
            <a:endParaRPr lang="en-US" sz="1100" dirty="0"/>
          </a:p>
        </p:txBody>
      </p:sp>
      <p:sp>
        <p:nvSpPr>
          <p:cNvPr id="13" name="Text 11"/>
          <p:cNvSpPr/>
          <p:nvPr/>
        </p:nvSpPr>
        <p:spPr>
          <a:xfrm>
            <a:off x="640080" y="3886200"/>
            <a:ext cx="548640" cy="411480"/>
          </a:xfrm>
          <a:prstGeom prst="rect">
            <a:avLst/>
          </a:prstGeom>
          <a:noFill/>
          <a:ln/>
        </p:spPr>
        <p:txBody>
          <a:bodyPr wrap="square" lIns="0" tIns="0" rIns="0" bIns="0" rtlCol="0" anchor="ctr"/>
          <a:lstStyle/>
          <a:p>
            <a:pPr indent="0" marL="0">
              <a:buNone/>
            </a:pPr>
            <a:r>
              <a:rPr lang="en-US" sz="1000" dirty="0">
                <a:solidFill>
                  <a:srgbClr val="999999"/>
                </a:solidFill>
                <a:latin typeface="Calibri" pitchFamily="34" charset="0"/>
                <a:ea typeface="Calibri" pitchFamily="34" charset="-122"/>
                <a:cs typeface="Calibri" pitchFamily="34" charset="-120"/>
              </a:rPr>
              <a:t>Tue</a:t>
            </a:r>
            <a:endParaRPr lang="en-US" sz="1000" dirty="0"/>
          </a:p>
        </p:txBody>
      </p:sp>
      <p:sp>
        <p:nvSpPr>
          <p:cNvPr id="14" name="Text 12"/>
          <p:cNvSpPr/>
          <p:nvPr/>
        </p:nvSpPr>
        <p:spPr>
          <a:xfrm>
            <a:off x="1188720" y="3886200"/>
            <a:ext cx="2926080" cy="411480"/>
          </a:xfrm>
          <a:prstGeom prst="rect">
            <a:avLst/>
          </a:prstGeom>
          <a:noFill/>
          <a:ln/>
        </p:spPr>
        <p:txBody>
          <a:bodyPr wrap="square" lIns="0" tIns="0" rIns="0" bIns="0" rtlCol="0" anchor="ctr"/>
          <a:lstStyle/>
          <a:p>
            <a:pPr indent="0" marL="0">
              <a:buNone/>
            </a:pPr>
            <a:r>
              <a:rPr lang="en-US" sz="1100" i="1" dirty="0">
                <a:solidFill>
                  <a:srgbClr val="E8E8E0"/>
                </a:solidFill>
                <a:latin typeface="Calibri" pitchFamily="34" charset="0"/>
                <a:ea typeface="Calibri" pitchFamily="34" charset="-122"/>
                <a:cs typeface="Calibri" pitchFamily="34" charset="-120"/>
              </a:rPr>
              <a:t>"Started new BP med 2 weeks ago"</a:t>
            </a:r>
            <a:endParaRPr lang="en-US" sz="1100" dirty="0"/>
          </a:p>
        </p:txBody>
      </p:sp>
      <p:sp>
        <p:nvSpPr>
          <p:cNvPr id="15" name="Text 13"/>
          <p:cNvSpPr/>
          <p:nvPr/>
        </p:nvSpPr>
        <p:spPr>
          <a:xfrm>
            <a:off x="640080" y="4251960"/>
            <a:ext cx="3566160" cy="274320"/>
          </a:xfrm>
          <a:prstGeom prst="rect">
            <a:avLst/>
          </a:prstGeom>
          <a:noFill/>
          <a:ln/>
        </p:spPr>
        <p:txBody>
          <a:bodyPr wrap="square" lIns="0" tIns="0" rIns="0" bIns="0" rtlCol="0" anchor="ctr"/>
          <a:lstStyle/>
          <a:p>
            <a:pPr indent="0" marL="0">
              <a:buNone/>
            </a:pPr>
            <a:r>
              <a:rPr lang="en-US" sz="1100" i="1" dirty="0">
                <a:solidFill>
                  <a:srgbClr val="E86060"/>
                </a:solidFill>
                <a:latin typeface="Calibri" pitchFamily="34" charset="0"/>
                <a:ea typeface="Calibri" pitchFamily="34" charset="-122"/>
                <a:cs typeface="Calibri" pitchFamily="34" charset="-120"/>
              </a:rPr>
              <a:t>None of this reaches the chart.</a:t>
            </a:r>
            <a:endParaRPr lang="en-US" sz="1100" dirty="0"/>
          </a:p>
        </p:txBody>
      </p:sp>
      <p:sp>
        <p:nvSpPr>
          <p:cNvPr id="16" name="Shape 14"/>
          <p:cNvSpPr/>
          <p:nvPr/>
        </p:nvSpPr>
        <p:spPr>
          <a:xfrm>
            <a:off x="4754880" y="1280160"/>
            <a:ext cx="3931920" cy="3291840"/>
          </a:xfrm>
          <a:prstGeom prst="roundRect">
            <a:avLst>
              <a:gd name="adj" fmla="val 3333"/>
            </a:avLst>
          </a:prstGeom>
          <a:solidFill>
            <a:srgbClr val="216F64"/>
          </a:solidFill>
          <a:ln/>
        </p:spPr>
      </p:sp>
      <p:sp>
        <p:nvSpPr>
          <p:cNvPr id="17" name="Text 15"/>
          <p:cNvSpPr/>
          <p:nvPr/>
        </p:nvSpPr>
        <p:spPr>
          <a:xfrm>
            <a:off x="4937760" y="1371600"/>
            <a:ext cx="3566160" cy="365760"/>
          </a:xfrm>
          <a:prstGeom prst="rect">
            <a:avLst/>
          </a:prstGeom>
          <a:noFill/>
          <a:ln/>
        </p:spPr>
        <p:txBody>
          <a:bodyPr wrap="square" lIns="0" tIns="0" rIns="0" bIns="0" rtlCol="0" anchor="ctr"/>
          <a:lstStyle/>
          <a:p>
            <a:pPr indent="0" marL="0">
              <a:buNone/>
            </a:pPr>
            <a:r>
              <a:rPr lang="en-US" sz="1400" b="1" dirty="0">
                <a:solidFill>
                  <a:srgbClr val="3DDC84"/>
                </a:solidFill>
                <a:latin typeface="Calibri" pitchFamily="34" charset="0"/>
                <a:ea typeface="Calibri" pitchFamily="34" charset="-122"/>
                <a:cs typeface="Calibri" pitchFamily="34" charset="-120"/>
              </a:rPr>
              <a:t>With CareLog: Structured</a:t>
            </a:r>
            <a:endParaRPr lang="en-US" sz="1400" dirty="0"/>
          </a:p>
        </p:txBody>
      </p:sp>
      <p:sp>
        <p:nvSpPr>
          <p:cNvPr id="18" name="Text 16"/>
          <p:cNvSpPr/>
          <p:nvPr/>
        </p:nvSpPr>
        <p:spPr>
          <a:xfrm>
            <a:off x="4937760" y="1828800"/>
            <a:ext cx="1371600" cy="457200"/>
          </a:xfrm>
          <a:prstGeom prst="rect">
            <a:avLst/>
          </a:prstGeom>
          <a:noFill/>
          <a:ln/>
        </p:spPr>
        <p:txBody>
          <a:bodyPr wrap="square" lIns="0" tIns="0" rIns="0" bIns="0" rtlCol="0" anchor="ctr"/>
          <a:lstStyle/>
          <a:p>
            <a:pPr indent="0" marL="0">
              <a:buNone/>
            </a:pPr>
            <a:r>
              <a:rPr lang="en-US" sz="1000" b="1" dirty="0">
                <a:solidFill>
                  <a:srgbClr val="3DDC84"/>
                </a:solidFill>
                <a:latin typeface="Calibri" pitchFamily="34" charset="0"/>
                <a:ea typeface="Calibri" pitchFamily="34" charset="-122"/>
                <a:cs typeface="Calibri" pitchFamily="34" charset="-120"/>
              </a:rPr>
              <a:t>Chief concern</a:t>
            </a:r>
            <a:endParaRPr lang="en-US" sz="1000" dirty="0"/>
          </a:p>
        </p:txBody>
      </p:sp>
      <p:sp>
        <p:nvSpPr>
          <p:cNvPr id="19" name="Text 17"/>
          <p:cNvSpPr/>
          <p:nvPr/>
        </p:nvSpPr>
        <p:spPr>
          <a:xfrm>
            <a:off x="6309360" y="1828800"/>
            <a:ext cx="2194560" cy="4572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Persistent headache (10 days)</a:t>
            </a:r>
            <a:endParaRPr lang="en-US" sz="1100" dirty="0"/>
          </a:p>
        </p:txBody>
      </p:sp>
      <p:sp>
        <p:nvSpPr>
          <p:cNvPr id="20" name="Text 18"/>
          <p:cNvSpPr/>
          <p:nvPr/>
        </p:nvSpPr>
        <p:spPr>
          <a:xfrm>
            <a:off x="4937760" y="2377440"/>
            <a:ext cx="1371600" cy="457200"/>
          </a:xfrm>
          <a:prstGeom prst="rect">
            <a:avLst/>
          </a:prstGeom>
          <a:noFill/>
          <a:ln/>
        </p:spPr>
        <p:txBody>
          <a:bodyPr wrap="square" lIns="0" tIns="0" rIns="0" bIns="0" rtlCol="0" anchor="ctr"/>
          <a:lstStyle/>
          <a:p>
            <a:pPr indent="0" marL="0">
              <a:buNone/>
            </a:pPr>
            <a:r>
              <a:rPr lang="en-US" sz="1000" b="1" dirty="0">
                <a:solidFill>
                  <a:srgbClr val="3DDC84"/>
                </a:solidFill>
                <a:latin typeface="Calibri" pitchFamily="34" charset="0"/>
                <a:ea typeface="Calibri" pitchFamily="34" charset="-122"/>
                <a:cs typeface="Calibri" pitchFamily="34" charset="-120"/>
              </a:rPr>
              <a:t>Timeline</a:t>
            </a:r>
            <a:endParaRPr lang="en-US" sz="1000" dirty="0"/>
          </a:p>
        </p:txBody>
      </p:sp>
      <p:sp>
        <p:nvSpPr>
          <p:cNvPr id="21" name="Text 19"/>
          <p:cNvSpPr/>
          <p:nvPr/>
        </p:nvSpPr>
        <p:spPr>
          <a:xfrm>
            <a:off x="6309360" y="2377440"/>
            <a:ext cx="2194560" cy="4572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Onset Sun → worsening → AM pattern</a:t>
            </a:r>
            <a:endParaRPr lang="en-US" sz="1100" dirty="0"/>
          </a:p>
        </p:txBody>
      </p:sp>
      <p:sp>
        <p:nvSpPr>
          <p:cNvPr id="22" name="Text 20"/>
          <p:cNvSpPr/>
          <p:nvPr/>
        </p:nvSpPr>
        <p:spPr>
          <a:xfrm>
            <a:off x="4937760" y="2926080"/>
            <a:ext cx="1371600" cy="457200"/>
          </a:xfrm>
          <a:prstGeom prst="rect">
            <a:avLst/>
          </a:prstGeom>
          <a:noFill/>
          <a:ln/>
        </p:spPr>
        <p:txBody>
          <a:bodyPr wrap="square" lIns="0" tIns="0" rIns="0" bIns="0" rtlCol="0" anchor="ctr"/>
          <a:lstStyle/>
          <a:p>
            <a:pPr indent="0" marL="0">
              <a:buNone/>
            </a:pPr>
            <a:r>
              <a:rPr lang="en-US" sz="1000" b="1" dirty="0">
                <a:solidFill>
                  <a:srgbClr val="3DDC84"/>
                </a:solidFill>
                <a:latin typeface="Calibri" pitchFamily="34" charset="0"/>
                <a:ea typeface="Calibri" pitchFamily="34" charset="-122"/>
                <a:cs typeface="Calibri" pitchFamily="34" charset="-120"/>
              </a:rPr>
              <a:t>Med correlation</a:t>
            </a:r>
            <a:endParaRPr lang="en-US" sz="1000" dirty="0"/>
          </a:p>
        </p:txBody>
      </p:sp>
      <p:sp>
        <p:nvSpPr>
          <p:cNvPr id="23" name="Text 21"/>
          <p:cNvSpPr/>
          <p:nvPr/>
        </p:nvSpPr>
        <p:spPr>
          <a:xfrm>
            <a:off x="6309360" y="2926080"/>
            <a:ext cx="2194560" cy="4572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New BP med (2 wks prior)</a:t>
            </a:r>
            <a:endParaRPr lang="en-US" sz="1100" dirty="0"/>
          </a:p>
        </p:txBody>
      </p:sp>
      <p:sp>
        <p:nvSpPr>
          <p:cNvPr id="24" name="Text 22"/>
          <p:cNvSpPr/>
          <p:nvPr/>
        </p:nvSpPr>
        <p:spPr>
          <a:xfrm>
            <a:off x="4937760" y="3474720"/>
            <a:ext cx="1371600" cy="457200"/>
          </a:xfrm>
          <a:prstGeom prst="rect">
            <a:avLst/>
          </a:prstGeom>
          <a:noFill/>
          <a:ln/>
        </p:spPr>
        <p:txBody>
          <a:bodyPr wrap="square" lIns="0" tIns="0" rIns="0" bIns="0" rtlCol="0" anchor="ctr"/>
          <a:lstStyle/>
          <a:p>
            <a:pPr indent="0" marL="0">
              <a:buNone/>
            </a:pPr>
            <a:r>
              <a:rPr lang="en-US" sz="1000" b="1" dirty="0">
                <a:solidFill>
                  <a:srgbClr val="3DDC84"/>
                </a:solidFill>
                <a:latin typeface="Calibri" pitchFamily="34" charset="0"/>
                <a:ea typeface="Calibri" pitchFamily="34" charset="-122"/>
                <a:cs typeface="Calibri" pitchFamily="34" charset="-120"/>
              </a:rPr>
              <a:t>Pattern flag</a:t>
            </a:r>
            <a:endParaRPr lang="en-US" sz="1000" dirty="0"/>
          </a:p>
        </p:txBody>
      </p:sp>
      <p:sp>
        <p:nvSpPr>
          <p:cNvPr id="25" name="Text 23"/>
          <p:cNvSpPr/>
          <p:nvPr/>
        </p:nvSpPr>
        <p:spPr>
          <a:xfrm>
            <a:off x="6309360" y="3474720"/>
            <a:ext cx="2194560" cy="4572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Visual change + new antihypertensive</a:t>
            </a:r>
            <a:endParaRPr lang="en-US" sz="1100" dirty="0"/>
          </a:p>
        </p:txBody>
      </p:sp>
      <p:sp>
        <p:nvSpPr>
          <p:cNvPr id="26" name="Text 24"/>
          <p:cNvSpPr/>
          <p:nvPr/>
        </p:nvSpPr>
        <p:spPr>
          <a:xfrm>
            <a:off x="4937760" y="4023360"/>
            <a:ext cx="1371600" cy="457200"/>
          </a:xfrm>
          <a:prstGeom prst="rect">
            <a:avLst/>
          </a:prstGeom>
          <a:noFill/>
          <a:ln/>
        </p:spPr>
        <p:txBody>
          <a:bodyPr wrap="square" lIns="0" tIns="0" rIns="0" bIns="0" rtlCol="0" anchor="ctr"/>
          <a:lstStyle/>
          <a:p>
            <a:pPr indent="0" marL="0">
              <a:buNone/>
            </a:pPr>
            <a:r>
              <a:rPr lang="en-US" sz="1000" b="1" dirty="0">
                <a:solidFill>
                  <a:srgbClr val="3DDC84"/>
                </a:solidFill>
                <a:latin typeface="Calibri" pitchFamily="34" charset="0"/>
                <a:ea typeface="Calibri" pitchFamily="34" charset="-122"/>
                <a:cs typeface="Calibri" pitchFamily="34" charset="-120"/>
              </a:rPr>
              <a:t>Response to tx</a:t>
            </a:r>
            <a:endParaRPr lang="en-US" sz="1000" dirty="0"/>
          </a:p>
        </p:txBody>
      </p:sp>
      <p:sp>
        <p:nvSpPr>
          <p:cNvPr id="27" name="Text 25"/>
          <p:cNvSpPr/>
          <p:nvPr/>
        </p:nvSpPr>
        <p:spPr>
          <a:xfrm>
            <a:off x="6309360" y="4023360"/>
            <a:ext cx="2194560" cy="4572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Ibuprofen ineffective</a:t>
            </a:r>
            <a:endParaRPr lang="en-US" sz="1100" dirty="0"/>
          </a:p>
        </p:txBody>
      </p:sp>
      <p:sp>
        <p:nvSpPr>
          <p:cNvPr id="28" name="Text 26"/>
          <p:cNvSpPr/>
          <p:nvPr/>
        </p:nvSpPr>
        <p:spPr>
          <a:xfrm>
            <a:off x="4937760" y="4251960"/>
            <a:ext cx="3566160" cy="274320"/>
          </a:xfrm>
          <a:prstGeom prst="rect">
            <a:avLst/>
          </a:prstGeom>
          <a:noFill/>
          <a:ln/>
        </p:spPr>
        <p:txBody>
          <a:bodyPr wrap="square" lIns="0" tIns="0" rIns="0" bIns="0" rtlCol="0" anchor="ctr"/>
          <a:lstStyle/>
          <a:p>
            <a:pPr indent="0" marL="0">
              <a:buNone/>
            </a:pPr>
            <a:r>
              <a:rPr lang="en-US" sz="1100" i="1" dirty="0">
                <a:solidFill>
                  <a:srgbClr val="3DDC84"/>
                </a:solidFill>
                <a:latin typeface="Calibri" pitchFamily="34" charset="0"/>
                <a:ea typeface="Calibri" pitchFamily="34" charset="-122"/>
                <a:cs typeface="Calibri" pitchFamily="34" charset="-120"/>
              </a:rPr>
              <a:t>Doctor reads in 2 minutes. Starts ahead.</a:t>
            </a:r>
            <a:endParaRPr lang="en-US" sz="1100" dirty="0"/>
          </a:p>
        </p:txBody>
      </p:sp>
      <p:sp>
        <p:nvSpPr>
          <p:cNvPr id="29" name="Text 27"/>
          <p:cNvSpPr/>
          <p:nvPr/>
        </p:nvSpPr>
        <p:spPr>
          <a:xfrm>
            <a:off x="457200" y="4709160"/>
            <a:ext cx="8229600" cy="320040"/>
          </a:xfrm>
          <a:prstGeom prst="rect">
            <a:avLst/>
          </a:prstGeom>
          <a:noFill/>
          <a:ln/>
        </p:spPr>
        <p:txBody>
          <a:bodyPr wrap="square" lIns="0" tIns="0" rIns="0" bIns="0" rtlCol="0" anchor="ctr"/>
          <a:lstStyle/>
          <a:p>
            <a:pPr algn="ctr" indent="0" marL="0">
              <a:buNone/>
            </a:pPr>
            <a:r>
              <a:rPr lang="en-US" sz="1300" b="1" dirty="0">
                <a:solidFill>
                  <a:srgbClr val="E8A838"/>
                </a:solidFill>
                <a:latin typeface="Calibri" pitchFamily="34" charset="0"/>
                <a:ea typeface="Calibri" pitchFamily="34" charset="-122"/>
                <a:cs typeface="Calibri" pitchFamily="34" charset="-120"/>
              </a:rPr>
              <a:t>The difference is not convenience. It is whether clinically relevant signal exists at the point of care.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C3E2D"/>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The Cost of Reconstruction</a:t>
            </a:r>
            <a:endParaRPr lang="en-US" sz="3400" dirty="0"/>
          </a:p>
        </p:txBody>
      </p:sp>
      <p:sp>
        <p:nvSpPr>
          <p:cNvPr id="3" name="Shape 1"/>
          <p:cNvSpPr/>
          <p:nvPr/>
        </p:nvSpPr>
        <p:spPr>
          <a:xfrm>
            <a:off x="457200" y="1280160"/>
            <a:ext cx="3931920" cy="2743200"/>
          </a:xfrm>
          <a:prstGeom prst="roundRect">
            <a:avLst>
              <a:gd name="adj" fmla="val 4000"/>
            </a:avLst>
          </a:prstGeom>
          <a:solidFill>
            <a:srgbClr val="374738"/>
          </a:solidFill>
          <a:ln/>
        </p:spPr>
      </p:sp>
      <p:sp>
        <p:nvSpPr>
          <p:cNvPr id="4" name="Text 2"/>
          <p:cNvSpPr/>
          <p:nvPr/>
        </p:nvSpPr>
        <p:spPr>
          <a:xfrm>
            <a:off x="640080" y="1417320"/>
            <a:ext cx="3566160" cy="365760"/>
          </a:xfrm>
          <a:prstGeom prst="rect">
            <a:avLst/>
          </a:prstGeom>
          <a:noFill/>
          <a:ln/>
        </p:spPr>
        <p:txBody>
          <a:bodyPr wrap="square" lIns="0" tIns="0" rIns="0" bIns="0" rtlCol="0" anchor="ctr"/>
          <a:lstStyle/>
          <a:p>
            <a:pPr indent="0" marL="0">
              <a:buNone/>
            </a:pPr>
            <a:r>
              <a:rPr lang="en-US" sz="1500" b="1" dirty="0">
                <a:solidFill>
                  <a:srgbClr val="E86060"/>
                </a:solidFill>
                <a:latin typeface="Calibri" pitchFamily="34" charset="0"/>
                <a:ea typeface="Calibri" pitchFamily="34" charset="-122"/>
                <a:cs typeface="Calibri" pitchFamily="34" charset="-120"/>
              </a:rPr>
              <a:t>Current: Reconstruction Mode</a:t>
            </a:r>
            <a:endParaRPr lang="en-US" sz="1500" dirty="0"/>
          </a:p>
        </p:txBody>
      </p:sp>
      <p:sp>
        <p:nvSpPr>
          <p:cNvPr id="5" name="Shape 3"/>
          <p:cNvSpPr/>
          <p:nvPr/>
        </p:nvSpPr>
        <p:spPr>
          <a:xfrm>
            <a:off x="914400" y="2011680"/>
            <a:ext cx="2286000" cy="548640"/>
          </a:xfrm>
          <a:prstGeom prst="rect">
            <a:avLst/>
          </a:prstGeom>
          <a:solidFill>
            <a:srgbClr val="5C3030"/>
          </a:solidFill>
          <a:ln/>
        </p:spPr>
      </p:sp>
      <p:sp>
        <p:nvSpPr>
          <p:cNvPr id="6" name="Text 4"/>
          <p:cNvSpPr/>
          <p:nvPr/>
        </p:nvSpPr>
        <p:spPr>
          <a:xfrm>
            <a:off x="914400" y="2011680"/>
            <a:ext cx="2286000" cy="548640"/>
          </a:xfrm>
          <a:prstGeom prst="rect">
            <a:avLst/>
          </a:prstGeom>
          <a:noFill/>
          <a:ln/>
        </p:spPr>
        <p:txBody>
          <a:bodyPr wrap="square" lIns="0" tIns="0" rIns="0" bIns="0" rtlCol="0" anchor="ctr"/>
          <a:lstStyle/>
          <a:p>
            <a:pPr algn="ctr" indent="0" marL="0">
              <a:buNone/>
            </a:pPr>
            <a:r>
              <a:rPr lang="en-US" sz="1200" dirty="0">
                <a:solidFill>
                  <a:srgbClr val="E8E8E0"/>
                </a:solidFill>
                <a:latin typeface="Calibri" pitchFamily="34" charset="0"/>
                <a:ea typeface="Calibri" pitchFamily="34" charset="-122"/>
                <a:cs typeface="Calibri" pitchFamily="34" charset="-120"/>
              </a:rPr>
              <a:t>10 min reconstruction</a:t>
            </a:r>
            <a:endParaRPr lang="en-US" sz="1200" dirty="0"/>
          </a:p>
        </p:txBody>
      </p:sp>
      <p:sp>
        <p:nvSpPr>
          <p:cNvPr id="7" name="Shape 5"/>
          <p:cNvSpPr/>
          <p:nvPr/>
        </p:nvSpPr>
        <p:spPr>
          <a:xfrm>
            <a:off x="3200400" y="2011680"/>
            <a:ext cx="731520" cy="548640"/>
          </a:xfrm>
          <a:prstGeom prst="rect">
            <a:avLst/>
          </a:prstGeom>
          <a:solidFill>
            <a:srgbClr val="216F64"/>
          </a:solidFill>
          <a:ln/>
        </p:spPr>
      </p:sp>
      <p:sp>
        <p:nvSpPr>
          <p:cNvPr id="8" name="Text 6"/>
          <p:cNvSpPr/>
          <p:nvPr/>
        </p:nvSpPr>
        <p:spPr>
          <a:xfrm>
            <a:off x="3200400" y="2011680"/>
            <a:ext cx="731520" cy="54864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5</a:t>
            </a:r>
            <a:endParaRPr lang="en-US" sz="1200" dirty="0"/>
          </a:p>
        </p:txBody>
      </p:sp>
      <p:sp>
        <p:nvSpPr>
          <p:cNvPr id="9" name="Text 7"/>
          <p:cNvSpPr/>
          <p:nvPr/>
        </p:nvSpPr>
        <p:spPr>
          <a:xfrm>
            <a:off x="640080" y="2743200"/>
            <a:ext cx="3566160" cy="1097280"/>
          </a:xfrm>
          <a:prstGeom prst="rect">
            <a:avLst/>
          </a:prstGeom>
          <a:noFill/>
          <a:ln/>
        </p:spPr>
        <p:txBody>
          <a:bodyPr wrap="square" rtlCol="0" anchor="ctr"/>
          <a:lstStyle/>
          <a:p>
            <a:pPr indent="0" marL="0">
              <a:lnSpc>
                <a:spcPct val="140000"/>
              </a:lnSpc>
              <a:buNone/>
            </a:pPr>
            <a:r>
              <a:rPr lang="en-US" sz="1200" b="1" dirty="0">
                <a:solidFill>
                  <a:srgbClr val="FFFFFF"/>
                </a:solidFill>
                <a:latin typeface="Calibri" pitchFamily="34" charset="0"/>
                <a:ea typeface="Calibri" pitchFamily="34" charset="-122"/>
                <a:cs typeface="Calibri" pitchFamily="34" charset="-120"/>
              </a:rPr>
              <a:t>Per doctor per year:</a:t>
            </a:r>
            <a:endParaRPr lang="en-US" sz="1200" dirty="0"/>
          </a:p>
          <a:p>
            <a:pPr indent="0" marL="0">
              <a:lnSpc>
                <a:spcPct val="140000"/>
              </a:lnSpc>
              <a:buNone/>
            </a:pPr>
            <a:r>
              <a:rPr lang="en-US" sz="1200" dirty="0">
                <a:solidFill>
                  <a:srgbClr val="E86060"/>
                </a:solidFill>
                <a:latin typeface="Calibri" pitchFamily="34" charset="0"/>
                <a:ea typeface="Calibri" pitchFamily="34" charset="-122"/>
                <a:cs typeface="Calibri" pitchFamily="34" charset="-120"/>
              </a:rPr>
              <a:t>~3,300 hours reconstructing history</a:t>
            </a:r>
            <a:endParaRPr lang="en-US" sz="1200" dirty="0"/>
          </a:p>
          <a:p>
            <a:pPr indent="0" marL="0">
              <a:lnSpc>
                <a:spcPct val="140000"/>
              </a:lnSpc>
              <a:buNone/>
            </a:pPr>
            <a:r>
              <a:rPr lang="en-US" sz="1200" dirty="0">
                <a:solidFill>
                  <a:srgbClr val="E86060"/>
                </a:solidFill>
                <a:latin typeface="Calibri" pitchFamily="34" charset="0"/>
                <a:ea typeface="Calibri" pitchFamily="34" charset="-122"/>
                <a:cs typeface="Calibri" pitchFamily="34" charset="-120"/>
              </a:rPr>
              <a:t>~1,650 hours of lost clinical reasoning</a:t>
            </a:r>
            <a:endParaRPr lang="en-US" sz="1200" dirty="0"/>
          </a:p>
          <a:p>
            <a:pPr indent="0" marL="0">
              <a:lnSpc>
                <a:spcPct val="140000"/>
              </a:lnSpc>
              <a:buNone/>
            </a:pPr>
            <a:r>
              <a:rPr lang="en-US" sz="1200" dirty="0">
                <a:solidFill>
                  <a:srgbClr val="E86060"/>
                </a:solidFill>
                <a:latin typeface="Calibri" pitchFamily="34" charset="0"/>
                <a:ea typeface="Calibri" pitchFamily="34" charset="-122"/>
                <a:cs typeface="Calibri" pitchFamily="34" charset="-120"/>
              </a:rPr>
              <a:t>$350K+ in physician time consumed</a:t>
            </a:r>
            <a:endParaRPr lang="en-US" sz="1200" dirty="0"/>
          </a:p>
        </p:txBody>
      </p:sp>
      <p:sp>
        <p:nvSpPr>
          <p:cNvPr id="10" name="Shape 8"/>
          <p:cNvSpPr/>
          <p:nvPr/>
        </p:nvSpPr>
        <p:spPr>
          <a:xfrm>
            <a:off x="4754880" y="1280160"/>
            <a:ext cx="3931920" cy="2743200"/>
          </a:xfrm>
          <a:prstGeom prst="roundRect">
            <a:avLst>
              <a:gd name="adj" fmla="val 4000"/>
            </a:avLst>
          </a:prstGeom>
          <a:solidFill>
            <a:srgbClr val="374738"/>
          </a:solidFill>
          <a:ln/>
        </p:spPr>
      </p:sp>
      <p:sp>
        <p:nvSpPr>
          <p:cNvPr id="11" name="Text 9"/>
          <p:cNvSpPr/>
          <p:nvPr/>
        </p:nvSpPr>
        <p:spPr>
          <a:xfrm>
            <a:off x="4937760" y="1417320"/>
            <a:ext cx="3566160" cy="365760"/>
          </a:xfrm>
          <a:prstGeom prst="rect">
            <a:avLst/>
          </a:prstGeom>
          <a:noFill/>
          <a:ln/>
        </p:spPr>
        <p:txBody>
          <a:bodyPr wrap="square" lIns="0" tIns="0" rIns="0" bIns="0" rtlCol="0" anchor="ctr"/>
          <a:lstStyle/>
          <a:p>
            <a:pPr indent="0" marL="0">
              <a:buNone/>
            </a:pPr>
            <a:r>
              <a:rPr lang="en-US" sz="1500" b="1" dirty="0">
                <a:solidFill>
                  <a:srgbClr val="3DDC84"/>
                </a:solidFill>
                <a:latin typeface="Calibri" pitchFamily="34" charset="0"/>
                <a:ea typeface="Calibri" pitchFamily="34" charset="-122"/>
                <a:cs typeface="Calibri" pitchFamily="34" charset="-120"/>
              </a:rPr>
              <a:t>Corrected: Signal-Forward Mode</a:t>
            </a:r>
            <a:endParaRPr lang="en-US" sz="1500" dirty="0"/>
          </a:p>
        </p:txBody>
      </p:sp>
      <p:sp>
        <p:nvSpPr>
          <p:cNvPr id="12" name="Shape 10"/>
          <p:cNvSpPr/>
          <p:nvPr/>
        </p:nvSpPr>
        <p:spPr>
          <a:xfrm>
            <a:off x="5029200" y="2011680"/>
            <a:ext cx="457200" cy="548640"/>
          </a:xfrm>
          <a:prstGeom prst="rect">
            <a:avLst/>
          </a:prstGeom>
          <a:solidFill>
            <a:srgbClr val="216F64"/>
          </a:solidFill>
          <a:ln/>
        </p:spPr>
      </p:sp>
      <p:sp>
        <p:nvSpPr>
          <p:cNvPr id="13" name="Text 11"/>
          <p:cNvSpPr/>
          <p:nvPr/>
        </p:nvSpPr>
        <p:spPr>
          <a:xfrm>
            <a:off x="5029200" y="2011680"/>
            <a:ext cx="457200" cy="54864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2</a:t>
            </a:r>
            <a:endParaRPr lang="en-US" sz="1200" dirty="0"/>
          </a:p>
        </p:txBody>
      </p:sp>
      <p:sp>
        <p:nvSpPr>
          <p:cNvPr id="14" name="Shape 12"/>
          <p:cNvSpPr/>
          <p:nvPr/>
        </p:nvSpPr>
        <p:spPr>
          <a:xfrm>
            <a:off x="5486400" y="2011680"/>
            <a:ext cx="2926080" cy="548640"/>
          </a:xfrm>
          <a:prstGeom prst="rect">
            <a:avLst/>
          </a:prstGeom>
          <a:solidFill>
            <a:srgbClr val="2E915E"/>
          </a:solidFill>
          <a:ln/>
        </p:spPr>
      </p:sp>
      <p:sp>
        <p:nvSpPr>
          <p:cNvPr id="15" name="Text 13"/>
          <p:cNvSpPr/>
          <p:nvPr/>
        </p:nvSpPr>
        <p:spPr>
          <a:xfrm>
            <a:off x="5486400" y="2011680"/>
            <a:ext cx="2926080" cy="54864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13 min reasoning</a:t>
            </a:r>
            <a:endParaRPr lang="en-US" sz="1200" dirty="0"/>
          </a:p>
        </p:txBody>
      </p:sp>
      <p:sp>
        <p:nvSpPr>
          <p:cNvPr id="16" name="Text 14"/>
          <p:cNvSpPr/>
          <p:nvPr/>
        </p:nvSpPr>
        <p:spPr>
          <a:xfrm>
            <a:off x="4937760" y="2743200"/>
            <a:ext cx="3566160" cy="1097280"/>
          </a:xfrm>
          <a:prstGeom prst="rect">
            <a:avLst/>
          </a:prstGeom>
          <a:noFill/>
          <a:ln/>
        </p:spPr>
        <p:txBody>
          <a:bodyPr wrap="square" rtlCol="0" anchor="ctr"/>
          <a:lstStyle/>
          <a:p>
            <a:pPr indent="0" marL="0">
              <a:lnSpc>
                <a:spcPct val="140000"/>
              </a:lnSpc>
              <a:buNone/>
            </a:pPr>
            <a:r>
              <a:rPr lang="en-US" sz="1200" b="1" dirty="0">
                <a:solidFill>
                  <a:srgbClr val="FFFFFF"/>
                </a:solidFill>
                <a:latin typeface="Calibri" pitchFamily="34" charset="0"/>
                <a:ea typeface="Calibri" pitchFamily="34" charset="-122"/>
                <a:cs typeface="Calibri" pitchFamily="34" charset="-120"/>
              </a:rPr>
              <a:t>Per doctor per year:</a:t>
            </a:r>
            <a:endParaRPr lang="en-US" sz="1200" dirty="0"/>
          </a:p>
          <a:p>
            <a:pPr indent="0" marL="0">
              <a:lnSpc>
                <a:spcPct val="140000"/>
              </a:lnSpc>
              <a:buNone/>
            </a:pPr>
            <a:r>
              <a:rPr lang="en-US" sz="1200" dirty="0">
                <a:solidFill>
                  <a:srgbClr val="3DDC84"/>
                </a:solidFill>
                <a:latin typeface="Calibri" pitchFamily="34" charset="0"/>
                <a:ea typeface="Calibri" pitchFamily="34" charset="-122"/>
                <a:cs typeface="Calibri" pitchFamily="34" charset="-120"/>
              </a:rPr>
              <a:t>~2,600 hours of reasoning recovered</a:t>
            </a:r>
            <a:endParaRPr lang="en-US" sz="1200" dirty="0"/>
          </a:p>
          <a:p>
            <a:pPr indent="0" marL="0">
              <a:lnSpc>
                <a:spcPct val="140000"/>
              </a:lnSpc>
              <a:buNone/>
            </a:pPr>
            <a:r>
              <a:rPr lang="en-US" sz="1200" dirty="0">
                <a:solidFill>
                  <a:srgbClr val="3DDC84"/>
                </a:solidFill>
                <a:latin typeface="Calibri" pitchFamily="34" charset="0"/>
                <a:ea typeface="Calibri" pitchFamily="34" charset="-122"/>
                <a:cs typeface="Calibri" pitchFamily="34" charset="-120"/>
              </a:rPr>
              <a:t>Higher diagnostic accuracy per visit</a:t>
            </a:r>
            <a:endParaRPr lang="en-US" sz="1200" dirty="0"/>
          </a:p>
          <a:p>
            <a:pPr indent="0" marL="0">
              <a:lnSpc>
                <a:spcPct val="140000"/>
              </a:lnSpc>
              <a:buNone/>
            </a:pPr>
            <a:r>
              <a:rPr lang="en-US" sz="1200" dirty="0">
                <a:solidFill>
                  <a:srgbClr val="3DDC84"/>
                </a:solidFill>
                <a:latin typeface="Calibri" pitchFamily="34" charset="0"/>
                <a:ea typeface="Calibri" pitchFamily="34" charset="-122"/>
                <a:cs typeface="Calibri" pitchFamily="34" charset="-120"/>
              </a:rPr>
              <a:t>Reduced follow-up visits from missed signal</a:t>
            </a:r>
            <a:endParaRPr lang="en-US" sz="1200" dirty="0"/>
          </a:p>
        </p:txBody>
      </p:sp>
      <p:sp>
        <p:nvSpPr>
          <p:cNvPr id="17" name="Text 15"/>
          <p:cNvSpPr/>
          <p:nvPr/>
        </p:nvSpPr>
        <p:spPr>
          <a:xfrm>
            <a:off x="731520" y="4297680"/>
            <a:ext cx="76809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Same 15 minutes. The difference is whether signal exists before the encounter begins.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C3E2D"/>
        </a:solidFill>
      </p:bgPr>
    </p:bg>
    <p:spTree>
      <p:nvGrpSpPr>
        <p:cNvPr id="1" name=""/>
        <p:cNvGrpSpPr/>
        <p:nvPr/>
      </p:nvGrpSpPr>
      <p:grpSpPr>
        <a:xfrm>
          <a:off x="0" y="0"/>
          <a:ext cx="0" cy="0"/>
          <a:chOff x="0" y="0"/>
          <a:chExt cx="0" cy="0"/>
        </a:xfrm>
      </p:grpSpPr>
      <p:sp>
        <p:nvSpPr>
          <p:cNvPr id="2" name="Text 0"/>
          <p:cNvSpPr/>
          <p:nvPr/>
        </p:nvSpPr>
        <p:spPr>
          <a:xfrm>
            <a:off x="731520" y="274320"/>
            <a:ext cx="7680960" cy="1005840"/>
          </a:xfrm>
          <a:prstGeom prst="rect">
            <a:avLst/>
          </a:prstGeom>
          <a:noFill/>
          <a:ln/>
        </p:spPr>
        <p:txBody>
          <a:bodyPr wrap="square" lIns="0" tIns="0" rIns="0" bIns="0" rtlCol="0" anchor="ctr"/>
          <a:lstStyle/>
          <a:p>
            <a:pPr indent="0" marL="0">
              <a:lnSpc>
                <a:spcPct val="115000"/>
              </a:lnSpc>
              <a:buNone/>
            </a:pPr>
            <a:r>
              <a:rPr lang="en-US" sz="3400" b="1" dirty="0">
                <a:solidFill>
                  <a:srgbClr val="FFFFFF"/>
                </a:solidFill>
                <a:latin typeface="Georgia" pitchFamily="34" charset="0"/>
                <a:ea typeface="Georgia" pitchFamily="34" charset="-122"/>
                <a:cs typeface="Georgia" pitchFamily="34" charset="-120"/>
              </a:rPr>
              <a:t>Four Forces Are Converging.</a:t>
            </a:r>
            <a:endParaRPr lang="en-US" sz="3400" dirty="0"/>
          </a:p>
          <a:p>
            <a:pPr indent="0" marL="0">
              <a:lnSpc>
                <a:spcPct val="115000"/>
              </a:lnSpc>
              <a:buNone/>
            </a:pPr>
            <a:r>
              <a:rPr lang="en-US" sz="3400" b="1" dirty="0">
                <a:solidFill>
                  <a:srgbClr val="FFFFFF"/>
                </a:solidFill>
                <a:latin typeface="Georgia" pitchFamily="34" charset="0"/>
                <a:ea typeface="Georgia" pitchFamily="34" charset="-122"/>
                <a:cs typeface="Georgia" pitchFamily="34" charset="-120"/>
              </a:rPr>
              <a:t>The Gap Can No Longer Hold.</a:t>
            </a:r>
            <a:endParaRPr lang="en-US" sz="3400" dirty="0"/>
          </a:p>
        </p:txBody>
      </p:sp>
      <p:sp>
        <p:nvSpPr>
          <p:cNvPr id="3" name="Shape 1"/>
          <p:cNvSpPr/>
          <p:nvPr/>
        </p:nvSpPr>
        <p:spPr>
          <a:xfrm>
            <a:off x="640080" y="1554480"/>
            <a:ext cx="1920240" cy="2560320"/>
          </a:xfrm>
          <a:prstGeom prst="roundRect">
            <a:avLst>
              <a:gd name="adj" fmla="val 4762"/>
            </a:avLst>
          </a:prstGeom>
          <a:solidFill>
            <a:srgbClr val="374738"/>
          </a:solidFill>
          <a:ln/>
        </p:spPr>
      </p:sp>
      <p:sp>
        <p:nvSpPr>
          <p:cNvPr id="4" name="Text 2"/>
          <p:cNvSpPr/>
          <p:nvPr/>
        </p:nvSpPr>
        <p:spPr>
          <a:xfrm>
            <a:off x="640080" y="1645920"/>
            <a:ext cx="1920240" cy="731520"/>
          </a:xfrm>
          <a:prstGeom prst="rect">
            <a:avLst/>
          </a:prstGeom>
          <a:noFill/>
          <a:ln/>
        </p:spPr>
        <p:txBody>
          <a:bodyPr wrap="square" lIns="0" tIns="0" rIns="0" bIns="0" rtlCol="0" anchor="ctr"/>
          <a:lstStyle/>
          <a:p>
            <a:pPr algn="ctr" indent="0" marL="0">
              <a:buNone/>
            </a:pPr>
            <a:r>
              <a:rPr lang="en-US" sz="3600" dirty="0">
                <a:solidFill>
                  <a:srgbClr val="3DDC84"/>
                </a:solidFill>
                <a:latin typeface="Calibri" pitchFamily="34" charset="0"/>
                <a:ea typeface="Calibri" pitchFamily="34" charset="-122"/>
                <a:cs typeface="Calibri" pitchFamily="34" charset="-120"/>
              </a:rPr>
              <a:t>↑</a:t>
            </a:r>
            <a:endParaRPr lang="en-US" sz="3600" dirty="0"/>
          </a:p>
        </p:txBody>
      </p:sp>
      <p:sp>
        <p:nvSpPr>
          <p:cNvPr id="5" name="Text 3"/>
          <p:cNvSpPr/>
          <p:nvPr/>
        </p:nvSpPr>
        <p:spPr>
          <a:xfrm>
            <a:off x="777240" y="2377440"/>
            <a:ext cx="1645920" cy="640080"/>
          </a:xfrm>
          <a:prstGeom prst="rect">
            <a:avLst/>
          </a:prstGeom>
          <a:noFill/>
          <a:ln/>
        </p:spPr>
        <p:txBody>
          <a:bodyPr wrap="square" lIns="0" tIns="0" rIns="0" bIns="0" rtlCol="0" anchor="ctr"/>
          <a:lstStyle/>
          <a:p>
            <a:pPr algn="ctr" indent="0" marL="0">
              <a:lnSpc>
                <a:spcPct val="115000"/>
              </a:lnSpc>
              <a:buNone/>
            </a:pPr>
            <a:r>
              <a:rPr lang="en-US" sz="1400" b="1" dirty="0">
                <a:solidFill>
                  <a:srgbClr val="FFFFFF"/>
                </a:solidFill>
                <a:latin typeface="Calibri" pitchFamily="34" charset="0"/>
                <a:ea typeface="Calibri" pitchFamily="34" charset="-122"/>
                <a:cs typeface="Calibri" pitchFamily="34" charset="-120"/>
              </a:rPr>
              <a:t>Chronic disease</a:t>
            </a:r>
            <a:endParaRPr lang="en-US" sz="1400" dirty="0"/>
          </a:p>
          <a:p>
            <a:pPr algn="ctr" indent="0" marL="0">
              <a:lnSpc>
                <a:spcPct val="115000"/>
              </a:lnSpc>
              <a:buNone/>
            </a:pPr>
            <a:r>
              <a:rPr lang="en-US" sz="1400" b="1" dirty="0">
                <a:solidFill>
                  <a:srgbClr val="FFFFFF"/>
                </a:solidFill>
                <a:latin typeface="Calibri" pitchFamily="34" charset="0"/>
                <a:ea typeface="Calibri" pitchFamily="34" charset="-122"/>
                <a:cs typeface="Calibri" pitchFamily="34" charset="-120"/>
              </a:rPr>
              <a:t>prevalence</a:t>
            </a:r>
            <a:endParaRPr lang="en-US" sz="1400" dirty="0"/>
          </a:p>
        </p:txBody>
      </p:sp>
      <p:sp>
        <p:nvSpPr>
          <p:cNvPr id="6" name="Text 4"/>
          <p:cNvSpPr/>
          <p:nvPr/>
        </p:nvSpPr>
        <p:spPr>
          <a:xfrm>
            <a:off x="777240" y="3108960"/>
            <a:ext cx="1645920" cy="457200"/>
          </a:xfrm>
          <a:prstGeom prst="rect">
            <a:avLst/>
          </a:prstGeom>
          <a:noFill/>
          <a:ln/>
        </p:spPr>
        <p:txBody>
          <a:bodyPr wrap="square" lIns="0" tIns="0" rIns="0" bIns="0" rtlCol="0" anchor="ctr"/>
          <a:lstStyle/>
          <a:p>
            <a:pPr algn="ctr" indent="0" marL="0">
              <a:buNone/>
            </a:pPr>
            <a:r>
              <a:rPr lang="en-US" sz="1100" dirty="0">
                <a:solidFill>
                  <a:srgbClr val="999999"/>
                </a:solidFill>
                <a:latin typeface="Calibri" pitchFamily="34" charset="0"/>
                <a:ea typeface="Calibri" pitchFamily="34" charset="-122"/>
                <a:cs typeface="Calibri" pitchFamily="34" charset="-120"/>
              </a:rPr>
              <a:t>6 in 10 US adults. Rising.</a:t>
            </a:r>
            <a:endParaRPr lang="en-US" sz="1100" dirty="0"/>
          </a:p>
        </p:txBody>
      </p:sp>
      <p:sp>
        <p:nvSpPr>
          <p:cNvPr id="7" name="Shape 5"/>
          <p:cNvSpPr/>
          <p:nvPr/>
        </p:nvSpPr>
        <p:spPr>
          <a:xfrm>
            <a:off x="2743200" y="1554480"/>
            <a:ext cx="1920240" cy="2560320"/>
          </a:xfrm>
          <a:prstGeom prst="roundRect">
            <a:avLst>
              <a:gd name="adj" fmla="val 4762"/>
            </a:avLst>
          </a:prstGeom>
          <a:solidFill>
            <a:srgbClr val="374738"/>
          </a:solidFill>
          <a:ln/>
        </p:spPr>
      </p:sp>
      <p:sp>
        <p:nvSpPr>
          <p:cNvPr id="8" name="Text 6"/>
          <p:cNvSpPr/>
          <p:nvPr/>
        </p:nvSpPr>
        <p:spPr>
          <a:xfrm>
            <a:off x="2743200" y="1645920"/>
            <a:ext cx="1920240" cy="731520"/>
          </a:xfrm>
          <a:prstGeom prst="rect">
            <a:avLst/>
          </a:prstGeom>
          <a:noFill/>
          <a:ln/>
        </p:spPr>
        <p:txBody>
          <a:bodyPr wrap="square" lIns="0" tIns="0" rIns="0" bIns="0" rtlCol="0" anchor="ctr"/>
          <a:lstStyle/>
          <a:p>
            <a:pPr algn="ctr" indent="0" marL="0">
              <a:buNone/>
            </a:pPr>
            <a:r>
              <a:rPr lang="en-US" sz="3600" dirty="0">
                <a:solidFill>
                  <a:srgbClr val="3DDC84"/>
                </a:solidFill>
                <a:latin typeface="Calibri" pitchFamily="34" charset="0"/>
                <a:ea typeface="Calibri" pitchFamily="34" charset="-122"/>
                <a:cs typeface="Calibri" pitchFamily="34" charset="-120"/>
              </a:rPr>
              <a:t>↑</a:t>
            </a:r>
            <a:endParaRPr lang="en-US" sz="3600" dirty="0"/>
          </a:p>
        </p:txBody>
      </p:sp>
      <p:sp>
        <p:nvSpPr>
          <p:cNvPr id="9" name="Text 7"/>
          <p:cNvSpPr/>
          <p:nvPr/>
        </p:nvSpPr>
        <p:spPr>
          <a:xfrm>
            <a:off x="2880360" y="2377440"/>
            <a:ext cx="1645920" cy="640080"/>
          </a:xfrm>
          <a:prstGeom prst="rect">
            <a:avLst/>
          </a:prstGeom>
          <a:noFill/>
          <a:ln/>
        </p:spPr>
        <p:txBody>
          <a:bodyPr wrap="square" lIns="0" tIns="0" rIns="0" bIns="0" rtlCol="0" anchor="ctr"/>
          <a:lstStyle/>
          <a:p>
            <a:pPr algn="ctr" indent="0" marL="0">
              <a:lnSpc>
                <a:spcPct val="115000"/>
              </a:lnSpc>
              <a:buNone/>
            </a:pPr>
            <a:r>
              <a:rPr lang="en-US" sz="1400" b="1" dirty="0">
                <a:solidFill>
                  <a:srgbClr val="FFFFFF"/>
                </a:solidFill>
                <a:latin typeface="Calibri" pitchFamily="34" charset="0"/>
                <a:ea typeface="Calibri" pitchFamily="34" charset="-122"/>
                <a:cs typeface="Calibri" pitchFamily="34" charset="-120"/>
              </a:rPr>
              <a:t>Polypharmacy</a:t>
            </a:r>
            <a:endParaRPr lang="en-US" sz="1400" dirty="0"/>
          </a:p>
          <a:p>
            <a:pPr algn="ctr" indent="0" marL="0">
              <a:lnSpc>
                <a:spcPct val="115000"/>
              </a:lnSpc>
              <a:buNone/>
            </a:pPr>
            <a:r>
              <a:rPr lang="en-US" sz="1400" b="1" dirty="0">
                <a:solidFill>
                  <a:srgbClr val="FFFFFF"/>
                </a:solidFill>
                <a:latin typeface="Calibri" pitchFamily="34" charset="0"/>
                <a:ea typeface="Calibri" pitchFamily="34" charset="-122"/>
                <a:cs typeface="Calibri" pitchFamily="34" charset="-120"/>
              </a:rPr>
              <a:t>complexity</a:t>
            </a:r>
            <a:endParaRPr lang="en-US" sz="1400" dirty="0"/>
          </a:p>
        </p:txBody>
      </p:sp>
      <p:sp>
        <p:nvSpPr>
          <p:cNvPr id="10" name="Text 8"/>
          <p:cNvSpPr/>
          <p:nvPr/>
        </p:nvSpPr>
        <p:spPr>
          <a:xfrm>
            <a:off x="2880360" y="3108960"/>
            <a:ext cx="1645920" cy="457200"/>
          </a:xfrm>
          <a:prstGeom prst="rect">
            <a:avLst/>
          </a:prstGeom>
          <a:noFill/>
          <a:ln/>
        </p:spPr>
        <p:txBody>
          <a:bodyPr wrap="square" lIns="0" tIns="0" rIns="0" bIns="0" rtlCol="0" anchor="ctr"/>
          <a:lstStyle/>
          <a:p>
            <a:pPr algn="ctr" indent="0" marL="0">
              <a:buNone/>
            </a:pPr>
            <a:r>
              <a:rPr lang="en-US" sz="1100" dirty="0">
                <a:solidFill>
                  <a:srgbClr val="999999"/>
                </a:solidFill>
                <a:latin typeface="Calibri" pitchFamily="34" charset="0"/>
                <a:ea typeface="Calibri" pitchFamily="34" charset="-122"/>
                <a:cs typeface="Calibri" pitchFamily="34" charset="-120"/>
              </a:rPr>
              <a:t>40% of 65+ on 5+ meds.</a:t>
            </a:r>
            <a:endParaRPr lang="en-US" sz="1100" dirty="0"/>
          </a:p>
        </p:txBody>
      </p:sp>
      <p:sp>
        <p:nvSpPr>
          <p:cNvPr id="11" name="Shape 9"/>
          <p:cNvSpPr/>
          <p:nvPr/>
        </p:nvSpPr>
        <p:spPr>
          <a:xfrm>
            <a:off x="4846320" y="1554480"/>
            <a:ext cx="1920240" cy="2560320"/>
          </a:xfrm>
          <a:prstGeom prst="roundRect">
            <a:avLst>
              <a:gd name="adj" fmla="val 4762"/>
            </a:avLst>
          </a:prstGeom>
          <a:solidFill>
            <a:srgbClr val="374738"/>
          </a:solidFill>
          <a:ln/>
        </p:spPr>
      </p:sp>
      <p:sp>
        <p:nvSpPr>
          <p:cNvPr id="12" name="Text 10"/>
          <p:cNvSpPr/>
          <p:nvPr/>
        </p:nvSpPr>
        <p:spPr>
          <a:xfrm>
            <a:off x="4846320" y="1645920"/>
            <a:ext cx="1920240" cy="731520"/>
          </a:xfrm>
          <a:prstGeom prst="rect">
            <a:avLst/>
          </a:prstGeom>
          <a:noFill/>
          <a:ln/>
        </p:spPr>
        <p:txBody>
          <a:bodyPr wrap="square" lIns="0" tIns="0" rIns="0" bIns="0" rtlCol="0" anchor="ctr"/>
          <a:lstStyle/>
          <a:p>
            <a:pPr algn="ctr" indent="0" marL="0">
              <a:buNone/>
            </a:pPr>
            <a:r>
              <a:rPr lang="en-US" sz="3600" dirty="0">
                <a:solidFill>
                  <a:srgbClr val="E86060"/>
                </a:solidFill>
                <a:latin typeface="Calibri" pitchFamily="34" charset="0"/>
                <a:ea typeface="Calibri" pitchFamily="34" charset="-122"/>
                <a:cs typeface="Calibri" pitchFamily="34" charset="-120"/>
              </a:rPr>
              <a:t>↓</a:t>
            </a:r>
            <a:endParaRPr lang="en-US" sz="3600" dirty="0"/>
          </a:p>
        </p:txBody>
      </p:sp>
      <p:sp>
        <p:nvSpPr>
          <p:cNvPr id="13" name="Text 11"/>
          <p:cNvSpPr/>
          <p:nvPr/>
        </p:nvSpPr>
        <p:spPr>
          <a:xfrm>
            <a:off x="4983480" y="2377440"/>
            <a:ext cx="1645920" cy="640080"/>
          </a:xfrm>
          <a:prstGeom prst="rect">
            <a:avLst/>
          </a:prstGeom>
          <a:noFill/>
          <a:ln/>
        </p:spPr>
        <p:txBody>
          <a:bodyPr wrap="square" lIns="0" tIns="0" rIns="0" bIns="0" rtlCol="0" anchor="ctr"/>
          <a:lstStyle/>
          <a:p>
            <a:pPr algn="ctr" indent="0" marL="0">
              <a:lnSpc>
                <a:spcPct val="115000"/>
              </a:lnSpc>
              <a:buNone/>
            </a:pPr>
            <a:r>
              <a:rPr lang="en-US" sz="1400" b="1" dirty="0">
                <a:solidFill>
                  <a:srgbClr val="FFFFFF"/>
                </a:solidFill>
                <a:latin typeface="Calibri" pitchFamily="34" charset="0"/>
                <a:ea typeface="Calibri" pitchFamily="34" charset="-122"/>
                <a:cs typeface="Calibri" pitchFamily="34" charset="-120"/>
              </a:rPr>
              <a:t>Available visit</a:t>
            </a:r>
            <a:endParaRPr lang="en-US" sz="1400" dirty="0"/>
          </a:p>
          <a:p>
            <a:pPr algn="ctr" indent="0" marL="0">
              <a:lnSpc>
                <a:spcPct val="115000"/>
              </a:lnSpc>
              <a:buNone/>
            </a:pPr>
            <a:r>
              <a:rPr lang="en-US" sz="1400" b="1" dirty="0">
                <a:solidFill>
                  <a:srgbClr val="FFFFFF"/>
                </a:solidFill>
                <a:latin typeface="Calibri" pitchFamily="34" charset="0"/>
                <a:ea typeface="Calibri" pitchFamily="34" charset="-122"/>
                <a:cs typeface="Calibri" pitchFamily="34" charset="-120"/>
              </a:rPr>
              <a:t>time</a:t>
            </a:r>
            <a:endParaRPr lang="en-US" sz="1400" dirty="0"/>
          </a:p>
        </p:txBody>
      </p:sp>
      <p:sp>
        <p:nvSpPr>
          <p:cNvPr id="14" name="Text 12"/>
          <p:cNvSpPr/>
          <p:nvPr/>
        </p:nvSpPr>
        <p:spPr>
          <a:xfrm>
            <a:off x="4983480" y="3108960"/>
            <a:ext cx="1645920" cy="457200"/>
          </a:xfrm>
          <a:prstGeom prst="rect">
            <a:avLst/>
          </a:prstGeom>
          <a:noFill/>
          <a:ln/>
        </p:spPr>
        <p:txBody>
          <a:bodyPr wrap="square" lIns="0" tIns="0" rIns="0" bIns="0" rtlCol="0" anchor="ctr"/>
          <a:lstStyle/>
          <a:p>
            <a:pPr algn="ctr" indent="0" marL="0">
              <a:buNone/>
            </a:pPr>
            <a:r>
              <a:rPr lang="en-US" sz="1100" dirty="0">
                <a:solidFill>
                  <a:srgbClr val="999999"/>
                </a:solidFill>
                <a:latin typeface="Calibri" pitchFamily="34" charset="0"/>
                <a:ea typeface="Calibri" pitchFamily="34" charset="-122"/>
                <a:cs typeface="Calibri" pitchFamily="34" charset="-120"/>
              </a:rPr>
              <a:t>Declining. Now 15 min avg.</a:t>
            </a:r>
            <a:endParaRPr lang="en-US" sz="1100" dirty="0"/>
          </a:p>
        </p:txBody>
      </p:sp>
      <p:sp>
        <p:nvSpPr>
          <p:cNvPr id="15" name="Shape 13"/>
          <p:cNvSpPr/>
          <p:nvPr/>
        </p:nvSpPr>
        <p:spPr>
          <a:xfrm>
            <a:off x="6949440" y="1554480"/>
            <a:ext cx="1920240" cy="2560320"/>
          </a:xfrm>
          <a:prstGeom prst="roundRect">
            <a:avLst>
              <a:gd name="adj" fmla="val 4762"/>
            </a:avLst>
          </a:prstGeom>
          <a:solidFill>
            <a:srgbClr val="374738"/>
          </a:solidFill>
          <a:ln/>
        </p:spPr>
      </p:sp>
      <p:sp>
        <p:nvSpPr>
          <p:cNvPr id="16" name="Text 14"/>
          <p:cNvSpPr/>
          <p:nvPr/>
        </p:nvSpPr>
        <p:spPr>
          <a:xfrm>
            <a:off x="6949440" y="1645920"/>
            <a:ext cx="1920240" cy="731520"/>
          </a:xfrm>
          <a:prstGeom prst="rect">
            <a:avLst/>
          </a:prstGeom>
          <a:noFill/>
          <a:ln/>
        </p:spPr>
        <p:txBody>
          <a:bodyPr wrap="square" lIns="0" tIns="0" rIns="0" bIns="0" rtlCol="0" anchor="ctr"/>
          <a:lstStyle/>
          <a:p>
            <a:pPr algn="ctr" indent="0" marL="0">
              <a:buNone/>
            </a:pPr>
            <a:r>
              <a:rPr lang="en-US" sz="3600" dirty="0">
                <a:solidFill>
                  <a:srgbClr val="3DDC84"/>
                </a:solidFill>
                <a:latin typeface="Calibri" pitchFamily="34" charset="0"/>
                <a:ea typeface="Calibri" pitchFamily="34" charset="-122"/>
                <a:cs typeface="Calibri" pitchFamily="34" charset="-120"/>
              </a:rPr>
              <a:t>↑↑</a:t>
            </a:r>
            <a:endParaRPr lang="en-US" sz="3600" dirty="0"/>
          </a:p>
        </p:txBody>
      </p:sp>
      <p:sp>
        <p:nvSpPr>
          <p:cNvPr id="17" name="Text 15"/>
          <p:cNvSpPr/>
          <p:nvPr/>
        </p:nvSpPr>
        <p:spPr>
          <a:xfrm>
            <a:off x="7086600" y="2377440"/>
            <a:ext cx="1645920" cy="640080"/>
          </a:xfrm>
          <a:prstGeom prst="rect">
            <a:avLst/>
          </a:prstGeom>
          <a:noFill/>
          <a:ln/>
        </p:spPr>
        <p:txBody>
          <a:bodyPr wrap="square" lIns="0" tIns="0" rIns="0" bIns="0" rtlCol="0" anchor="ctr"/>
          <a:lstStyle/>
          <a:p>
            <a:pPr algn="ctr" indent="0" marL="0">
              <a:lnSpc>
                <a:spcPct val="115000"/>
              </a:lnSpc>
              <a:buNone/>
            </a:pPr>
            <a:r>
              <a:rPr lang="en-US" sz="1400" b="1" dirty="0">
                <a:solidFill>
                  <a:srgbClr val="FFFFFF"/>
                </a:solidFill>
                <a:latin typeface="Calibri" pitchFamily="34" charset="0"/>
                <a:ea typeface="Calibri" pitchFamily="34" charset="-122"/>
                <a:cs typeface="Calibri" pitchFamily="34" charset="-120"/>
              </a:rPr>
              <a:t>Longitudinal</a:t>
            </a:r>
            <a:endParaRPr lang="en-US" sz="1400" dirty="0"/>
          </a:p>
          <a:p>
            <a:pPr algn="ctr" indent="0" marL="0">
              <a:lnSpc>
                <a:spcPct val="115000"/>
              </a:lnSpc>
              <a:buNone/>
            </a:pPr>
            <a:r>
              <a:rPr lang="en-US" sz="1400" b="1" dirty="0">
                <a:solidFill>
                  <a:srgbClr val="FFFFFF"/>
                </a:solidFill>
                <a:latin typeface="Calibri" pitchFamily="34" charset="0"/>
                <a:ea typeface="Calibri" pitchFamily="34" charset="-122"/>
                <a:cs typeface="Calibri" pitchFamily="34" charset="-120"/>
              </a:rPr>
              <a:t>data volume</a:t>
            </a:r>
            <a:endParaRPr lang="en-US" sz="1400" dirty="0"/>
          </a:p>
        </p:txBody>
      </p:sp>
      <p:sp>
        <p:nvSpPr>
          <p:cNvPr id="18" name="Text 16"/>
          <p:cNvSpPr/>
          <p:nvPr/>
        </p:nvSpPr>
        <p:spPr>
          <a:xfrm>
            <a:off x="7086600" y="3108960"/>
            <a:ext cx="1645920" cy="457200"/>
          </a:xfrm>
          <a:prstGeom prst="rect">
            <a:avLst/>
          </a:prstGeom>
          <a:noFill/>
          <a:ln/>
        </p:spPr>
        <p:txBody>
          <a:bodyPr wrap="square" lIns="0" tIns="0" rIns="0" bIns="0" rtlCol="0" anchor="ctr"/>
          <a:lstStyle/>
          <a:p>
            <a:pPr algn="ctr" indent="0" marL="0">
              <a:buNone/>
            </a:pPr>
            <a:r>
              <a:rPr lang="en-US" sz="1100" dirty="0">
                <a:solidFill>
                  <a:srgbClr val="999999"/>
                </a:solidFill>
                <a:latin typeface="Calibri" pitchFamily="34" charset="0"/>
                <a:ea typeface="Calibri" pitchFamily="34" charset="-122"/>
                <a:cs typeface="Calibri" pitchFamily="34" charset="-120"/>
              </a:rPr>
              <a:t>Exploding. Unstructured.</a:t>
            </a:r>
            <a:endParaRPr lang="en-US" sz="1100" dirty="0"/>
          </a:p>
        </p:txBody>
      </p:sp>
      <p:sp>
        <p:nvSpPr>
          <p:cNvPr id="19" name="Text 17"/>
          <p:cNvSpPr/>
          <p:nvPr/>
        </p:nvSpPr>
        <p:spPr>
          <a:xfrm>
            <a:off x="457200" y="4389120"/>
            <a:ext cx="8229600" cy="548640"/>
          </a:xfrm>
          <a:prstGeom prst="rect">
            <a:avLst/>
          </a:prstGeom>
          <a:noFill/>
          <a:ln/>
        </p:spPr>
        <p:txBody>
          <a:bodyPr wrap="square" lIns="0" tIns="0" rIns="0" bIns="0" rtlCol="0" anchor="ctr"/>
          <a:lstStyle/>
          <a:p>
            <a:pPr algn="ctr" indent="0" marL="0">
              <a:lnSpc>
                <a:spcPct val="130000"/>
              </a:lnSpc>
              <a:buNone/>
            </a:pPr>
            <a:r>
              <a:rPr lang="en-US" sz="1300" i="1" dirty="0">
                <a:solidFill>
                  <a:srgbClr val="E8A838"/>
                </a:solidFill>
                <a:latin typeface="Calibri" pitchFamily="34" charset="0"/>
                <a:ea typeface="Calibri" pitchFamily="34" charset="-122"/>
                <a:cs typeface="Calibri" pitchFamily="34" charset="-120"/>
              </a:rPr>
              <a:t>The human brain cannot reliably reconstruct multi-week, multi-drug, multi-condition signal under time pressure. This will not improve. It requires infrastructure.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C3E2D"/>
        </a:solidFill>
      </p:bgPr>
    </p:bg>
    <p:spTree>
      <p:nvGrpSpPr>
        <p:cNvPr id="1" name=""/>
        <p:cNvGrpSpPr/>
        <p:nvPr/>
      </p:nvGrpSpPr>
      <p:grpSpPr>
        <a:xfrm>
          <a:off x="0" y="0"/>
          <a:ext cx="0" cy="0"/>
          <a:chOff x="0" y="0"/>
          <a:chExt cx="0" cy="0"/>
        </a:xfrm>
      </p:grpSpPr>
      <p:sp>
        <p:nvSpPr>
          <p:cNvPr id="2" name="Text 0"/>
          <p:cNvSpPr/>
          <p:nvPr/>
        </p:nvSpPr>
        <p:spPr>
          <a:xfrm>
            <a:off x="731520" y="274320"/>
            <a:ext cx="7680960" cy="1097280"/>
          </a:xfrm>
          <a:prstGeom prst="rect">
            <a:avLst/>
          </a:prstGeom>
          <a:noFill/>
          <a:ln/>
        </p:spPr>
        <p:txBody>
          <a:bodyPr wrap="square" lIns="0" tIns="0" rIns="0" bIns="0" rtlCol="0" anchor="ctr"/>
          <a:lstStyle/>
          <a:p>
            <a:pPr indent="0" marL="0">
              <a:lnSpc>
                <a:spcPct val="115000"/>
              </a:lnSpc>
              <a:buNone/>
            </a:pPr>
            <a:r>
              <a:rPr lang="en-US" sz="3200" b="1" dirty="0">
                <a:solidFill>
                  <a:srgbClr val="FFFFFF"/>
                </a:solidFill>
                <a:latin typeface="Georgia" pitchFamily="34" charset="0"/>
                <a:ea typeface="Georgia" pitchFamily="34" charset="-122"/>
                <a:cs typeface="Georgia" pitchFamily="34" charset="-120"/>
              </a:rPr>
              <a:t>Medicare Already Pays for This Layer.</a:t>
            </a:r>
            <a:endParaRPr lang="en-US" sz="3200" dirty="0"/>
          </a:p>
          <a:p>
            <a:pPr indent="0" marL="0">
              <a:lnSpc>
                <a:spcPct val="115000"/>
              </a:lnSpc>
              <a:buNone/>
            </a:pPr>
            <a:r>
              <a:rPr lang="en-US" sz="3200" b="1" dirty="0">
                <a:solidFill>
                  <a:srgbClr val="FFFFFF"/>
                </a:solidFill>
                <a:latin typeface="Georgia" pitchFamily="34" charset="0"/>
                <a:ea typeface="Georgia" pitchFamily="34" charset="-122"/>
                <a:cs typeface="Georgia" pitchFamily="34" charset="-120"/>
              </a:rPr>
              <a:t>Clinics Cannot Operationalize It.</a:t>
            </a:r>
            <a:endParaRPr lang="en-US" sz="3200" dirty="0"/>
          </a:p>
        </p:txBody>
      </p:sp>
      <p:sp>
        <p:nvSpPr>
          <p:cNvPr id="3" name="Shape 1"/>
          <p:cNvSpPr/>
          <p:nvPr/>
        </p:nvSpPr>
        <p:spPr>
          <a:xfrm>
            <a:off x="457200" y="1645920"/>
            <a:ext cx="2651760" cy="2286000"/>
          </a:xfrm>
          <a:prstGeom prst="roundRect">
            <a:avLst>
              <a:gd name="adj" fmla="val 4800"/>
            </a:avLst>
          </a:prstGeom>
          <a:solidFill>
            <a:srgbClr val="374738"/>
          </a:solidFill>
          <a:ln/>
        </p:spPr>
      </p:sp>
      <p:sp>
        <p:nvSpPr>
          <p:cNvPr id="4" name="Text 2"/>
          <p:cNvSpPr/>
          <p:nvPr/>
        </p:nvSpPr>
        <p:spPr>
          <a:xfrm>
            <a:off x="457200" y="1783080"/>
            <a:ext cx="2651760" cy="822960"/>
          </a:xfrm>
          <a:prstGeom prst="rect">
            <a:avLst/>
          </a:prstGeom>
          <a:noFill/>
          <a:ln/>
        </p:spPr>
        <p:txBody>
          <a:bodyPr wrap="square" lIns="0" tIns="0" rIns="0" bIns="0" rtlCol="0" anchor="ctr"/>
          <a:lstStyle/>
          <a:p>
            <a:pPr algn="ctr" indent="0" marL="0">
              <a:buNone/>
            </a:pPr>
            <a:r>
              <a:rPr lang="en-US" sz="4000" b="1" dirty="0">
                <a:solidFill>
                  <a:srgbClr val="3DDC84"/>
                </a:solidFill>
                <a:latin typeface="Georgia" pitchFamily="34" charset="0"/>
                <a:ea typeface="Georgia" pitchFamily="34" charset="-122"/>
                <a:cs typeface="Georgia" pitchFamily="34" charset="-120"/>
              </a:rPr>
              <a:t>$66–$89</a:t>
            </a:r>
            <a:endParaRPr lang="en-US" sz="4000" dirty="0"/>
          </a:p>
        </p:txBody>
      </p:sp>
      <p:sp>
        <p:nvSpPr>
          <p:cNvPr id="5" name="Text 3"/>
          <p:cNvSpPr/>
          <p:nvPr/>
        </p:nvSpPr>
        <p:spPr>
          <a:xfrm>
            <a:off x="594360" y="2606040"/>
            <a:ext cx="2377440" cy="914400"/>
          </a:xfrm>
          <a:prstGeom prst="rect">
            <a:avLst/>
          </a:prstGeom>
          <a:noFill/>
          <a:ln/>
        </p:spPr>
        <p:txBody>
          <a:bodyPr wrap="square" lIns="0" tIns="0" rIns="0" bIns="0" rtlCol="0" anchor="ctr"/>
          <a:lstStyle/>
          <a:p>
            <a:pPr algn="ctr" indent="0" marL="0">
              <a:lnSpc>
                <a:spcPct val="135000"/>
              </a:lnSpc>
              <a:buNone/>
            </a:pPr>
            <a:r>
              <a:rPr lang="en-US" sz="1200" dirty="0">
                <a:solidFill>
                  <a:srgbClr val="E8E8E0"/>
                </a:solidFill>
                <a:latin typeface="Calibri" pitchFamily="34" charset="0"/>
                <a:ea typeface="Calibri" pitchFamily="34" charset="-122"/>
                <a:cs typeface="Calibri" pitchFamily="34" charset="-120"/>
              </a:rPr>
              <a:t>per patient per month</a:t>
            </a:r>
            <a:endParaRPr lang="en-US" sz="1200" dirty="0"/>
          </a:p>
          <a:p>
            <a:pPr algn="ctr" indent="0" marL="0">
              <a:lnSpc>
                <a:spcPct val="135000"/>
              </a:lnSpc>
              <a:buNone/>
            </a:pPr>
            <a:r>
              <a:rPr lang="en-US" sz="1200" dirty="0">
                <a:solidFill>
                  <a:srgbClr val="E8E8E0"/>
                </a:solidFill>
                <a:latin typeface="Calibri" pitchFamily="34" charset="0"/>
                <a:ea typeface="Calibri" pitchFamily="34" charset="-122"/>
                <a:cs typeface="Calibri" pitchFamily="34" charset="-120"/>
              </a:rPr>
              <a:t>CCM reimbursement (CPT 99490/99491)</a:t>
            </a:r>
            <a:endParaRPr lang="en-US" sz="1200" dirty="0"/>
          </a:p>
        </p:txBody>
      </p:sp>
      <p:sp>
        <p:nvSpPr>
          <p:cNvPr id="6" name="Shape 4"/>
          <p:cNvSpPr/>
          <p:nvPr/>
        </p:nvSpPr>
        <p:spPr>
          <a:xfrm>
            <a:off x="3291840" y="1645920"/>
            <a:ext cx="2651760" cy="2286000"/>
          </a:xfrm>
          <a:prstGeom prst="roundRect">
            <a:avLst>
              <a:gd name="adj" fmla="val 4800"/>
            </a:avLst>
          </a:prstGeom>
          <a:solidFill>
            <a:srgbClr val="374738"/>
          </a:solidFill>
          <a:ln/>
        </p:spPr>
      </p:sp>
      <p:sp>
        <p:nvSpPr>
          <p:cNvPr id="7" name="Text 5"/>
          <p:cNvSpPr/>
          <p:nvPr/>
        </p:nvSpPr>
        <p:spPr>
          <a:xfrm>
            <a:off x="3291840" y="1783080"/>
            <a:ext cx="2651760" cy="822960"/>
          </a:xfrm>
          <a:prstGeom prst="rect">
            <a:avLst/>
          </a:prstGeom>
          <a:noFill/>
          <a:ln/>
        </p:spPr>
        <p:txBody>
          <a:bodyPr wrap="square" lIns="0" tIns="0" rIns="0" bIns="0" rtlCol="0" anchor="ctr"/>
          <a:lstStyle/>
          <a:p>
            <a:pPr algn="ctr" indent="0" marL="0">
              <a:buNone/>
            </a:pPr>
            <a:r>
              <a:rPr lang="en-US" sz="4000" b="1" dirty="0">
                <a:solidFill>
                  <a:srgbClr val="E8A838"/>
                </a:solidFill>
                <a:latin typeface="Georgia" pitchFamily="34" charset="0"/>
                <a:ea typeface="Georgia" pitchFamily="34" charset="-122"/>
                <a:cs typeface="Georgia" pitchFamily="34" charset="-120"/>
              </a:rPr>
              <a:t>68%</a:t>
            </a:r>
            <a:endParaRPr lang="en-US" sz="4000" dirty="0"/>
          </a:p>
        </p:txBody>
      </p:sp>
      <p:sp>
        <p:nvSpPr>
          <p:cNvPr id="8" name="Text 6"/>
          <p:cNvSpPr/>
          <p:nvPr/>
        </p:nvSpPr>
        <p:spPr>
          <a:xfrm>
            <a:off x="3429000" y="2606040"/>
            <a:ext cx="2377440" cy="914400"/>
          </a:xfrm>
          <a:prstGeom prst="rect">
            <a:avLst/>
          </a:prstGeom>
          <a:noFill/>
          <a:ln/>
        </p:spPr>
        <p:txBody>
          <a:bodyPr wrap="square" lIns="0" tIns="0" rIns="0" bIns="0" rtlCol="0" anchor="ctr"/>
          <a:lstStyle/>
          <a:p>
            <a:pPr algn="ctr" indent="0" marL="0">
              <a:lnSpc>
                <a:spcPct val="135000"/>
              </a:lnSpc>
              <a:buNone/>
            </a:pPr>
            <a:r>
              <a:rPr lang="en-US" sz="1200" dirty="0">
                <a:solidFill>
                  <a:srgbClr val="E8E8E0"/>
                </a:solidFill>
                <a:latin typeface="Calibri" pitchFamily="34" charset="0"/>
                <a:ea typeface="Calibri" pitchFamily="34" charset="-122"/>
                <a:cs typeface="Calibri" pitchFamily="34" charset="-120"/>
              </a:rPr>
              <a:t>of eligible patients</a:t>
            </a:r>
            <a:endParaRPr lang="en-US" sz="1200" dirty="0"/>
          </a:p>
          <a:p>
            <a:pPr algn="ctr" indent="0" marL="0">
              <a:lnSpc>
                <a:spcPct val="135000"/>
              </a:lnSpc>
              <a:buNone/>
            </a:pPr>
            <a:r>
              <a:rPr lang="en-US" sz="1200" dirty="0">
                <a:solidFill>
                  <a:srgbClr val="E8E8E0"/>
                </a:solidFill>
                <a:latin typeface="Calibri" pitchFamily="34" charset="0"/>
                <a:ea typeface="Calibri" pitchFamily="34" charset="-122"/>
                <a:cs typeface="Calibri" pitchFamily="34" charset="-120"/>
              </a:rPr>
              <a:t>are NOT enrolled. Not by choice.</a:t>
            </a:r>
            <a:endParaRPr lang="en-US" sz="1200" dirty="0"/>
          </a:p>
        </p:txBody>
      </p:sp>
      <p:sp>
        <p:nvSpPr>
          <p:cNvPr id="9" name="Shape 7"/>
          <p:cNvSpPr/>
          <p:nvPr/>
        </p:nvSpPr>
        <p:spPr>
          <a:xfrm>
            <a:off x="6126480" y="1645920"/>
            <a:ext cx="2651760" cy="2286000"/>
          </a:xfrm>
          <a:prstGeom prst="roundRect">
            <a:avLst>
              <a:gd name="adj" fmla="val 4800"/>
            </a:avLst>
          </a:prstGeom>
          <a:solidFill>
            <a:srgbClr val="374738"/>
          </a:solidFill>
          <a:ln/>
        </p:spPr>
      </p:sp>
      <p:sp>
        <p:nvSpPr>
          <p:cNvPr id="10" name="Text 8"/>
          <p:cNvSpPr/>
          <p:nvPr/>
        </p:nvSpPr>
        <p:spPr>
          <a:xfrm>
            <a:off x="6126480" y="1783080"/>
            <a:ext cx="2651760" cy="822960"/>
          </a:xfrm>
          <a:prstGeom prst="rect">
            <a:avLst/>
          </a:prstGeom>
          <a:noFill/>
          <a:ln/>
        </p:spPr>
        <p:txBody>
          <a:bodyPr wrap="square" lIns="0" tIns="0" rIns="0" bIns="0" rtlCol="0" anchor="ctr"/>
          <a:lstStyle/>
          <a:p>
            <a:pPr algn="ctr" indent="0" marL="0">
              <a:buNone/>
            </a:pPr>
            <a:r>
              <a:rPr lang="en-US" sz="4000" b="1" dirty="0">
                <a:solidFill>
                  <a:srgbClr val="E86060"/>
                </a:solidFill>
                <a:latin typeface="Georgia" pitchFamily="34" charset="0"/>
                <a:ea typeface="Georgia" pitchFamily="34" charset="-122"/>
                <a:cs typeface="Georgia" pitchFamily="34" charset="-120"/>
              </a:rPr>
              <a:t>$9.4B+</a:t>
            </a:r>
            <a:endParaRPr lang="en-US" sz="4000" dirty="0"/>
          </a:p>
        </p:txBody>
      </p:sp>
      <p:sp>
        <p:nvSpPr>
          <p:cNvPr id="11" name="Text 9"/>
          <p:cNvSpPr/>
          <p:nvPr/>
        </p:nvSpPr>
        <p:spPr>
          <a:xfrm>
            <a:off x="6263640" y="2606040"/>
            <a:ext cx="2377440" cy="914400"/>
          </a:xfrm>
          <a:prstGeom prst="rect">
            <a:avLst/>
          </a:prstGeom>
          <a:noFill/>
          <a:ln/>
        </p:spPr>
        <p:txBody>
          <a:bodyPr wrap="square" lIns="0" tIns="0" rIns="0" bIns="0" rtlCol="0" anchor="ctr"/>
          <a:lstStyle/>
          <a:p>
            <a:pPr algn="ctr" indent="0" marL="0">
              <a:lnSpc>
                <a:spcPct val="135000"/>
              </a:lnSpc>
              <a:buNone/>
            </a:pPr>
            <a:r>
              <a:rPr lang="en-US" sz="1200" dirty="0">
                <a:solidFill>
                  <a:srgbClr val="E8E8E0"/>
                </a:solidFill>
                <a:latin typeface="Calibri" pitchFamily="34" charset="0"/>
                <a:ea typeface="Calibri" pitchFamily="34" charset="-122"/>
                <a:cs typeface="Calibri" pitchFamily="34" charset="-120"/>
              </a:rPr>
              <a:t>in annual reimbursement</a:t>
            </a:r>
            <a:endParaRPr lang="en-US" sz="1200" dirty="0"/>
          </a:p>
          <a:p>
            <a:pPr algn="ctr" indent="0" marL="0">
              <a:lnSpc>
                <a:spcPct val="135000"/>
              </a:lnSpc>
              <a:buNone/>
            </a:pPr>
            <a:r>
              <a:rPr lang="en-US" sz="1200" dirty="0">
                <a:solidFill>
                  <a:srgbClr val="E8E8E0"/>
                </a:solidFill>
                <a:latin typeface="Calibri" pitchFamily="34" charset="0"/>
                <a:ea typeface="Calibri" pitchFamily="34" charset="-122"/>
                <a:cs typeface="Calibri" pitchFamily="34" charset="-120"/>
              </a:rPr>
              <a:t>uncaptured. Due to operational inability.</a:t>
            </a:r>
            <a:endParaRPr lang="en-US" sz="1200" dirty="0"/>
          </a:p>
        </p:txBody>
      </p:sp>
      <p:sp>
        <p:nvSpPr>
          <p:cNvPr id="12" name="Text 10"/>
          <p:cNvSpPr/>
          <p:nvPr/>
        </p:nvSpPr>
        <p:spPr>
          <a:xfrm>
            <a:off x="457200" y="4206240"/>
            <a:ext cx="8229600" cy="548640"/>
          </a:xfrm>
          <a:prstGeom prst="rect">
            <a:avLst/>
          </a:prstGeom>
          <a:noFill/>
          <a:ln/>
        </p:spPr>
        <p:txBody>
          <a:bodyPr wrap="square" lIns="0" tIns="0" rIns="0" bIns="0" rtlCol="0" anchor="ctr"/>
          <a:lstStyle/>
          <a:p>
            <a:pPr algn="ctr" indent="0" marL="0">
              <a:lnSpc>
                <a:spcPct val="130000"/>
              </a:lnSpc>
              <a:buNone/>
            </a:pPr>
            <a:r>
              <a:rPr lang="en-US" sz="1300" b="1" dirty="0">
                <a:solidFill>
                  <a:srgbClr val="FFFFFF"/>
                </a:solidFill>
                <a:latin typeface="Calibri" pitchFamily="34" charset="0"/>
                <a:ea typeface="Calibri" pitchFamily="34" charset="-122"/>
                <a:cs typeface="Calibri" pitchFamily="34" charset="-120"/>
              </a:rPr>
              <a:t>The bottleneck is not reimbursement policy. It is the absence of infrastructure to maintain 20+ minutes of documented monthly patient interaction per enrollee.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C3E2D"/>
        </a:solidFill>
      </p:bgPr>
    </p:bg>
    <p:spTree>
      <p:nvGrpSpPr>
        <p:cNvPr id="1" name=""/>
        <p:cNvGrpSpPr/>
        <p:nvPr/>
      </p:nvGrpSpPr>
      <p:grpSpPr>
        <a:xfrm>
          <a:off x="0" y="0"/>
          <a:ext cx="0" cy="0"/>
          <a:chOff x="0" y="0"/>
          <a:chExt cx="0" cy="0"/>
        </a:xfrm>
      </p:grpSpPr>
      <p:sp>
        <p:nvSpPr>
          <p:cNvPr id="2" name="Text 0"/>
          <p:cNvSpPr/>
          <p:nvPr/>
        </p:nvSpPr>
        <p:spPr>
          <a:xfrm>
            <a:off x="731520" y="274320"/>
            <a:ext cx="7680960" cy="73152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The Revenue Model Is Mechanical.</a:t>
            </a:r>
            <a:endParaRPr lang="en-US" sz="3400" dirty="0"/>
          </a:p>
        </p:txBody>
      </p:sp>
      <p:sp>
        <p:nvSpPr>
          <p:cNvPr id="3" name="Shape 1"/>
          <p:cNvSpPr/>
          <p:nvPr/>
        </p:nvSpPr>
        <p:spPr>
          <a:xfrm>
            <a:off x="731520" y="1234440"/>
            <a:ext cx="54864" cy="365760"/>
          </a:xfrm>
          <a:prstGeom prst="rect">
            <a:avLst/>
          </a:prstGeom>
          <a:solidFill>
            <a:srgbClr val="2E915E"/>
          </a:solidFill>
          <a:ln/>
        </p:spPr>
      </p:sp>
      <p:sp>
        <p:nvSpPr>
          <p:cNvPr id="4" name="Text 2"/>
          <p:cNvSpPr/>
          <p:nvPr/>
        </p:nvSpPr>
        <p:spPr>
          <a:xfrm>
            <a:off x="1005840" y="1234440"/>
            <a:ext cx="3657600" cy="457200"/>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CareLog maintains documented patient interactions (≥20 min/month per enrollee)</a:t>
            </a:r>
            <a:endParaRPr lang="en-US" sz="1200" dirty="0"/>
          </a:p>
        </p:txBody>
      </p:sp>
      <p:sp>
        <p:nvSpPr>
          <p:cNvPr id="5" name="Shape 3"/>
          <p:cNvSpPr/>
          <p:nvPr/>
        </p:nvSpPr>
        <p:spPr>
          <a:xfrm>
            <a:off x="731520" y="1737360"/>
            <a:ext cx="54864" cy="365760"/>
          </a:xfrm>
          <a:prstGeom prst="rect">
            <a:avLst/>
          </a:prstGeom>
          <a:solidFill>
            <a:srgbClr val="2E915E"/>
          </a:solidFill>
          <a:ln/>
        </p:spPr>
      </p:sp>
      <p:sp>
        <p:nvSpPr>
          <p:cNvPr id="6" name="Text 4"/>
          <p:cNvSpPr/>
          <p:nvPr/>
        </p:nvSpPr>
        <p:spPr>
          <a:xfrm>
            <a:off x="1005840" y="1737360"/>
            <a:ext cx="3657600" cy="457200"/>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AI structures conversations into CCM-compliant documentation</a:t>
            </a:r>
            <a:endParaRPr lang="en-US" sz="1200" dirty="0"/>
          </a:p>
        </p:txBody>
      </p:sp>
      <p:sp>
        <p:nvSpPr>
          <p:cNvPr id="7" name="Shape 5"/>
          <p:cNvSpPr/>
          <p:nvPr/>
        </p:nvSpPr>
        <p:spPr>
          <a:xfrm>
            <a:off x="731520" y="2240280"/>
            <a:ext cx="54864" cy="365760"/>
          </a:xfrm>
          <a:prstGeom prst="rect">
            <a:avLst/>
          </a:prstGeom>
          <a:solidFill>
            <a:srgbClr val="2E915E"/>
          </a:solidFill>
          <a:ln/>
        </p:spPr>
      </p:sp>
      <p:sp>
        <p:nvSpPr>
          <p:cNvPr id="8" name="Text 6"/>
          <p:cNvSpPr/>
          <p:nvPr/>
        </p:nvSpPr>
        <p:spPr>
          <a:xfrm>
            <a:off x="1005840" y="2240280"/>
            <a:ext cx="3657600" cy="457200"/>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Time tracking generates billing-ready 99490/99491 claims</a:t>
            </a:r>
            <a:endParaRPr lang="en-US" sz="1200" dirty="0"/>
          </a:p>
        </p:txBody>
      </p:sp>
      <p:sp>
        <p:nvSpPr>
          <p:cNvPr id="9" name="Shape 7"/>
          <p:cNvSpPr/>
          <p:nvPr/>
        </p:nvSpPr>
        <p:spPr>
          <a:xfrm>
            <a:off x="731520" y="2743200"/>
            <a:ext cx="54864" cy="365760"/>
          </a:xfrm>
          <a:prstGeom prst="rect">
            <a:avLst/>
          </a:prstGeom>
          <a:solidFill>
            <a:srgbClr val="2E915E"/>
          </a:solidFill>
          <a:ln/>
        </p:spPr>
      </p:sp>
      <p:sp>
        <p:nvSpPr>
          <p:cNvPr id="10" name="Text 8"/>
          <p:cNvSpPr/>
          <p:nvPr/>
        </p:nvSpPr>
        <p:spPr>
          <a:xfrm>
            <a:off x="1005840" y="2743200"/>
            <a:ext cx="3657600" cy="457200"/>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Clinic submits claims. Medicare reimburses. CareLog charges PEPM.</a:t>
            </a:r>
            <a:endParaRPr lang="en-US" sz="1200" dirty="0"/>
          </a:p>
        </p:txBody>
      </p:sp>
      <p:sp>
        <p:nvSpPr>
          <p:cNvPr id="11" name="Shape 9"/>
          <p:cNvSpPr/>
          <p:nvPr/>
        </p:nvSpPr>
        <p:spPr>
          <a:xfrm>
            <a:off x="5029200" y="1097280"/>
            <a:ext cx="3657600" cy="3200400"/>
          </a:xfrm>
          <a:prstGeom prst="roundRect">
            <a:avLst>
              <a:gd name="adj" fmla="val 3429"/>
            </a:avLst>
          </a:prstGeom>
          <a:solidFill>
            <a:srgbClr val="216F64"/>
          </a:solidFill>
          <a:ln/>
        </p:spPr>
      </p:sp>
      <p:sp>
        <p:nvSpPr>
          <p:cNvPr id="12" name="Text 10"/>
          <p:cNvSpPr/>
          <p:nvPr/>
        </p:nvSpPr>
        <p:spPr>
          <a:xfrm>
            <a:off x="5212080" y="1234440"/>
            <a:ext cx="329184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Per Patient, Per Month</a:t>
            </a:r>
            <a:endParaRPr lang="en-US" sz="1500" dirty="0"/>
          </a:p>
        </p:txBody>
      </p:sp>
      <p:sp>
        <p:nvSpPr>
          <p:cNvPr id="13" name="Text 11"/>
          <p:cNvSpPr/>
          <p:nvPr/>
        </p:nvSpPr>
        <p:spPr>
          <a:xfrm>
            <a:off x="5212080" y="1783080"/>
            <a:ext cx="2103120" cy="411480"/>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Medicare reimburses clinic</a:t>
            </a:r>
            <a:endParaRPr lang="en-US" sz="1200" dirty="0"/>
          </a:p>
        </p:txBody>
      </p:sp>
      <p:sp>
        <p:nvSpPr>
          <p:cNvPr id="14" name="Text 12"/>
          <p:cNvSpPr/>
          <p:nvPr/>
        </p:nvSpPr>
        <p:spPr>
          <a:xfrm>
            <a:off x="7132320" y="1783080"/>
            <a:ext cx="1280160" cy="411480"/>
          </a:xfrm>
          <a:prstGeom prst="rect">
            <a:avLst/>
          </a:prstGeom>
          <a:noFill/>
          <a:ln/>
        </p:spPr>
        <p:txBody>
          <a:bodyPr wrap="square" lIns="0" tIns="0" rIns="0" bIns="0" rtlCol="0" anchor="ctr"/>
          <a:lstStyle/>
          <a:p>
            <a:pPr algn="r" indent="0" marL="0">
              <a:buNone/>
            </a:pPr>
            <a:r>
              <a:rPr lang="en-US" sz="2200" b="1" dirty="0">
                <a:solidFill>
                  <a:srgbClr val="3DDC84"/>
                </a:solidFill>
                <a:latin typeface="Calibri" pitchFamily="34" charset="0"/>
                <a:ea typeface="Calibri" pitchFamily="34" charset="-122"/>
                <a:cs typeface="Calibri" pitchFamily="34" charset="-120"/>
              </a:rPr>
              <a:t>$66</a:t>
            </a:r>
            <a:endParaRPr lang="en-US" sz="2200" dirty="0"/>
          </a:p>
        </p:txBody>
      </p:sp>
      <p:sp>
        <p:nvSpPr>
          <p:cNvPr id="15" name="Text 13"/>
          <p:cNvSpPr/>
          <p:nvPr/>
        </p:nvSpPr>
        <p:spPr>
          <a:xfrm>
            <a:off x="5212080" y="2286000"/>
            <a:ext cx="2103120" cy="411480"/>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CareLog charges clinic</a:t>
            </a:r>
            <a:endParaRPr lang="en-US" sz="1200" dirty="0"/>
          </a:p>
        </p:txBody>
      </p:sp>
      <p:sp>
        <p:nvSpPr>
          <p:cNvPr id="16" name="Text 14"/>
          <p:cNvSpPr/>
          <p:nvPr/>
        </p:nvSpPr>
        <p:spPr>
          <a:xfrm>
            <a:off x="7132320" y="2286000"/>
            <a:ext cx="1280160" cy="411480"/>
          </a:xfrm>
          <a:prstGeom prst="rect">
            <a:avLst/>
          </a:prstGeom>
          <a:noFill/>
          <a:ln/>
        </p:spPr>
        <p:txBody>
          <a:bodyPr wrap="square" lIns="0" tIns="0" rIns="0" bIns="0" rtlCol="0" anchor="ctr"/>
          <a:lstStyle/>
          <a:p>
            <a:pPr algn="r" indent="0" marL="0">
              <a:buNone/>
            </a:pPr>
            <a:r>
              <a:rPr lang="en-US" sz="2200" b="1" dirty="0">
                <a:solidFill>
                  <a:srgbClr val="E8A838"/>
                </a:solidFill>
                <a:latin typeface="Calibri" pitchFamily="34" charset="0"/>
                <a:ea typeface="Calibri" pitchFamily="34" charset="-122"/>
                <a:cs typeface="Calibri" pitchFamily="34" charset="-120"/>
              </a:rPr>
              <a:t>–$6</a:t>
            </a:r>
            <a:endParaRPr lang="en-US" sz="2200" dirty="0"/>
          </a:p>
        </p:txBody>
      </p:sp>
      <p:sp>
        <p:nvSpPr>
          <p:cNvPr id="17" name="Shape 15"/>
          <p:cNvSpPr/>
          <p:nvPr/>
        </p:nvSpPr>
        <p:spPr>
          <a:xfrm>
            <a:off x="5212080" y="2834640"/>
            <a:ext cx="3200400" cy="0"/>
          </a:xfrm>
          <a:prstGeom prst="line">
            <a:avLst/>
          </a:prstGeom>
          <a:noFill/>
          <a:ln w="6350">
            <a:solidFill>
              <a:srgbClr val="E8E8E0"/>
            </a:solidFill>
            <a:prstDash val="solid"/>
          </a:ln>
        </p:spPr>
      </p:sp>
      <p:sp>
        <p:nvSpPr>
          <p:cNvPr id="18" name="Text 16"/>
          <p:cNvSpPr/>
          <p:nvPr/>
        </p:nvSpPr>
        <p:spPr>
          <a:xfrm>
            <a:off x="5212080" y="2926080"/>
            <a:ext cx="2103120" cy="502920"/>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Clinic net gain</a:t>
            </a:r>
            <a:endParaRPr lang="en-US" sz="1200" dirty="0"/>
          </a:p>
        </p:txBody>
      </p:sp>
      <p:sp>
        <p:nvSpPr>
          <p:cNvPr id="19" name="Text 17"/>
          <p:cNvSpPr/>
          <p:nvPr/>
        </p:nvSpPr>
        <p:spPr>
          <a:xfrm>
            <a:off x="7132320" y="2926080"/>
            <a:ext cx="1280160" cy="502920"/>
          </a:xfrm>
          <a:prstGeom prst="rect">
            <a:avLst/>
          </a:prstGeom>
          <a:noFill/>
          <a:ln/>
        </p:spPr>
        <p:txBody>
          <a:bodyPr wrap="square" lIns="0" tIns="0" rIns="0" bIns="0" rtlCol="0" anchor="ctr"/>
          <a:lstStyle/>
          <a:p>
            <a:pPr algn="r" indent="0" marL="0">
              <a:buNone/>
            </a:pPr>
            <a:r>
              <a:rPr lang="en-US" sz="2800" b="1" dirty="0">
                <a:solidFill>
                  <a:srgbClr val="3DDC84"/>
                </a:solidFill>
                <a:latin typeface="Georgia" pitchFamily="34" charset="0"/>
                <a:ea typeface="Georgia" pitchFamily="34" charset="-122"/>
                <a:cs typeface="Georgia" pitchFamily="34" charset="-120"/>
              </a:rPr>
              <a:t>$60</a:t>
            </a:r>
            <a:endParaRPr lang="en-US" sz="2800" dirty="0"/>
          </a:p>
        </p:txBody>
      </p:sp>
      <p:sp>
        <p:nvSpPr>
          <p:cNvPr id="20" name="Text 18"/>
          <p:cNvSpPr/>
          <p:nvPr/>
        </p:nvSpPr>
        <p:spPr>
          <a:xfrm>
            <a:off x="5212080" y="3520440"/>
            <a:ext cx="329184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Clinic ROI: 10x  |  CareLog gross margin: 50%</a:t>
            </a:r>
            <a:endParaRPr lang="en-US" sz="1200" dirty="0"/>
          </a:p>
        </p:txBody>
      </p:sp>
      <p:sp>
        <p:nvSpPr>
          <p:cNvPr id="21" name="Text 19"/>
          <p:cNvSpPr/>
          <p:nvPr/>
        </p:nvSpPr>
        <p:spPr>
          <a:xfrm>
            <a:off x="457200" y="4297680"/>
            <a:ext cx="8229600" cy="548640"/>
          </a:xfrm>
          <a:prstGeom prst="rect">
            <a:avLst/>
          </a:prstGeom>
          <a:noFill/>
          <a:ln/>
        </p:spPr>
        <p:txBody>
          <a:bodyPr wrap="square" lIns="0" tIns="0" rIns="0" bIns="0" rtlCol="0" anchor="ctr"/>
          <a:lstStyle/>
          <a:p>
            <a:pPr algn="ctr" indent="0" marL="0">
              <a:lnSpc>
                <a:spcPct val="130000"/>
              </a:lnSpc>
              <a:buNone/>
            </a:pPr>
            <a:r>
              <a:rPr lang="en-US" sz="1300" i="1" dirty="0">
                <a:solidFill>
                  <a:srgbClr val="E8A838"/>
                </a:solidFill>
                <a:latin typeface="Calibri" pitchFamily="34" charset="0"/>
                <a:ea typeface="Calibri" pitchFamily="34" charset="-122"/>
                <a:cs typeface="Calibri" pitchFamily="34" charset="-120"/>
              </a:rPr>
              <a:t>This is not a sales pitch to clinics. It is $60/patient/month they are currently unable to capture. CareLog removes the operational barrier.</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C3E2D"/>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What Fails Without This Layer</a:t>
            </a:r>
            <a:endParaRPr lang="en-US" sz="3400" dirty="0"/>
          </a:p>
        </p:txBody>
      </p:sp>
      <p:sp>
        <p:nvSpPr>
          <p:cNvPr id="3" name="Shape 1"/>
          <p:cNvSpPr/>
          <p:nvPr/>
        </p:nvSpPr>
        <p:spPr>
          <a:xfrm>
            <a:off x="457200" y="1280160"/>
            <a:ext cx="2697480" cy="3474720"/>
          </a:xfrm>
          <a:prstGeom prst="roundRect">
            <a:avLst>
              <a:gd name="adj" fmla="val 4068"/>
            </a:avLst>
          </a:prstGeom>
          <a:solidFill>
            <a:srgbClr val="374738"/>
          </a:solidFill>
          <a:ln/>
        </p:spPr>
      </p:sp>
      <p:sp>
        <p:nvSpPr>
          <p:cNvPr id="4" name="Text 2"/>
          <p:cNvSpPr/>
          <p:nvPr/>
        </p:nvSpPr>
        <p:spPr>
          <a:xfrm>
            <a:off x="640080" y="1417320"/>
            <a:ext cx="2331720" cy="457200"/>
          </a:xfrm>
          <a:prstGeom prst="rect">
            <a:avLst/>
          </a:prstGeom>
          <a:noFill/>
          <a:ln/>
        </p:spPr>
        <p:txBody>
          <a:bodyPr wrap="square" lIns="0" tIns="0" rIns="0" bIns="0" rtlCol="0" anchor="ctr"/>
          <a:lstStyle/>
          <a:p>
            <a:pPr indent="0" marL="0">
              <a:buNone/>
            </a:pPr>
            <a:r>
              <a:rPr lang="en-US" sz="1800" b="1" dirty="0">
                <a:solidFill>
                  <a:srgbClr val="3DDC84"/>
                </a:solidFill>
                <a:latin typeface="Calibri" pitchFamily="34" charset="0"/>
                <a:ea typeface="Calibri" pitchFamily="34" charset="-122"/>
                <a:cs typeface="Calibri" pitchFamily="34" charset="-120"/>
              </a:rPr>
              <a:t>Patient Outcomes</a:t>
            </a:r>
            <a:endParaRPr lang="en-US" sz="1800" dirty="0"/>
          </a:p>
        </p:txBody>
      </p:sp>
      <p:sp>
        <p:nvSpPr>
          <p:cNvPr id="5" name="Shape 3"/>
          <p:cNvSpPr/>
          <p:nvPr/>
        </p:nvSpPr>
        <p:spPr>
          <a:xfrm>
            <a:off x="640080" y="2084832"/>
            <a:ext cx="45720" cy="274320"/>
          </a:xfrm>
          <a:prstGeom prst="rect">
            <a:avLst/>
          </a:prstGeom>
          <a:solidFill>
            <a:srgbClr val="3DDC84"/>
          </a:solidFill>
          <a:ln/>
        </p:spPr>
      </p:sp>
      <p:sp>
        <p:nvSpPr>
          <p:cNvPr id="6" name="Text 4"/>
          <p:cNvSpPr/>
          <p:nvPr/>
        </p:nvSpPr>
        <p:spPr>
          <a:xfrm>
            <a:off x="868680" y="2011680"/>
            <a:ext cx="2103120" cy="502920"/>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Signal lost between encounters permanently</a:t>
            </a:r>
            <a:endParaRPr lang="en-US" sz="1200" dirty="0"/>
          </a:p>
        </p:txBody>
      </p:sp>
      <p:sp>
        <p:nvSpPr>
          <p:cNvPr id="7" name="Shape 5"/>
          <p:cNvSpPr/>
          <p:nvPr/>
        </p:nvSpPr>
        <p:spPr>
          <a:xfrm>
            <a:off x="640080" y="2679192"/>
            <a:ext cx="45720" cy="274320"/>
          </a:xfrm>
          <a:prstGeom prst="rect">
            <a:avLst/>
          </a:prstGeom>
          <a:solidFill>
            <a:srgbClr val="3DDC84"/>
          </a:solidFill>
          <a:ln/>
        </p:spPr>
      </p:sp>
      <p:sp>
        <p:nvSpPr>
          <p:cNvPr id="8" name="Text 6"/>
          <p:cNvSpPr/>
          <p:nvPr/>
        </p:nvSpPr>
        <p:spPr>
          <a:xfrm>
            <a:off x="868680" y="2606040"/>
            <a:ext cx="2103120" cy="502920"/>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No structured preparation for visits</a:t>
            </a:r>
            <a:endParaRPr lang="en-US" sz="1200" dirty="0"/>
          </a:p>
        </p:txBody>
      </p:sp>
      <p:sp>
        <p:nvSpPr>
          <p:cNvPr id="9" name="Shape 7"/>
          <p:cNvSpPr/>
          <p:nvPr/>
        </p:nvSpPr>
        <p:spPr>
          <a:xfrm>
            <a:off x="640080" y="3273552"/>
            <a:ext cx="45720" cy="274320"/>
          </a:xfrm>
          <a:prstGeom prst="rect">
            <a:avLst/>
          </a:prstGeom>
          <a:solidFill>
            <a:srgbClr val="3DDC84"/>
          </a:solidFill>
          <a:ln/>
        </p:spPr>
      </p:sp>
      <p:sp>
        <p:nvSpPr>
          <p:cNvPr id="10" name="Text 8"/>
          <p:cNvSpPr/>
          <p:nvPr/>
        </p:nvSpPr>
        <p:spPr>
          <a:xfrm>
            <a:off x="868680" y="3200400"/>
            <a:ext cx="2103120" cy="502920"/>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Medication interactions go unreported</a:t>
            </a:r>
            <a:endParaRPr lang="en-US" sz="1200" dirty="0"/>
          </a:p>
        </p:txBody>
      </p:sp>
      <p:sp>
        <p:nvSpPr>
          <p:cNvPr id="11" name="Shape 9"/>
          <p:cNvSpPr/>
          <p:nvPr/>
        </p:nvSpPr>
        <p:spPr>
          <a:xfrm>
            <a:off x="640080" y="3867912"/>
            <a:ext cx="45720" cy="274320"/>
          </a:xfrm>
          <a:prstGeom prst="rect">
            <a:avLst/>
          </a:prstGeom>
          <a:solidFill>
            <a:srgbClr val="3DDC84"/>
          </a:solidFill>
          <a:ln/>
        </p:spPr>
      </p:sp>
      <p:sp>
        <p:nvSpPr>
          <p:cNvPr id="12" name="Text 10"/>
          <p:cNvSpPr/>
          <p:nvPr/>
        </p:nvSpPr>
        <p:spPr>
          <a:xfrm>
            <a:off x="868680" y="3794760"/>
            <a:ext cx="2103120" cy="502920"/>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Chronic conditions progress unmonitored</a:t>
            </a:r>
            <a:endParaRPr lang="en-US" sz="1200" dirty="0"/>
          </a:p>
        </p:txBody>
      </p:sp>
      <p:sp>
        <p:nvSpPr>
          <p:cNvPr id="13" name="Shape 11"/>
          <p:cNvSpPr/>
          <p:nvPr/>
        </p:nvSpPr>
        <p:spPr>
          <a:xfrm>
            <a:off x="3337560" y="1280160"/>
            <a:ext cx="2697480" cy="3474720"/>
          </a:xfrm>
          <a:prstGeom prst="roundRect">
            <a:avLst>
              <a:gd name="adj" fmla="val 4068"/>
            </a:avLst>
          </a:prstGeom>
          <a:solidFill>
            <a:srgbClr val="374738"/>
          </a:solidFill>
          <a:ln/>
        </p:spPr>
      </p:sp>
      <p:sp>
        <p:nvSpPr>
          <p:cNvPr id="14" name="Text 12"/>
          <p:cNvSpPr/>
          <p:nvPr/>
        </p:nvSpPr>
        <p:spPr>
          <a:xfrm>
            <a:off x="3520440" y="1417320"/>
            <a:ext cx="233172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Clinical Decisions</a:t>
            </a:r>
            <a:endParaRPr lang="en-US" sz="1800" dirty="0"/>
          </a:p>
        </p:txBody>
      </p:sp>
      <p:sp>
        <p:nvSpPr>
          <p:cNvPr id="15" name="Shape 13"/>
          <p:cNvSpPr/>
          <p:nvPr/>
        </p:nvSpPr>
        <p:spPr>
          <a:xfrm>
            <a:off x="3520440" y="2084832"/>
            <a:ext cx="45720" cy="274320"/>
          </a:xfrm>
          <a:prstGeom prst="rect">
            <a:avLst/>
          </a:prstGeom>
          <a:solidFill>
            <a:srgbClr val="FFFFFF"/>
          </a:solidFill>
          <a:ln/>
        </p:spPr>
      </p:sp>
      <p:sp>
        <p:nvSpPr>
          <p:cNvPr id="16" name="Text 14"/>
          <p:cNvSpPr/>
          <p:nvPr/>
        </p:nvSpPr>
        <p:spPr>
          <a:xfrm>
            <a:off x="3749040" y="2011680"/>
            <a:ext cx="2103120" cy="502920"/>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Diagnosis operates on incomplete data</a:t>
            </a:r>
            <a:endParaRPr lang="en-US" sz="1200" dirty="0"/>
          </a:p>
        </p:txBody>
      </p:sp>
      <p:sp>
        <p:nvSpPr>
          <p:cNvPr id="17" name="Shape 15"/>
          <p:cNvSpPr/>
          <p:nvPr/>
        </p:nvSpPr>
        <p:spPr>
          <a:xfrm>
            <a:off x="3520440" y="2679192"/>
            <a:ext cx="45720" cy="274320"/>
          </a:xfrm>
          <a:prstGeom prst="rect">
            <a:avLst/>
          </a:prstGeom>
          <a:solidFill>
            <a:srgbClr val="FFFFFF"/>
          </a:solidFill>
          <a:ln/>
        </p:spPr>
      </p:sp>
      <p:sp>
        <p:nvSpPr>
          <p:cNvPr id="18" name="Text 16"/>
          <p:cNvSpPr/>
          <p:nvPr/>
        </p:nvSpPr>
        <p:spPr>
          <a:xfrm>
            <a:off x="3749040" y="2606040"/>
            <a:ext cx="2103120" cy="502920"/>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Pattern recognition limited to single visits</a:t>
            </a:r>
            <a:endParaRPr lang="en-US" sz="1200" dirty="0"/>
          </a:p>
        </p:txBody>
      </p:sp>
      <p:sp>
        <p:nvSpPr>
          <p:cNvPr id="19" name="Shape 17"/>
          <p:cNvSpPr/>
          <p:nvPr/>
        </p:nvSpPr>
        <p:spPr>
          <a:xfrm>
            <a:off x="3520440" y="3273552"/>
            <a:ext cx="45720" cy="274320"/>
          </a:xfrm>
          <a:prstGeom prst="rect">
            <a:avLst/>
          </a:prstGeom>
          <a:solidFill>
            <a:srgbClr val="FFFFFF"/>
          </a:solidFill>
          <a:ln/>
        </p:spPr>
      </p:sp>
      <p:sp>
        <p:nvSpPr>
          <p:cNvPr id="20" name="Text 18"/>
          <p:cNvSpPr/>
          <p:nvPr/>
        </p:nvSpPr>
        <p:spPr>
          <a:xfrm>
            <a:off x="3749040" y="3200400"/>
            <a:ext cx="2103120" cy="502920"/>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Reconstruction consumes reasoning time</a:t>
            </a:r>
            <a:endParaRPr lang="en-US" sz="1200" dirty="0"/>
          </a:p>
        </p:txBody>
      </p:sp>
      <p:sp>
        <p:nvSpPr>
          <p:cNvPr id="21" name="Shape 19"/>
          <p:cNvSpPr/>
          <p:nvPr/>
        </p:nvSpPr>
        <p:spPr>
          <a:xfrm>
            <a:off x="3520440" y="3867912"/>
            <a:ext cx="45720" cy="274320"/>
          </a:xfrm>
          <a:prstGeom prst="rect">
            <a:avLst/>
          </a:prstGeom>
          <a:solidFill>
            <a:srgbClr val="FFFFFF"/>
          </a:solidFill>
          <a:ln/>
        </p:spPr>
      </p:sp>
      <p:sp>
        <p:nvSpPr>
          <p:cNvPr id="22" name="Text 20"/>
          <p:cNvSpPr/>
          <p:nvPr/>
        </p:nvSpPr>
        <p:spPr>
          <a:xfrm>
            <a:off x="3749040" y="3794760"/>
            <a:ext cx="2103120" cy="502920"/>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Cognitive load exceeds available capacity</a:t>
            </a:r>
            <a:endParaRPr lang="en-US" sz="1200" dirty="0"/>
          </a:p>
        </p:txBody>
      </p:sp>
      <p:sp>
        <p:nvSpPr>
          <p:cNvPr id="23" name="Shape 21"/>
          <p:cNvSpPr/>
          <p:nvPr/>
        </p:nvSpPr>
        <p:spPr>
          <a:xfrm>
            <a:off x="6217920" y="1280160"/>
            <a:ext cx="2697480" cy="3474720"/>
          </a:xfrm>
          <a:prstGeom prst="roundRect">
            <a:avLst>
              <a:gd name="adj" fmla="val 4068"/>
            </a:avLst>
          </a:prstGeom>
          <a:solidFill>
            <a:srgbClr val="374738"/>
          </a:solidFill>
          <a:ln/>
        </p:spPr>
      </p:sp>
      <p:sp>
        <p:nvSpPr>
          <p:cNvPr id="24" name="Text 22"/>
          <p:cNvSpPr/>
          <p:nvPr/>
        </p:nvSpPr>
        <p:spPr>
          <a:xfrm>
            <a:off x="6400800" y="1417320"/>
            <a:ext cx="2331720" cy="457200"/>
          </a:xfrm>
          <a:prstGeom prst="rect">
            <a:avLst/>
          </a:prstGeom>
          <a:noFill/>
          <a:ln/>
        </p:spPr>
        <p:txBody>
          <a:bodyPr wrap="square" lIns="0" tIns="0" rIns="0" bIns="0" rtlCol="0" anchor="ctr"/>
          <a:lstStyle/>
          <a:p>
            <a:pPr indent="0" marL="0">
              <a:buNone/>
            </a:pPr>
            <a:r>
              <a:rPr lang="en-US" sz="1800" b="1" dirty="0">
                <a:solidFill>
                  <a:srgbClr val="E86060"/>
                </a:solidFill>
                <a:latin typeface="Calibri" pitchFamily="34" charset="0"/>
                <a:ea typeface="Calibri" pitchFamily="34" charset="-122"/>
                <a:cs typeface="Calibri" pitchFamily="34" charset="-120"/>
              </a:rPr>
              <a:t>Clinic Economics</a:t>
            </a:r>
            <a:endParaRPr lang="en-US" sz="1800" dirty="0"/>
          </a:p>
        </p:txBody>
      </p:sp>
      <p:sp>
        <p:nvSpPr>
          <p:cNvPr id="25" name="Shape 23"/>
          <p:cNvSpPr/>
          <p:nvPr/>
        </p:nvSpPr>
        <p:spPr>
          <a:xfrm>
            <a:off x="6400800" y="2084832"/>
            <a:ext cx="45720" cy="274320"/>
          </a:xfrm>
          <a:prstGeom prst="rect">
            <a:avLst/>
          </a:prstGeom>
          <a:solidFill>
            <a:srgbClr val="E86060"/>
          </a:solidFill>
          <a:ln/>
        </p:spPr>
      </p:sp>
      <p:sp>
        <p:nvSpPr>
          <p:cNvPr id="26" name="Text 24"/>
          <p:cNvSpPr/>
          <p:nvPr/>
        </p:nvSpPr>
        <p:spPr>
          <a:xfrm>
            <a:off x="6629400" y="2011680"/>
            <a:ext cx="2103120" cy="502920"/>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$66–$89/patient/month left on the table</a:t>
            </a:r>
            <a:endParaRPr lang="en-US" sz="1200" dirty="0"/>
          </a:p>
        </p:txBody>
      </p:sp>
      <p:sp>
        <p:nvSpPr>
          <p:cNvPr id="27" name="Shape 25"/>
          <p:cNvSpPr/>
          <p:nvPr/>
        </p:nvSpPr>
        <p:spPr>
          <a:xfrm>
            <a:off x="6400800" y="2679192"/>
            <a:ext cx="45720" cy="274320"/>
          </a:xfrm>
          <a:prstGeom prst="rect">
            <a:avLst/>
          </a:prstGeom>
          <a:solidFill>
            <a:srgbClr val="E86060"/>
          </a:solidFill>
          <a:ln/>
        </p:spPr>
      </p:sp>
      <p:sp>
        <p:nvSpPr>
          <p:cNvPr id="28" name="Text 26"/>
          <p:cNvSpPr/>
          <p:nvPr/>
        </p:nvSpPr>
        <p:spPr>
          <a:xfrm>
            <a:off x="6629400" y="2606040"/>
            <a:ext cx="2103120" cy="502920"/>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CCM enrollment impossible without staff</a:t>
            </a:r>
            <a:endParaRPr lang="en-US" sz="1200" dirty="0"/>
          </a:p>
        </p:txBody>
      </p:sp>
      <p:sp>
        <p:nvSpPr>
          <p:cNvPr id="29" name="Shape 27"/>
          <p:cNvSpPr/>
          <p:nvPr/>
        </p:nvSpPr>
        <p:spPr>
          <a:xfrm>
            <a:off x="6400800" y="3273552"/>
            <a:ext cx="45720" cy="274320"/>
          </a:xfrm>
          <a:prstGeom prst="rect">
            <a:avLst/>
          </a:prstGeom>
          <a:solidFill>
            <a:srgbClr val="E86060"/>
          </a:solidFill>
          <a:ln/>
        </p:spPr>
      </p:sp>
      <p:sp>
        <p:nvSpPr>
          <p:cNvPr id="30" name="Text 28"/>
          <p:cNvSpPr/>
          <p:nvPr/>
        </p:nvSpPr>
        <p:spPr>
          <a:xfrm>
            <a:off x="6629400" y="3200400"/>
            <a:ext cx="2103120" cy="502920"/>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Revenue-generating care cannot scale</a:t>
            </a:r>
            <a:endParaRPr lang="en-US" sz="1200" dirty="0"/>
          </a:p>
        </p:txBody>
      </p:sp>
      <p:sp>
        <p:nvSpPr>
          <p:cNvPr id="31" name="Shape 29"/>
          <p:cNvSpPr/>
          <p:nvPr/>
        </p:nvSpPr>
        <p:spPr>
          <a:xfrm>
            <a:off x="6400800" y="3867912"/>
            <a:ext cx="45720" cy="274320"/>
          </a:xfrm>
          <a:prstGeom prst="rect">
            <a:avLst/>
          </a:prstGeom>
          <a:solidFill>
            <a:srgbClr val="E86060"/>
          </a:solidFill>
          <a:ln/>
        </p:spPr>
      </p:sp>
      <p:sp>
        <p:nvSpPr>
          <p:cNvPr id="32" name="Text 30"/>
          <p:cNvSpPr/>
          <p:nvPr/>
        </p:nvSpPr>
        <p:spPr>
          <a:xfrm>
            <a:off x="6629400" y="3794760"/>
            <a:ext cx="2103120" cy="502920"/>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Compliance burden prevents billing</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C3E2D"/>
        </a:solidFill>
      </p:bgPr>
    </p:bg>
    <p:spTree>
      <p:nvGrpSpPr>
        <p:cNvPr id="1" name=""/>
        <p:cNvGrpSpPr/>
        <p:nvPr/>
      </p:nvGrpSpPr>
      <p:grpSpPr>
        <a:xfrm>
          <a:off x="0" y="0"/>
          <a:ext cx="0" cy="0"/>
          <a:chOff x="0" y="0"/>
          <a:chExt cx="0" cy="0"/>
        </a:xfrm>
      </p:grpSpPr>
      <p:sp>
        <p:nvSpPr>
          <p:cNvPr id="2" name="Text 0"/>
          <p:cNvSpPr/>
          <p:nvPr/>
        </p:nvSpPr>
        <p:spPr>
          <a:xfrm>
            <a:off x="731520" y="274320"/>
            <a:ext cx="7680960" cy="914400"/>
          </a:xfrm>
          <a:prstGeom prst="rect">
            <a:avLst/>
          </a:prstGeom>
          <a:noFill/>
          <a:ln/>
        </p:spPr>
        <p:txBody>
          <a:bodyPr wrap="square" lIns="0" tIns="0" rIns="0" bIns="0" rtlCol="0" anchor="ctr"/>
          <a:lstStyle/>
          <a:p>
            <a:pPr indent="0" marL="0">
              <a:lnSpc>
                <a:spcPct val="115000"/>
              </a:lnSpc>
              <a:buNone/>
            </a:pPr>
            <a:r>
              <a:rPr lang="en-US" sz="3200" b="1" dirty="0">
                <a:solidFill>
                  <a:srgbClr val="FFFFFF"/>
                </a:solidFill>
                <a:latin typeface="Georgia" pitchFamily="34" charset="0"/>
                <a:ea typeface="Georgia" pitchFamily="34" charset="-122"/>
                <a:cs typeface="Georgia" pitchFamily="34" charset="-120"/>
              </a:rPr>
              <a:t>Three Conditions Now Make This</a:t>
            </a:r>
            <a:endParaRPr lang="en-US" sz="3200" dirty="0"/>
          </a:p>
          <a:p>
            <a:pPr indent="0" marL="0">
              <a:lnSpc>
                <a:spcPct val="115000"/>
              </a:lnSpc>
              <a:buNone/>
            </a:pPr>
            <a:r>
              <a:rPr lang="en-US" sz="3200" b="1" dirty="0">
                <a:solidFill>
                  <a:srgbClr val="FFFFFF"/>
                </a:solidFill>
                <a:latin typeface="Georgia" pitchFamily="34" charset="0"/>
                <a:ea typeface="Georgia" pitchFamily="34" charset="-122"/>
                <a:cs typeface="Georgia" pitchFamily="34" charset="-120"/>
              </a:rPr>
              <a:t>Infrastructure Operational</a:t>
            </a:r>
            <a:endParaRPr lang="en-US" sz="3200" dirty="0"/>
          </a:p>
        </p:txBody>
      </p:sp>
      <p:sp>
        <p:nvSpPr>
          <p:cNvPr id="3" name="Shape 1"/>
          <p:cNvSpPr/>
          <p:nvPr/>
        </p:nvSpPr>
        <p:spPr>
          <a:xfrm>
            <a:off x="457200" y="1371600"/>
            <a:ext cx="2697480" cy="3383280"/>
          </a:xfrm>
          <a:prstGeom prst="rect">
            <a:avLst/>
          </a:prstGeom>
          <a:solidFill>
            <a:srgbClr val="374738"/>
          </a:solidFill>
          <a:ln/>
        </p:spPr>
      </p:sp>
      <p:sp>
        <p:nvSpPr>
          <p:cNvPr id="4" name="Shape 2"/>
          <p:cNvSpPr/>
          <p:nvPr/>
        </p:nvSpPr>
        <p:spPr>
          <a:xfrm>
            <a:off x="457200" y="1371600"/>
            <a:ext cx="2697480" cy="457200"/>
          </a:xfrm>
          <a:prstGeom prst="rect">
            <a:avLst/>
          </a:prstGeom>
          <a:solidFill>
            <a:srgbClr val="2E915E"/>
          </a:solidFill>
          <a:ln/>
        </p:spPr>
      </p:sp>
      <p:sp>
        <p:nvSpPr>
          <p:cNvPr id="5" name="Text 3"/>
          <p:cNvSpPr/>
          <p:nvPr/>
        </p:nvSpPr>
        <p:spPr>
          <a:xfrm>
            <a:off x="594360" y="1389888"/>
            <a:ext cx="457200" cy="4114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640080" y="2011680"/>
            <a:ext cx="233172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AI as Infrastructure</a:t>
            </a:r>
            <a:endParaRPr lang="en-US" sz="1700" dirty="0"/>
          </a:p>
        </p:txBody>
      </p:sp>
      <p:sp>
        <p:nvSpPr>
          <p:cNvPr id="7" name="Text 5"/>
          <p:cNvSpPr/>
          <p:nvPr/>
        </p:nvSpPr>
        <p:spPr>
          <a:xfrm>
            <a:off x="640080" y="2560320"/>
            <a:ext cx="2331720" cy="2011680"/>
          </a:xfrm>
          <a:prstGeom prst="rect">
            <a:avLst/>
          </a:prstGeom>
          <a:noFill/>
          <a:ln/>
        </p:spPr>
        <p:txBody>
          <a:bodyPr wrap="square" lIns="0" tIns="0" rIns="0" bIns="0" rtlCol="0" anchor="ctr"/>
          <a:lstStyle/>
          <a:p>
            <a:pPr indent="0" marL="0">
              <a:lnSpc>
                <a:spcPct val="140000"/>
              </a:lnSpc>
              <a:buNone/>
            </a:pPr>
            <a:r>
              <a:rPr lang="en-US" sz="1100" dirty="0">
                <a:solidFill>
                  <a:srgbClr val="E8E8E0"/>
                </a:solidFill>
                <a:latin typeface="Calibri" pitchFamily="34" charset="0"/>
                <a:ea typeface="Calibri" pitchFamily="34" charset="-122"/>
                <a:cs typeface="Calibri" pitchFamily="34" charset="-120"/>
              </a:rPr>
              <a:t>Large language models can now reliably structure unstructured clinical conversation into compliant documentation. This capability did not exist at production quality 18 months ago. It is not innovation. It is enabling infrastructure.</a:t>
            </a:r>
            <a:endParaRPr lang="en-US" sz="1100" dirty="0"/>
          </a:p>
        </p:txBody>
      </p:sp>
      <p:sp>
        <p:nvSpPr>
          <p:cNvPr id="8" name="Shape 6"/>
          <p:cNvSpPr/>
          <p:nvPr/>
        </p:nvSpPr>
        <p:spPr>
          <a:xfrm>
            <a:off x="3337560" y="1371600"/>
            <a:ext cx="2697480" cy="3383280"/>
          </a:xfrm>
          <a:prstGeom prst="rect">
            <a:avLst/>
          </a:prstGeom>
          <a:solidFill>
            <a:srgbClr val="374738"/>
          </a:solidFill>
          <a:ln/>
        </p:spPr>
      </p:sp>
      <p:sp>
        <p:nvSpPr>
          <p:cNvPr id="9" name="Shape 7"/>
          <p:cNvSpPr/>
          <p:nvPr/>
        </p:nvSpPr>
        <p:spPr>
          <a:xfrm>
            <a:off x="3337560" y="1371600"/>
            <a:ext cx="2697480" cy="457200"/>
          </a:xfrm>
          <a:prstGeom prst="rect">
            <a:avLst/>
          </a:prstGeom>
          <a:solidFill>
            <a:srgbClr val="216F64"/>
          </a:solidFill>
          <a:ln/>
        </p:spPr>
      </p:sp>
      <p:sp>
        <p:nvSpPr>
          <p:cNvPr id="10" name="Text 8"/>
          <p:cNvSpPr/>
          <p:nvPr/>
        </p:nvSpPr>
        <p:spPr>
          <a:xfrm>
            <a:off x="3474720" y="1389888"/>
            <a:ext cx="457200" cy="4114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1" name="Text 9"/>
          <p:cNvSpPr/>
          <p:nvPr/>
        </p:nvSpPr>
        <p:spPr>
          <a:xfrm>
            <a:off x="3520440" y="2011680"/>
            <a:ext cx="233172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Channel Ubiquity</a:t>
            </a:r>
            <a:endParaRPr lang="en-US" sz="1700" dirty="0"/>
          </a:p>
        </p:txBody>
      </p:sp>
      <p:sp>
        <p:nvSpPr>
          <p:cNvPr id="12" name="Text 10"/>
          <p:cNvSpPr/>
          <p:nvPr/>
        </p:nvSpPr>
        <p:spPr>
          <a:xfrm>
            <a:off x="3520440" y="2560320"/>
            <a:ext cx="2331720" cy="2011680"/>
          </a:xfrm>
          <a:prstGeom prst="rect">
            <a:avLst/>
          </a:prstGeom>
          <a:noFill/>
          <a:ln/>
        </p:spPr>
        <p:txBody>
          <a:bodyPr wrap="square" lIns="0" tIns="0" rIns="0" bIns="0" rtlCol="0" anchor="ctr"/>
          <a:lstStyle/>
          <a:p>
            <a:pPr indent="0" marL="0">
              <a:lnSpc>
                <a:spcPct val="140000"/>
              </a:lnSpc>
              <a:buNone/>
            </a:pPr>
            <a:r>
              <a:rPr lang="en-US" sz="1100" dirty="0">
                <a:solidFill>
                  <a:srgbClr val="E8E8E0"/>
                </a:solidFill>
                <a:latin typeface="Calibri" pitchFamily="34" charset="0"/>
                <a:ea typeface="Calibri" pitchFamily="34" charset="-122"/>
                <a:cs typeface="Calibri" pitchFamily="34" charset="-120"/>
              </a:rPr>
              <a:t>SMS and WhatsApp have 98% open rates. 65% of FQHC patients are Hispanic and already use these channels for health communication. The adoption barrier is zero. The capture channel already exists.</a:t>
            </a:r>
            <a:endParaRPr lang="en-US" sz="1100" dirty="0"/>
          </a:p>
        </p:txBody>
      </p:sp>
      <p:sp>
        <p:nvSpPr>
          <p:cNvPr id="13" name="Shape 11"/>
          <p:cNvSpPr/>
          <p:nvPr/>
        </p:nvSpPr>
        <p:spPr>
          <a:xfrm>
            <a:off x="6217920" y="1371600"/>
            <a:ext cx="2697480" cy="3383280"/>
          </a:xfrm>
          <a:prstGeom prst="rect">
            <a:avLst/>
          </a:prstGeom>
          <a:solidFill>
            <a:srgbClr val="374738"/>
          </a:solidFill>
          <a:ln/>
        </p:spPr>
      </p:sp>
      <p:sp>
        <p:nvSpPr>
          <p:cNvPr id="14" name="Shape 12"/>
          <p:cNvSpPr/>
          <p:nvPr/>
        </p:nvSpPr>
        <p:spPr>
          <a:xfrm>
            <a:off x="6217920" y="1371600"/>
            <a:ext cx="2697480" cy="457200"/>
          </a:xfrm>
          <a:prstGeom prst="rect">
            <a:avLst/>
          </a:prstGeom>
          <a:solidFill>
            <a:srgbClr val="2E915E"/>
          </a:solidFill>
          <a:ln/>
        </p:spPr>
      </p:sp>
      <p:sp>
        <p:nvSpPr>
          <p:cNvPr id="15" name="Text 13"/>
          <p:cNvSpPr/>
          <p:nvPr/>
        </p:nvSpPr>
        <p:spPr>
          <a:xfrm>
            <a:off x="6355080" y="1389888"/>
            <a:ext cx="457200" cy="4114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6" name="Text 14"/>
          <p:cNvSpPr/>
          <p:nvPr/>
        </p:nvSpPr>
        <p:spPr>
          <a:xfrm>
            <a:off x="6400800" y="2011680"/>
            <a:ext cx="233172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Regulatory Unlock</a:t>
            </a:r>
            <a:endParaRPr lang="en-US" sz="1700" dirty="0"/>
          </a:p>
        </p:txBody>
      </p:sp>
      <p:sp>
        <p:nvSpPr>
          <p:cNvPr id="17" name="Text 15"/>
          <p:cNvSpPr/>
          <p:nvPr/>
        </p:nvSpPr>
        <p:spPr>
          <a:xfrm>
            <a:off x="6400800" y="2560320"/>
            <a:ext cx="2331720" cy="2011680"/>
          </a:xfrm>
          <a:prstGeom prst="rect">
            <a:avLst/>
          </a:prstGeom>
          <a:noFill/>
          <a:ln/>
        </p:spPr>
        <p:txBody>
          <a:bodyPr wrap="square" lIns="0" tIns="0" rIns="0" bIns="0" rtlCol="0" anchor="ctr"/>
          <a:lstStyle/>
          <a:p>
            <a:pPr indent="0" marL="0">
              <a:lnSpc>
                <a:spcPct val="140000"/>
              </a:lnSpc>
              <a:buNone/>
            </a:pPr>
            <a:r>
              <a:rPr lang="en-US" sz="1100" dirty="0">
                <a:solidFill>
                  <a:srgbClr val="E8E8E0"/>
                </a:solidFill>
                <a:latin typeface="Calibri" pitchFamily="34" charset="0"/>
                <a:ea typeface="Calibri" pitchFamily="34" charset="-122"/>
                <a:cs typeface="Calibri" pitchFamily="34" charset="-120"/>
              </a:rPr>
              <a:t>FQHCs can now bill individual CCM codes (99490/99491) as of July 2025. Previously restricted to bundled G0511. This created a new, uncaptured revenue stream requiring new operational infrastructure.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C3E2D"/>
        </a:solidFill>
      </p:bgPr>
    </p:bg>
    <p:spTree>
      <p:nvGrpSpPr>
        <p:cNvPr id="1" name=""/>
        <p:cNvGrpSpPr/>
        <p:nvPr/>
      </p:nvGrpSpPr>
      <p:grpSpPr>
        <a:xfrm>
          <a:off x="0" y="0"/>
          <a:ext cx="0" cy="0"/>
          <a:chOff x="0" y="0"/>
          <a:chExt cx="0" cy="0"/>
        </a:xfrm>
      </p:grpSpPr>
      <p:sp>
        <p:nvSpPr>
          <p:cNvPr id="2" name="Text 0"/>
          <p:cNvSpPr/>
          <p:nvPr/>
        </p:nvSpPr>
        <p:spPr>
          <a:xfrm>
            <a:off x="731520" y="274320"/>
            <a:ext cx="7680960" cy="64008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Deployed. Operational. Processing Signal.</a:t>
            </a:r>
            <a:endParaRPr lang="en-US" sz="3400" dirty="0"/>
          </a:p>
        </p:txBody>
      </p:sp>
      <p:sp>
        <p:nvSpPr>
          <p:cNvPr id="3" name="Text 1"/>
          <p:cNvSpPr/>
          <p:nvPr/>
        </p:nvSpPr>
        <p:spPr>
          <a:xfrm>
            <a:off x="731520" y="960120"/>
            <a:ext cx="4572000" cy="320040"/>
          </a:xfrm>
          <a:prstGeom prst="rect">
            <a:avLst/>
          </a:prstGeom>
          <a:noFill/>
          <a:ln/>
        </p:spPr>
        <p:txBody>
          <a:bodyPr wrap="square" lIns="0" tIns="0" rIns="0" bIns="0" rtlCol="0" anchor="ctr"/>
          <a:lstStyle/>
          <a:p>
            <a:pPr indent="0" marL="0">
              <a:buNone/>
            </a:pPr>
            <a:r>
              <a:rPr lang="en-US" sz="1300" dirty="0">
                <a:solidFill>
                  <a:srgbClr val="3DDC84"/>
                </a:solidFill>
                <a:latin typeface="Calibri" pitchFamily="34" charset="0"/>
                <a:ea typeface="Calibri" pitchFamily="34" charset="-122"/>
                <a:cs typeface="Calibri" pitchFamily="34" charset="-120"/>
              </a:rPr>
              <a:t>Live at carelog.vivebien.io</a:t>
            </a:r>
            <a:endParaRPr lang="en-US" sz="1300" dirty="0"/>
          </a:p>
        </p:txBody>
      </p:sp>
      <p:sp>
        <p:nvSpPr>
          <p:cNvPr id="4" name="Shape 2"/>
          <p:cNvSpPr/>
          <p:nvPr/>
        </p:nvSpPr>
        <p:spPr>
          <a:xfrm>
            <a:off x="365760" y="1417320"/>
            <a:ext cx="1965960" cy="1417320"/>
          </a:xfrm>
          <a:prstGeom prst="roundRect">
            <a:avLst>
              <a:gd name="adj" fmla="val 6452"/>
            </a:avLst>
          </a:prstGeom>
          <a:solidFill>
            <a:srgbClr val="374738"/>
          </a:solidFill>
          <a:ln/>
        </p:spPr>
      </p:sp>
      <p:sp>
        <p:nvSpPr>
          <p:cNvPr id="5" name="Text 3"/>
          <p:cNvSpPr/>
          <p:nvPr/>
        </p:nvSpPr>
        <p:spPr>
          <a:xfrm>
            <a:off x="502920" y="1527048"/>
            <a:ext cx="1691640" cy="411480"/>
          </a:xfrm>
          <a:prstGeom prst="rect">
            <a:avLst/>
          </a:prstGeom>
          <a:noFill/>
          <a:ln/>
        </p:spPr>
        <p:txBody>
          <a:bodyPr wrap="square" lIns="0" tIns="0" rIns="0" bIns="0" rtlCol="0" anchor="ctr"/>
          <a:lstStyle/>
          <a:p>
            <a:pPr indent="0" marL="0">
              <a:buNone/>
            </a:pPr>
            <a:r>
              <a:rPr lang="en-US" sz="1300" b="1" dirty="0">
                <a:solidFill>
                  <a:srgbClr val="3DDC84"/>
                </a:solidFill>
                <a:latin typeface="Calibri" pitchFamily="34" charset="0"/>
                <a:ea typeface="Calibri" pitchFamily="34" charset="-122"/>
                <a:cs typeface="Calibri" pitchFamily="34" charset="-120"/>
              </a:rPr>
              <a:t>AI Signal Processing</a:t>
            </a:r>
            <a:endParaRPr lang="en-US" sz="1300" dirty="0"/>
          </a:p>
        </p:txBody>
      </p:sp>
      <p:sp>
        <p:nvSpPr>
          <p:cNvPr id="6" name="Text 4"/>
          <p:cNvSpPr/>
          <p:nvPr/>
        </p:nvSpPr>
        <p:spPr>
          <a:xfrm>
            <a:off x="502920" y="1920240"/>
            <a:ext cx="1691640" cy="731520"/>
          </a:xfrm>
          <a:prstGeom prst="rect">
            <a:avLst/>
          </a:prstGeom>
          <a:noFill/>
          <a:ln/>
        </p:spPr>
        <p:txBody>
          <a:bodyPr wrap="square" lIns="0" tIns="0" rIns="0" bIns="0" rtlCol="0" anchor="ctr"/>
          <a:lstStyle/>
          <a:p>
            <a:pPr indent="0" marL="0">
              <a:lnSpc>
                <a:spcPct val="130000"/>
              </a:lnSpc>
              <a:buNone/>
            </a:pPr>
            <a:r>
              <a:rPr lang="en-US" sz="1100" dirty="0">
                <a:solidFill>
                  <a:srgbClr val="E8E8E0"/>
                </a:solidFill>
                <a:latin typeface="Calibri" pitchFamily="34" charset="0"/>
                <a:ea typeface="Calibri" pitchFamily="34" charset="-122"/>
                <a:cs typeface="Calibri" pitchFamily="34" charset="-120"/>
              </a:rPr>
              <a:t>Claude AI (Opus 4.5) structures</a:t>
            </a:r>
            <a:endParaRPr lang="en-US" sz="1100" dirty="0"/>
          </a:p>
          <a:p>
            <a:pPr indent="0" marL="0">
              <a:lnSpc>
                <a:spcPct val="130000"/>
              </a:lnSpc>
              <a:buNone/>
            </a:pPr>
            <a:r>
              <a:rPr lang="en-US" sz="1100" dirty="0">
                <a:solidFill>
                  <a:srgbClr val="E8E8E0"/>
                </a:solidFill>
                <a:latin typeface="Calibri" pitchFamily="34" charset="0"/>
                <a:ea typeface="Calibri" pitchFamily="34" charset="-122"/>
                <a:cs typeface="Calibri" pitchFamily="34" charset="-120"/>
              </a:rPr>
              <a:t>free-text into clinical format</a:t>
            </a:r>
            <a:endParaRPr lang="en-US" sz="1100" dirty="0"/>
          </a:p>
        </p:txBody>
      </p:sp>
      <p:sp>
        <p:nvSpPr>
          <p:cNvPr id="7" name="Shape 5"/>
          <p:cNvSpPr/>
          <p:nvPr/>
        </p:nvSpPr>
        <p:spPr>
          <a:xfrm>
            <a:off x="2560320" y="1417320"/>
            <a:ext cx="1965960" cy="1417320"/>
          </a:xfrm>
          <a:prstGeom prst="roundRect">
            <a:avLst>
              <a:gd name="adj" fmla="val 6452"/>
            </a:avLst>
          </a:prstGeom>
          <a:solidFill>
            <a:srgbClr val="374738"/>
          </a:solidFill>
          <a:ln/>
        </p:spPr>
      </p:sp>
      <p:sp>
        <p:nvSpPr>
          <p:cNvPr id="8" name="Text 6"/>
          <p:cNvSpPr/>
          <p:nvPr/>
        </p:nvSpPr>
        <p:spPr>
          <a:xfrm>
            <a:off x="2697480" y="1527048"/>
            <a:ext cx="1691640" cy="411480"/>
          </a:xfrm>
          <a:prstGeom prst="rect">
            <a:avLst/>
          </a:prstGeom>
          <a:noFill/>
          <a:ln/>
        </p:spPr>
        <p:txBody>
          <a:bodyPr wrap="square" lIns="0" tIns="0" rIns="0" bIns="0" rtlCol="0" anchor="ctr"/>
          <a:lstStyle/>
          <a:p>
            <a:pPr indent="0" marL="0">
              <a:buNone/>
            </a:pPr>
            <a:r>
              <a:rPr lang="en-US" sz="1300" b="1" dirty="0">
                <a:solidFill>
                  <a:srgbClr val="3DDC84"/>
                </a:solidFill>
                <a:latin typeface="Calibri" pitchFamily="34" charset="0"/>
                <a:ea typeface="Calibri" pitchFamily="34" charset="-122"/>
                <a:cs typeface="Calibri" pitchFamily="34" charset="-120"/>
              </a:rPr>
              <a:t>Voice Capture</a:t>
            </a:r>
            <a:endParaRPr lang="en-US" sz="1300" dirty="0"/>
          </a:p>
        </p:txBody>
      </p:sp>
      <p:sp>
        <p:nvSpPr>
          <p:cNvPr id="9" name="Text 7"/>
          <p:cNvSpPr/>
          <p:nvPr/>
        </p:nvSpPr>
        <p:spPr>
          <a:xfrm>
            <a:off x="2697480" y="1920240"/>
            <a:ext cx="1691640" cy="731520"/>
          </a:xfrm>
          <a:prstGeom prst="rect">
            <a:avLst/>
          </a:prstGeom>
          <a:noFill/>
          <a:ln/>
        </p:spPr>
        <p:txBody>
          <a:bodyPr wrap="square" lIns="0" tIns="0" rIns="0" bIns="0" rtlCol="0" anchor="ctr"/>
          <a:lstStyle/>
          <a:p>
            <a:pPr indent="0" marL="0">
              <a:lnSpc>
                <a:spcPct val="130000"/>
              </a:lnSpc>
              <a:buNone/>
            </a:pPr>
            <a:r>
              <a:rPr lang="en-US" sz="1100" dirty="0">
                <a:solidFill>
                  <a:srgbClr val="E8E8E0"/>
                </a:solidFill>
                <a:latin typeface="Calibri" pitchFamily="34" charset="0"/>
                <a:ea typeface="Calibri" pitchFamily="34" charset="-122"/>
                <a:cs typeface="Calibri" pitchFamily="34" charset="-120"/>
              </a:rPr>
              <a:t>OpenAI Whisper transcription</a:t>
            </a:r>
            <a:endParaRPr lang="en-US" sz="1100" dirty="0"/>
          </a:p>
          <a:p>
            <a:pPr indent="0" marL="0">
              <a:lnSpc>
                <a:spcPct val="130000"/>
              </a:lnSpc>
              <a:buNone/>
            </a:pPr>
            <a:r>
              <a:rPr lang="en-US" sz="1100" dirty="0">
                <a:solidFill>
                  <a:srgbClr val="E8E8E0"/>
                </a:solidFill>
                <a:latin typeface="Calibri" pitchFamily="34" charset="0"/>
                <a:ea typeface="Calibri" pitchFamily="34" charset="-122"/>
                <a:cs typeface="Calibri" pitchFamily="34" charset="-120"/>
              </a:rPr>
              <a:t>with auto language detection</a:t>
            </a:r>
            <a:endParaRPr lang="en-US" sz="1100" dirty="0"/>
          </a:p>
        </p:txBody>
      </p:sp>
      <p:sp>
        <p:nvSpPr>
          <p:cNvPr id="10" name="Shape 8"/>
          <p:cNvSpPr/>
          <p:nvPr/>
        </p:nvSpPr>
        <p:spPr>
          <a:xfrm>
            <a:off x="4754880" y="1417320"/>
            <a:ext cx="1965960" cy="1417320"/>
          </a:xfrm>
          <a:prstGeom prst="roundRect">
            <a:avLst>
              <a:gd name="adj" fmla="val 6452"/>
            </a:avLst>
          </a:prstGeom>
          <a:solidFill>
            <a:srgbClr val="374738"/>
          </a:solidFill>
          <a:ln/>
        </p:spPr>
      </p:sp>
      <p:sp>
        <p:nvSpPr>
          <p:cNvPr id="11" name="Text 9"/>
          <p:cNvSpPr/>
          <p:nvPr/>
        </p:nvSpPr>
        <p:spPr>
          <a:xfrm>
            <a:off x="4892040" y="1527048"/>
            <a:ext cx="1691640" cy="411480"/>
          </a:xfrm>
          <a:prstGeom prst="rect">
            <a:avLst/>
          </a:prstGeom>
          <a:noFill/>
          <a:ln/>
        </p:spPr>
        <p:txBody>
          <a:bodyPr wrap="square" lIns="0" tIns="0" rIns="0" bIns="0" rtlCol="0" anchor="ctr"/>
          <a:lstStyle/>
          <a:p>
            <a:pPr indent="0" marL="0">
              <a:buNone/>
            </a:pPr>
            <a:r>
              <a:rPr lang="en-US" sz="1300" b="1" dirty="0">
                <a:solidFill>
                  <a:srgbClr val="3DDC84"/>
                </a:solidFill>
                <a:latin typeface="Calibri" pitchFamily="34" charset="0"/>
                <a:ea typeface="Calibri" pitchFamily="34" charset="-122"/>
                <a:cs typeface="Calibri" pitchFamily="34" charset="-120"/>
              </a:rPr>
              <a:t>Visual Signal Intake</a:t>
            </a:r>
            <a:endParaRPr lang="en-US" sz="1300" dirty="0"/>
          </a:p>
        </p:txBody>
      </p:sp>
      <p:sp>
        <p:nvSpPr>
          <p:cNvPr id="12" name="Text 10"/>
          <p:cNvSpPr/>
          <p:nvPr/>
        </p:nvSpPr>
        <p:spPr>
          <a:xfrm>
            <a:off x="4892040" y="1920240"/>
            <a:ext cx="1691640" cy="731520"/>
          </a:xfrm>
          <a:prstGeom prst="rect">
            <a:avLst/>
          </a:prstGeom>
          <a:noFill/>
          <a:ln/>
        </p:spPr>
        <p:txBody>
          <a:bodyPr wrap="square" lIns="0" tIns="0" rIns="0" bIns="0" rtlCol="0" anchor="ctr"/>
          <a:lstStyle/>
          <a:p>
            <a:pPr indent="0" marL="0">
              <a:lnSpc>
                <a:spcPct val="130000"/>
              </a:lnSpc>
              <a:buNone/>
            </a:pPr>
            <a:r>
              <a:rPr lang="en-US" sz="1100" dirty="0">
                <a:solidFill>
                  <a:srgbClr val="E8E8E0"/>
                </a:solidFill>
                <a:latin typeface="Calibri" pitchFamily="34" charset="0"/>
                <a:ea typeface="Calibri" pitchFamily="34" charset="-122"/>
                <a:cs typeface="Calibri" pitchFamily="34" charset="-120"/>
              </a:rPr>
              <a:t>Claude Vision processes photos</a:t>
            </a:r>
            <a:endParaRPr lang="en-US" sz="1100" dirty="0"/>
          </a:p>
          <a:p>
            <a:pPr indent="0" marL="0">
              <a:lnSpc>
                <a:spcPct val="130000"/>
              </a:lnSpc>
              <a:buNone/>
            </a:pPr>
            <a:r>
              <a:rPr lang="en-US" sz="1100" dirty="0">
                <a:solidFill>
                  <a:srgbClr val="E8E8E0"/>
                </a:solidFill>
                <a:latin typeface="Calibri" pitchFamily="34" charset="0"/>
                <a:ea typeface="Calibri" pitchFamily="34" charset="-122"/>
                <a:cs typeface="Calibri" pitchFamily="34" charset="-120"/>
              </a:rPr>
              <a:t>of medications, symptoms</a:t>
            </a:r>
            <a:endParaRPr lang="en-US" sz="1100" dirty="0"/>
          </a:p>
        </p:txBody>
      </p:sp>
      <p:sp>
        <p:nvSpPr>
          <p:cNvPr id="13" name="Shape 11"/>
          <p:cNvSpPr/>
          <p:nvPr/>
        </p:nvSpPr>
        <p:spPr>
          <a:xfrm>
            <a:off x="6949440" y="1417320"/>
            <a:ext cx="1965960" cy="1417320"/>
          </a:xfrm>
          <a:prstGeom prst="roundRect">
            <a:avLst>
              <a:gd name="adj" fmla="val 6452"/>
            </a:avLst>
          </a:prstGeom>
          <a:solidFill>
            <a:srgbClr val="374738"/>
          </a:solidFill>
          <a:ln/>
        </p:spPr>
      </p:sp>
      <p:sp>
        <p:nvSpPr>
          <p:cNvPr id="14" name="Text 12"/>
          <p:cNvSpPr/>
          <p:nvPr/>
        </p:nvSpPr>
        <p:spPr>
          <a:xfrm>
            <a:off x="7086600" y="1527048"/>
            <a:ext cx="1691640" cy="411480"/>
          </a:xfrm>
          <a:prstGeom prst="rect">
            <a:avLst/>
          </a:prstGeom>
          <a:noFill/>
          <a:ln/>
        </p:spPr>
        <p:txBody>
          <a:bodyPr wrap="square" lIns="0" tIns="0" rIns="0" bIns="0" rtlCol="0" anchor="ctr"/>
          <a:lstStyle/>
          <a:p>
            <a:pPr indent="0" marL="0">
              <a:buNone/>
            </a:pPr>
            <a:r>
              <a:rPr lang="en-US" sz="1300" b="1" dirty="0">
                <a:solidFill>
                  <a:srgbClr val="3DDC84"/>
                </a:solidFill>
                <a:latin typeface="Calibri" pitchFamily="34" charset="0"/>
                <a:ea typeface="Calibri" pitchFamily="34" charset="-122"/>
                <a:cs typeface="Calibri" pitchFamily="34" charset="-120"/>
              </a:rPr>
              <a:t>Multi-Concern Tracking</a:t>
            </a:r>
            <a:endParaRPr lang="en-US" sz="1300" dirty="0"/>
          </a:p>
        </p:txBody>
      </p:sp>
      <p:sp>
        <p:nvSpPr>
          <p:cNvPr id="15" name="Text 13"/>
          <p:cNvSpPr/>
          <p:nvPr/>
        </p:nvSpPr>
        <p:spPr>
          <a:xfrm>
            <a:off x="7086600" y="1920240"/>
            <a:ext cx="1691640" cy="731520"/>
          </a:xfrm>
          <a:prstGeom prst="rect">
            <a:avLst/>
          </a:prstGeom>
          <a:noFill/>
          <a:ln/>
        </p:spPr>
        <p:txBody>
          <a:bodyPr wrap="square" lIns="0" tIns="0" rIns="0" bIns="0" rtlCol="0" anchor="ctr"/>
          <a:lstStyle/>
          <a:p>
            <a:pPr indent="0" marL="0">
              <a:lnSpc>
                <a:spcPct val="130000"/>
              </a:lnSpc>
              <a:buNone/>
            </a:pPr>
            <a:r>
              <a:rPr lang="en-US" sz="1100" dirty="0">
                <a:solidFill>
                  <a:srgbClr val="E8E8E0"/>
                </a:solidFill>
                <a:latin typeface="Calibri" pitchFamily="34" charset="0"/>
                <a:ea typeface="Calibri" pitchFamily="34" charset="-122"/>
                <a:cs typeface="Calibri" pitchFamily="34" charset="-120"/>
              </a:rPr>
              <a:t>Individual health concerns with</a:t>
            </a:r>
            <a:endParaRPr lang="en-US" sz="1100" dirty="0"/>
          </a:p>
          <a:p>
            <a:pPr indent="0" marL="0">
              <a:lnSpc>
                <a:spcPct val="130000"/>
              </a:lnSpc>
              <a:buNone/>
            </a:pPr>
            <a:r>
              <a:rPr lang="en-US" sz="1100" dirty="0">
                <a:solidFill>
                  <a:srgbClr val="E8E8E0"/>
                </a:solidFill>
                <a:latin typeface="Calibri" pitchFamily="34" charset="0"/>
                <a:ea typeface="Calibri" pitchFamily="34" charset="-122"/>
                <a:cs typeface="Calibri" pitchFamily="34" charset="-120"/>
              </a:rPr>
              <a:t>status lifecycle management</a:t>
            </a:r>
            <a:endParaRPr lang="en-US" sz="1100" dirty="0"/>
          </a:p>
        </p:txBody>
      </p:sp>
      <p:sp>
        <p:nvSpPr>
          <p:cNvPr id="16" name="Shape 14"/>
          <p:cNvSpPr/>
          <p:nvPr/>
        </p:nvSpPr>
        <p:spPr>
          <a:xfrm>
            <a:off x="365760" y="3017520"/>
            <a:ext cx="1965960" cy="1417320"/>
          </a:xfrm>
          <a:prstGeom prst="roundRect">
            <a:avLst>
              <a:gd name="adj" fmla="val 6452"/>
            </a:avLst>
          </a:prstGeom>
          <a:solidFill>
            <a:srgbClr val="374738"/>
          </a:solidFill>
          <a:ln/>
        </p:spPr>
      </p:sp>
      <p:sp>
        <p:nvSpPr>
          <p:cNvPr id="17" name="Text 15"/>
          <p:cNvSpPr/>
          <p:nvPr/>
        </p:nvSpPr>
        <p:spPr>
          <a:xfrm>
            <a:off x="502920" y="3127248"/>
            <a:ext cx="1691640" cy="411480"/>
          </a:xfrm>
          <a:prstGeom prst="rect">
            <a:avLst/>
          </a:prstGeom>
          <a:noFill/>
          <a:ln/>
        </p:spPr>
        <p:txBody>
          <a:bodyPr wrap="square" lIns="0" tIns="0" rIns="0" bIns="0" rtlCol="0" anchor="ctr"/>
          <a:lstStyle/>
          <a:p>
            <a:pPr indent="0" marL="0">
              <a:buNone/>
            </a:pPr>
            <a:r>
              <a:rPr lang="en-US" sz="1300" b="1" dirty="0">
                <a:solidFill>
                  <a:srgbClr val="3DDC84"/>
                </a:solidFill>
                <a:latin typeface="Calibri" pitchFamily="34" charset="0"/>
                <a:ea typeface="Calibri" pitchFamily="34" charset="-122"/>
                <a:cs typeface="Calibri" pitchFamily="34" charset="-120"/>
              </a:rPr>
              <a:t>4 Languages</a:t>
            </a:r>
            <a:endParaRPr lang="en-US" sz="1300" dirty="0"/>
          </a:p>
        </p:txBody>
      </p:sp>
      <p:sp>
        <p:nvSpPr>
          <p:cNvPr id="18" name="Text 16"/>
          <p:cNvSpPr/>
          <p:nvPr/>
        </p:nvSpPr>
        <p:spPr>
          <a:xfrm>
            <a:off x="502920" y="3520440"/>
            <a:ext cx="1691640" cy="731520"/>
          </a:xfrm>
          <a:prstGeom prst="rect">
            <a:avLst/>
          </a:prstGeom>
          <a:noFill/>
          <a:ln/>
        </p:spPr>
        <p:txBody>
          <a:bodyPr wrap="square" lIns="0" tIns="0" rIns="0" bIns="0" rtlCol="0" anchor="ctr"/>
          <a:lstStyle/>
          <a:p>
            <a:pPr indent="0" marL="0">
              <a:lnSpc>
                <a:spcPct val="130000"/>
              </a:lnSpc>
              <a:buNone/>
            </a:pPr>
            <a:r>
              <a:rPr lang="en-US" sz="1100" dirty="0">
                <a:solidFill>
                  <a:srgbClr val="E8E8E0"/>
                </a:solidFill>
                <a:latin typeface="Calibri" pitchFamily="34" charset="0"/>
                <a:ea typeface="Calibri" pitchFamily="34" charset="-122"/>
                <a:cs typeface="Calibri" pitchFamily="34" charset="-120"/>
              </a:rPr>
              <a:t>EN / ES / PT / FR</a:t>
            </a:r>
            <a:endParaRPr lang="en-US" sz="1100" dirty="0"/>
          </a:p>
          <a:p>
            <a:pPr indent="0" marL="0">
              <a:lnSpc>
                <a:spcPct val="130000"/>
              </a:lnSpc>
              <a:buNone/>
            </a:pPr>
            <a:r>
              <a:rPr lang="en-US" sz="1100" dirty="0">
                <a:solidFill>
                  <a:srgbClr val="E8E8E0"/>
                </a:solidFill>
                <a:latin typeface="Calibri" pitchFamily="34" charset="0"/>
                <a:ea typeface="Calibri" pitchFamily="34" charset="-122"/>
                <a:cs typeface="Calibri" pitchFamily="34" charset="-120"/>
              </a:rPr>
              <a:t>auto-detected per patient</a:t>
            </a:r>
            <a:endParaRPr lang="en-US" sz="1100" dirty="0"/>
          </a:p>
        </p:txBody>
      </p:sp>
      <p:sp>
        <p:nvSpPr>
          <p:cNvPr id="19" name="Shape 17"/>
          <p:cNvSpPr/>
          <p:nvPr/>
        </p:nvSpPr>
        <p:spPr>
          <a:xfrm>
            <a:off x="2560320" y="3017520"/>
            <a:ext cx="1965960" cy="1417320"/>
          </a:xfrm>
          <a:prstGeom prst="roundRect">
            <a:avLst>
              <a:gd name="adj" fmla="val 6452"/>
            </a:avLst>
          </a:prstGeom>
          <a:solidFill>
            <a:srgbClr val="374738"/>
          </a:solidFill>
          <a:ln/>
        </p:spPr>
      </p:sp>
      <p:sp>
        <p:nvSpPr>
          <p:cNvPr id="20" name="Text 18"/>
          <p:cNvSpPr/>
          <p:nvPr/>
        </p:nvSpPr>
        <p:spPr>
          <a:xfrm>
            <a:off x="2697480" y="3127248"/>
            <a:ext cx="1691640" cy="411480"/>
          </a:xfrm>
          <a:prstGeom prst="rect">
            <a:avLst/>
          </a:prstGeom>
          <a:noFill/>
          <a:ln/>
        </p:spPr>
        <p:txBody>
          <a:bodyPr wrap="square" lIns="0" tIns="0" rIns="0" bIns="0" rtlCol="0" anchor="ctr"/>
          <a:lstStyle/>
          <a:p>
            <a:pPr indent="0" marL="0">
              <a:buNone/>
            </a:pPr>
            <a:r>
              <a:rPr lang="en-US" sz="1300" b="1" dirty="0">
                <a:solidFill>
                  <a:srgbClr val="3DDC84"/>
                </a:solidFill>
                <a:latin typeface="Calibri" pitchFamily="34" charset="0"/>
                <a:ea typeface="Calibri" pitchFamily="34" charset="-122"/>
                <a:cs typeface="Calibri" pitchFamily="34" charset="-120"/>
              </a:rPr>
              <a:t>Clinical Documentation</a:t>
            </a:r>
            <a:endParaRPr lang="en-US" sz="1300" dirty="0"/>
          </a:p>
        </p:txBody>
      </p:sp>
      <p:sp>
        <p:nvSpPr>
          <p:cNvPr id="21" name="Text 19"/>
          <p:cNvSpPr/>
          <p:nvPr/>
        </p:nvSpPr>
        <p:spPr>
          <a:xfrm>
            <a:off x="2697480" y="3520440"/>
            <a:ext cx="1691640" cy="731520"/>
          </a:xfrm>
          <a:prstGeom prst="rect">
            <a:avLst/>
          </a:prstGeom>
          <a:noFill/>
          <a:ln/>
        </p:spPr>
        <p:txBody>
          <a:bodyPr wrap="square" lIns="0" tIns="0" rIns="0" bIns="0" rtlCol="0" anchor="ctr"/>
          <a:lstStyle/>
          <a:p>
            <a:pPr indent="0" marL="0">
              <a:lnSpc>
                <a:spcPct val="130000"/>
              </a:lnSpc>
              <a:buNone/>
            </a:pPr>
            <a:r>
              <a:rPr lang="en-US" sz="1100" dirty="0">
                <a:solidFill>
                  <a:srgbClr val="E8E8E0"/>
                </a:solidFill>
                <a:latin typeface="Calibri" pitchFamily="34" charset="0"/>
                <a:ea typeface="Calibri" pitchFamily="34" charset="-122"/>
                <a:cs typeface="Calibri" pitchFamily="34" charset="-120"/>
              </a:rPr>
              <a:t>Doctor-ready structured output</a:t>
            </a:r>
            <a:endParaRPr lang="en-US" sz="1100" dirty="0"/>
          </a:p>
          <a:p>
            <a:pPr indent="0" marL="0">
              <a:lnSpc>
                <a:spcPct val="130000"/>
              </a:lnSpc>
              <a:buNone/>
            </a:pPr>
            <a:r>
              <a:rPr lang="en-US" sz="1100" dirty="0">
                <a:solidFill>
                  <a:srgbClr val="E8E8E0"/>
                </a:solidFill>
                <a:latin typeface="Calibri" pitchFamily="34" charset="0"/>
                <a:ea typeface="Calibri" pitchFamily="34" charset="-122"/>
                <a:cs typeface="Calibri" pitchFamily="34" charset="-120"/>
              </a:rPr>
              <a:t>per concern per encounter</a:t>
            </a:r>
            <a:endParaRPr lang="en-US" sz="1100" dirty="0"/>
          </a:p>
        </p:txBody>
      </p:sp>
      <p:sp>
        <p:nvSpPr>
          <p:cNvPr id="22" name="Shape 20"/>
          <p:cNvSpPr/>
          <p:nvPr/>
        </p:nvSpPr>
        <p:spPr>
          <a:xfrm>
            <a:off x="4754880" y="3017520"/>
            <a:ext cx="1965960" cy="1417320"/>
          </a:xfrm>
          <a:prstGeom prst="roundRect">
            <a:avLst>
              <a:gd name="adj" fmla="val 6452"/>
            </a:avLst>
          </a:prstGeom>
          <a:solidFill>
            <a:srgbClr val="374738"/>
          </a:solidFill>
          <a:ln/>
        </p:spPr>
      </p:sp>
      <p:sp>
        <p:nvSpPr>
          <p:cNvPr id="23" name="Text 21"/>
          <p:cNvSpPr/>
          <p:nvPr/>
        </p:nvSpPr>
        <p:spPr>
          <a:xfrm>
            <a:off x="4892040" y="3127248"/>
            <a:ext cx="1691640" cy="411480"/>
          </a:xfrm>
          <a:prstGeom prst="rect">
            <a:avLst/>
          </a:prstGeom>
          <a:noFill/>
          <a:ln/>
        </p:spPr>
        <p:txBody>
          <a:bodyPr wrap="square" lIns="0" tIns="0" rIns="0" bIns="0" rtlCol="0" anchor="ctr"/>
          <a:lstStyle/>
          <a:p>
            <a:pPr indent="0" marL="0">
              <a:buNone/>
            </a:pPr>
            <a:r>
              <a:rPr lang="en-US" sz="1300" b="1" dirty="0">
                <a:solidFill>
                  <a:srgbClr val="3DDC84"/>
                </a:solidFill>
                <a:latin typeface="Calibri" pitchFamily="34" charset="0"/>
                <a:ea typeface="Calibri" pitchFamily="34" charset="-122"/>
                <a:cs typeface="Calibri" pitchFamily="34" charset="-120"/>
              </a:rPr>
              <a:t>Patient Interface</a:t>
            </a:r>
            <a:endParaRPr lang="en-US" sz="1300" dirty="0"/>
          </a:p>
        </p:txBody>
      </p:sp>
      <p:sp>
        <p:nvSpPr>
          <p:cNvPr id="24" name="Text 22"/>
          <p:cNvSpPr/>
          <p:nvPr/>
        </p:nvSpPr>
        <p:spPr>
          <a:xfrm>
            <a:off x="4892040" y="3520440"/>
            <a:ext cx="1691640" cy="731520"/>
          </a:xfrm>
          <a:prstGeom prst="rect">
            <a:avLst/>
          </a:prstGeom>
          <a:noFill/>
          <a:ln/>
        </p:spPr>
        <p:txBody>
          <a:bodyPr wrap="square" lIns="0" tIns="0" rIns="0" bIns="0" rtlCol="0" anchor="ctr"/>
          <a:lstStyle/>
          <a:p>
            <a:pPr indent="0" marL="0">
              <a:lnSpc>
                <a:spcPct val="130000"/>
              </a:lnSpc>
              <a:buNone/>
            </a:pPr>
            <a:r>
              <a:rPr lang="en-US" sz="1100" dirty="0">
                <a:solidFill>
                  <a:srgbClr val="E8E8E0"/>
                </a:solidFill>
                <a:latin typeface="Calibri" pitchFamily="34" charset="0"/>
                <a:ea typeface="Calibri" pitchFamily="34" charset="-122"/>
                <a:cs typeface="Calibri" pitchFamily="34" charset="-120"/>
              </a:rPr>
              <a:t>Portal: history, questions,</a:t>
            </a:r>
            <a:endParaRPr lang="en-US" sz="1100" dirty="0"/>
          </a:p>
          <a:p>
            <a:pPr indent="0" marL="0">
              <a:lnSpc>
                <a:spcPct val="130000"/>
              </a:lnSpc>
              <a:buNone/>
            </a:pPr>
            <a:r>
              <a:rPr lang="en-US" sz="1100" dirty="0">
                <a:solidFill>
                  <a:srgbClr val="E8E8E0"/>
                </a:solidFill>
                <a:latin typeface="Calibri" pitchFamily="34" charset="0"/>
                <a:ea typeface="Calibri" pitchFamily="34" charset="-122"/>
                <a:cs typeface="Calibri" pitchFamily="34" charset="-120"/>
              </a:rPr>
              <a:t>appointment preparation</a:t>
            </a:r>
            <a:endParaRPr lang="en-US" sz="1100" dirty="0"/>
          </a:p>
        </p:txBody>
      </p:sp>
      <p:sp>
        <p:nvSpPr>
          <p:cNvPr id="25" name="Shape 23"/>
          <p:cNvSpPr/>
          <p:nvPr/>
        </p:nvSpPr>
        <p:spPr>
          <a:xfrm>
            <a:off x="6949440" y="3017520"/>
            <a:ext cx="1965960" cy="1417320"/>
          </a:xfrm>
          <a:prstGeom prst="roundRect">
            <a:avLst>
              <a:gd name="adj" fmla="val 6452"/>
            </a:avLst>
          </a:prstGeom>
          <a:solidFill>
            <a:srgbClr val="374738"/>
          </a:solidFill>
          <a:ln/>
        </p:spPr>
      </p:sp>
      <p:sp>
        <p:nvSpPr>
          <p:cNvPr id="26" name="Text 24"/>
          <p:cNvSpPr/>
          <p:nvPr/>
        </p:nvSpPr>
        <p:spPr>
          <a:xfrm>
            <a:off x="7086600" y="3127248"/>
            <a:ext cx="1691640" cy="411480"/>
          </a:xfrm>
          <a:prstGeom prst="rect">
            <a:avLst/>
          </a:prstGeom>
          <a:noFill/>
          <a:ln/>
        </p:spPr>
        <p:txBody>
          <a:bodyPr wrap="square" lIns="0" tIns="0" rIns="0" bIns="0" rtlCol="0" anchor="ctr"/>
          <a:lstStyle/>
          <a:p>
            <a:pPr indent="0" marL="0">
              <a:buNone/>
            </a:pPr>
            <a:r>
              <a:rPr lang="en-US" sz="1300" b="1" dirty="0">
                <a:solidFill>
                  <a:srgbClr val="3DDC84"/>
                </a:solidFill>
                <a:latin typeface="Calibri" pitchFamily="34" charset="0"/>
                <a:ea typeface="Calibri" pitchFamily="34" charset="-122"/>
                <a:cs typeface="Calibri" pitchFamily="34" charset="-120"/>
              </a:rPr>
              <a:t>Pre-Visit Summaries</a:t>
            </a:r>
            <a:endParaRPr lang="en-US" sz="1300" dirty="0"/>
          </a:p>
        </p:txBody>
      </p:sp>
      <p:sp>
        <p:nvSpPr>
          <p:cNvPr id="27" name="Text 25"/>
          <p:cNvSpPr/>
          <p:nvPr/>
        </p:nvSpPr>
        <p:spPr>
          <a:xfrm>
            <a:off x="7086600" y="3520440"/>
            <a:ext cx="1691640" cy="731520"/>
          </a:xfrm>
          <a:prstGeom prst="rect">
            <a:avLst/>
          </a:prstGeom>
          <a:noFill/>
          <a:ln/>
        </p:spPr>
        <p:txBody>
          <a:bodyPr wrap="square" lIns="0" tIns="0" rIns="0" bIns="0" rtlCol="0" anchor="ctr"/>
          <a:lstStyle/>
          <a:p>
            <a:pPr indent="0" marL="0">
              <a:lnSpc>
                <a:spcPct val="130000"/>
              </a:lnSpc>
              <a:buNone/>
            </a:pPr>
            <a:r>
              <a:rPr lang="en-US" sz="1100" dirty="0">
                <a:solidFill>
                  <a:srgbClr val="E8E8E0"/>
                </a:solidFill>
                <a:latin typeface="Calibri" pitchFamily="34" charset="0"/>
                <a:ea typeface="Calibri" pitchFamily="34" charset="-122"/>
                <a:cs typeface="Calibri" pitchFamily="34" charset="-120"/>
              </a:rPr>
              <a:t>Structured signal delivered</a:t>
            </a:r>
            <a:endParaRPr lang="en-US" sz="1100" dirty="0"/>
          </a:p>
          <a:p>
            <a:pPr indent="0" marL="0">
              <a:lnSpc>
                <a:spcPct val="130000"/>
              </a:lnSpc>
              <a:buNone/>
            </a:pPr>
            <a:r>
              <a:rPr lang="en-US" sz="1100" dirty="0">
                <a:solidFill>
                  <a:srgbClr val="E8E8E0"/>
                </a:solidFill>
                <a:latin typeface="Calibri" pitchFamily="34" charset="0"/>
                <a:ea typeface="Calibri" pitchFamily="34" charset="-122"/>
                <a:cs typeface="Calibri" pitchFamily="34" charset="-120"/>
              </a:rPr>
              <a:t>before encounter begins</a:t>
            </a:r>
            <a:endParaRPr lang="en-US" sz="1100" dirty="0"/>
          </a:p>
        </p:txBody>
      </p:sp>
      <p:sp>
        <p:nvSpPr>
          <p:cNvPr id="28" name="Text 26"/>
          <p:cNvSpPr/>
          <p:nvPr/>
        </p:nvSpPr>
        <p:spPr>
          <a:xfrm>
            <a:off x="731520" y="4617720"/>
            <a:ext cx="7680960" cy="320040"/>
          </a:xfrm>
          <a:prstGeom prst="rect">
            <a:avLst/>
          </a:prstGeom>
          <a:noFill/>
          <a:ln/>
        </p:spPr>
        <p:txBody>
          <a:bodyPr wrap="square" lIns="0" tIns="0" rIns="0" bIns="0" rtlCol="0" anchor="ctr"/>
          <a:lstStyle/>
          <a:p>
            <a:pPr algn="ctr" indent="0" marL="0">
              <a:buNone/>
            </a:pPr>
            <a:r>
              <a:rPr lang="en-US" sz="1300" b="1" dirty="0">
                <a:solidFill>
                  <a:srgbClr val="E8A838"/>
                </a:solidFill>
                <a:latin typeface="Calibri" pitchFamily="34" charset="0"/>
                <a:ea typeface="Calibri" pitchFamily="34" charset="-122"/>
                <a:cs typeface="Calibri" pitchFamily="34" charset="-120"/>
              </a:rPr>
              <a:t>This is not a prototype. It is deployed infrastructure processing real patient signal.</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C3E2D"/>
        </a:solidFill>
      </p:bgPr>
    </p:bg>
    <p:spTree>
      <p:nvGrpSpPr>
        <p:cNvPr id="1" name=""/>
        <p:cNvGrpSpPr/>
        <p:nvPr/>
      </p:nvGrpSpPr>
      <p:grpSpPr>
        <a:xfrm>
          <a:off x="0" y="0"/>
          <a:ext cx="0" cy="0"/>
          <a:chOff x="0" y="0"/>
          <a:chExt cx="0" cy="0"/>
        </a:xfrm>
      </p:grpSpPr>
      <p:sp>
        <p:nvSpPr>
          <p:cNvPr id="2" name="Text 0"/>
          <p:cNvSpPr/>
          <p:nvPr/>
        </p:nvSpPr>
        <p:spPr>
          <a:xfrm>
            <a:off x="731520" y="274320"/>
            <a:ext cx="7680960" cy="64008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Deployment Sequence</a:t>
            </a:r>
            <a:endParaRPr lang="en-US" sz="3400" dirty="0"/>
          </a:p>
        </p:txBody>
      </p:sp>
      <p:sp>
        <p:nvSpPr>
          <p:cNvPr id="3" name="Shape 1"/>
          <p:cNvSpPr/>
          <p:nvPr/>
        </p:nvSpPr>
        <p:spPr>
          <a:xfrm>
            <a:off x="274320" y="1097280"/>
            <a:ext cx="2011680" cy="3840480"/>
          </a:xfrm>
          <a:prstGeom prst="roundRect">
            <a:avLst>
              <a:gd name="adj" fmla="val 5455"/>
            </a:avLst>
          </a:prstGeom>
          <a:solidFill>
            <a:srgbClr val="374738"/>
          </a:solidFill>
          <a:ln/>
        </p:spPr>
      </p:sp>
      <p:sp>
        <p:nvSpPr>
          <p:cNvPr id="4" name="Shape 2"/>
          <p:cNvSpPr/>
          <p:nvPr/>
        </p:nvSpPr>
        <p:spPr>
          <a:xfrm>
            <a:off x="274320" y="1097280"/>
            <a:ext cx="2011680" cy="457200"/>
          </a:xfrm>
          <a:prstGeom prst="rect">
            <a:avLst/>
          </a:prstGeom>
          <a:solidFill>
            <a:srgbClr val="2E915E"/>
          </a:solidFill>
          <a:ln/>
        </p:spPr>
      </p:sp>
      <p:sp>
        <p:nvSpPr>
          <p:cNvPr id="5" name="Text 3"/>
          <p:cNvSpPr/>
          <p:nvPr/>
        </p:nvSpPr>
        <p:spPr>
          <a:xfrm>
            <a:off x="365760" y="1115568"/>
            <a:ext cx="182880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Phase 1</a:t>
            </a:r>
            <a:endParaRPr lang="en-US" sz="1400" dirty="0"/>
          </a:p>
        </p:txBody>
      </p:sp>
      <p:sp>
        <p:nvSpPr>
          <p:cNvPr id="6" name="Text 4"/>
          <p:cNvSpPr/>
          <p:nvPr/>
        </p:nvSpPr>
        <p:spPr>
          <a:xfrm>
            <a:off x="411480" y="1691640"/>
            <a:ext cx="1737360" cy="274320"/>
          </a:xfrm>
          <a:prstGeom prst="rect">
            <a:avLst/>
          </a:prstGeom>
          <a:noFill/>
          <a:ln/>
        </p:spPr>
        <p:txBody>
          <a:bodyPr wrap="square" lIns="0" tIns="0" rIns="0" bIns="0" rtlCol="0" anchor="ctr"/>
          <a:lstStyle/>
          <a:p>
            <a:pPr indent="0" marL="0">
              <a:buNone/>
            </a:pPr>
            <a:r>
              <a:rPr lang="en-US" sz="1100" dirty="0">
                <a:solidFill>
                  <a:srgbClr val="3DDC84"/>
                </a:solidFill>
                <a:latin typeface="Calibri" pitchFamily="34" charset="0"/>
                <a:ea typeface="Calibri" pitchFamily="34" charset="-122"/>
                <a:cs typeface="Calibri" pitchFamily="34" charset="-120"/>
              </a:rPr>
              <a:t>Months 1–4</a:t>
            </a:r>
            <a:endParaRPr lang="en-US" sz="1100" dirty="0"/>
          </a:p>
        </p:txBody>
      </p:sp>
      <p:sp>
        <p:nvSpPr>
          <p:cNvPr id="7" name="Text 5"/>
          <p:cNvSpPr/>
          <p:nvPr/>
        </p:nvSpPr>
        <p:spPr>
          <a:xfrm>
            <a:off x="411480" y="1965960"/>
            <a:ext cx="17373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Compliance</a:t>
            </a:r>
            <a:endParaRPr lang="en-US" sz="1600" dirty="0"/>
          </a:p>
        </p:txBody>
      </p:sp>
      <p:sp>
        <p:nvSpPr>
          <p:cNvPr id="8" name="Text 6"/>
          <p:cNvSpPr/>
          <p:nvPr/>
        </p:nvSpPr>
        <p:spPr>
          <a:xfrm>
            <a:off x="411480" y="2423160"/>
            <a:ext cx="1737360" cy="2286000"/>
          </a:xfrm>
          <a:prstGeom prst="rect">
            <a:avLst/>
          </a:prstGeom>
          <a:noFill/>
          <a:ln/>
        </p:spPr>
        <p:txBody>
          <a:bodyPr wrap="square" lIns="0" tIns="0" rIns="0" bIns="0" rtlCol="0" anchor="ctr"/>
          <a:lstStyle/>
          <a:p>
            <a:pPr indent="0" marL="0">
              <a:lnSpc>
                <a:spcPct val="145000"/>
              </a:lnSpc>
              <a:buNone/>
            </a:pPr>
            <a:r>
              <a:rPr lang="en-US" sz="1100" dirty="0">
                <a:solidFill>
                  <a:srgbClr val="E8E8E0"/>
                </a:solidFill>
                <a:latin typeface="Calibri" pitchFamily="34" charset="0"/>
                <a:ea typeface="Calibri" pitchFamily="34" charset="-122"/>
                <a:cs typeface="Calibri" pitchFamily="34" charset="-120"/>
              </a:rPr>
              <a:t>HIPAA-compliant SMS (Twilio BAA)</a:t>
            </a:r>
            <a:endParaRPr lang="en-US" sz="1100" dirty="0"/>
          </a:p>
          <a:p>
            <a:pPr indent="0" marL="0">
              <a:lnSpc>
                <a:spcPct val="145000"/>
              </a:lnSpc>
              <a:buNone/>
            </a:pPr>
            <a:r>
              <a:rPr lang="en-US" sz="1100" dirty="0">
                <a:solidFill>
                  <a:srgbClr val="E8E8E0"/>
                </a:solidFill>
                <a:latin typeface="Calibri" pitchFamily="34" charset="0"/>
                <a:ea typeface="Calibri" pitchFamily="34" charset="-122"/>
                <a:cs typeface="Calibri" pitchFamily="34" charset="-120"/>
              </a:rPr>
              <a:t>Time tracking engine</a:t>
            </a:r>
            <a:endParaRPr lang="en-US" sz="1100" dirty="0"/>
          </a:p>
          <a:p>
            <a:pPr indent="0" marL="0">
              <a:lnSpc>
                <a:spcPct val="145000"/>
              </a:lnSpc>
              <a:buNone/>
            </a:pPr>
            <a:r>
              <a:rPr lang="en-US" sz="1100" dirty="0">
                <a:solidFill>
                  <a:srgbClr val="E8E8E0"/>
                </a:solidFill>
                <a:latin typeface="Calibri" pitchFamily="34" charset="0"/>
                <a:ea typeface="Calibri" pitchFamily="34" charset="-122"/>
                <a:cs typeface="Calibri" pitchFamily="34" charset="-120"/>
              </a:rPr>
              <a:t>Consent + enrollment flow</a:t>
            </a:r>
            <a:endParaRPr lang="en-US" sz="1100" dirty="0"/>
          </a:p>
          <a:p>
            <a:pPr indent="0" marL="0">
              <a:lnSpc>
                <a:spcPct val="145000"/>
              </a:lnSpc>
              <a:buNone/>
            </a:pPr>
            <a:r>
              <a:rPr lang="en-US" sz="1100" dirty="0">
                <a:solidFill>
                  <a:srgbClr val="E8E8E0"/>
                </a:solidFill>
                <a:latin typeface="Calibri" pitchFamily="34" charset="0"/>
                <a:ea typeface="Calibri" pitchFamily="34" charset="-122"/>
                <a:cs typeface="Calibri" pitchFamily="34" charset="-120"/>
              </a:rPr>
              <a:t>CCM care plan structure</a:t>
            </a:r>
            <a:endParaRPr lang="en-US" sz="1100" dirty="0"/>
          </a:p>
          <a:p>
            <a:pPr indent="0" marL="0">
              <a:lnSpc>
                <a:spcPct val="145000"/>
              </a:lnSpc>
              <a:buNone/>
            </a:pPr>
            <a:r>
              <a:rPr lang="en-US" sz="1100" dirty="0">
                <a:solidFill>
                  <a:srgbClr val="E8E8E0"/>
                </a:solidFill>
                <a:latin typeface="Calibri" pitchFamily="34" charset="0"/>
                <a:ea typeface="Calibri" pitchFamily="34" charset="-122"/>
                <a:cs typeface="Calibri" pitchFamily="34" charset="-120"/>
              </a:rPr>
              <a:t>Compliance review + legal</a:t>
            </a:r>
            <a:endParaRPr lang="en-US" sz="1100" dirty="0"/>
          </a:p>
        </p:txBody>
      </p:sp>
      <p:sp>
        <p:nvSpPr>
          <p:cNvPr id="9" name="Shape 7"/>
          <p:cNvSpPr/>
          <p:nvPr/>
        </p:nvSpPr>
        <p:spPr>
          <a:xfrm>
            <a:off x="2468880" y="1097280"/>
            <a:ext cx="2011680" cy="3840480"/>
          </a:xfrm>
          <a:prstGeom prst="roundRect">
            <a:avLst>
              <a:gd name="adj" fmla="val 5455"/>
            </a:avLst>
          </a:prstGeom>
          <a:solidFill>
            <a:srgbClr val="374738"/>
          </a:solidFill>
          <a:ln/>
        </p:spPr>
      </p:sp>
      <p:sp>
        <p:nvSpPr>
          <p:cNvPr id="10" name="Shape 8"/>
          <p:cNvSpPr/>
          <p:nvPr/>
        </p:nvSpPr>
        <p:spPr>
          <a:xfrm>
            <a:off x="2468880" y="1097280"/>
            <a:ext cx="2011680" cy="457200"/>
          </a:xfrm>
          <a:prstGeom prst="rect">
            <a:avLst/>
          </a:prstGeom>
          <a:solidFill>
            <a:srgbClr val="216F64"/>
          </a:solidFill>
          <a:ln/>
        </p:spPr>
      </p:sp>
      <p:sp>
        <p:nvSpPr>
          <p:cNvPr id="11" name="Text 9"/>
          <p:cNvSpPr/>
          <p:nvPr/>
        </p:nvSpPr>
        <p:spPr>
          <a:xfrm>
            <a:off x="2560320" y="1115568"/>
            <a:ext cx="182880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Phase 2</a:t>
            </a:r>
            <a:endParaRPr lang="en-US" sz="1400" dirty="0"/>
          </a:p>
        </p:txBody>
      </p:sp>
      <p:sp>
        <p:nvSpPr>
          <p:cNvPr id="12" name="Text 10"/>
          <p:cNvSpPr/>
          <p:nvPr/>
        </p:nvSpPr>
        <p:spPr>
          <a:xfrm>
            <a:off x="2606040" y="1691640"/>
            <a:ext cx="1737360" cy="274320"/>
          </a:xfrm>
          <a:prstGeom prst="rect">
            <a:avLst/>
          </a:prstGeom>
          <a:noFill/>
          <a:ln/>
        </p:spPr>
        <p:txBody>
          <a:bodyPr wrap="square" lIns="0" tIns="0" rIns="0" bIns="0" rtlCol="0" anchor="ctr"/>
          <a:lstStyle/>
          <a:p>
            <a:pPr indent="0" marL="0">
              <a:buNone/>
            </a:pPr>
            <a:r>
              <a:rPr lang="en-US" sz="1100" dirty="0">
                <a:solidFill>
                  <a:srgbClr val="3DDC84"/>
                </a:solidFill>
                <a:latin typeface="Calibri" pitchFamily="34" charset="0"/>
                <a:ea typeface="Calibri" pitchFamily="34" charset="-122"/>
                <a:cs typeface="Calibri" pitchFamily="34" charset="-120"/>
              </a:rPr>
              <a:t>Months 4–8</a:t>
            </a:r>
            <a:endParaRPr lang="en-US" sz="1100" dirty="0"/>
          </a:p>
        </p:txBody>
      </p:sp>
      <p:sp>
        <p:nvSpPr>
          <p:cNvPr id="13" name="Text 11"/>
          <p:cNvSpPr/>
          <p:nvPr/>
        </p:nvSpPr>
        <p:spPr>
          <a:xfrm>
            <a:off x="2606040" y="1965960"/>
            <a:ext cx="17373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Validation</a:t>
            </a:r>
            <a:endParaRPr lang="en-US" sz="1600" dirty="0"/>
          </a:p>
        </p:txBody>
      </p:sp>
      <p:sp>
        <p:nvSpPr>
          <p:cNvPr id="14" name="Text 12"/>
          <p:cNvSpPr/>
          <p:nvPr/>
        </p:nvSpPr>
        <p:spPr>
          <a:xfrm>
            <a:off x="2606040" y="2423160"/>
            <a:ext cx="1737360" cy="2286000"/>
          </a:xfrm>
          <a:prstGeom prst="rect">
            <a:avLst/>
          </a:prstGeom>
          <a:noFill/>
          <a:ln/>
        </p:spPr>
        <p:txBody>
          <a:bodyPr wrap="square" lIns="0" tIns="0" rIns="0" bIns="0" rtlCol="0" anchor="ctr"/>
          <a:lstStyle/>
          <a:p>
            <a:pPr indent="0" marL="0">
              <a:lnSpc>
                <a:spcPct val="145000"/>
              </a:lnSpc>
              <a:buNone/>
            </a:pPr>
            <a:r>
              <a:rPr lang="en-US" sz="1100" dirty="0">
                <a:solidFill>
                  <a:srgbClr val="E8E8E0"/>
                </a:solidFill>
                <a:latin typeface="Calibri" pitchFamily="34" charset="0"/>
                <a:ea typeface="Calibri" pitchFamily="34" charset="-122"/>
                <a:cs typeface="Calibri" pitchFamily="34" charset="-120"/>
              </a:rPr>
              <a:t>3 pilot FQHCs (free 90 days)</a:t>
            </a:r>
            <a:endParaRPr lang="en-US" sz="1100" dirty="0"/>
          </a:p>
          <a:p>
            <a:pPr indent="0" marL="0">
              <a:lnSpc>
                <a:spcPct val="145000"/>
              </a:lnSpc>
              <a:buNone/>
            </a:pPr>
            <a:r>
              <a:rPr lang="en-US" sz="1100" dirty="0">
                <a:solidFill>
                  <a:srgbClr val="E8E8E0"/>
                </a:solidFill>
                <a:latin typeface="Calibri" pitchFamily="34" charset="0"/>
                <a:ea typeface="Calibri" pitchFamily="34" charset="-122"/>
                <a:cs typeface="Calibri" pitchFamily="34" charset="-120"/>
              </a:rPr>
              <a:t>Clinic-facing dashboard</a:t>
            </a:r>
            <a:endParaRPr lang="en-US" sz="1100" dirty="0"/>
          </a:p>
          <a:p>
            <a:pPr indent="0" marL="0">
              <a:lnSpc>
                <a:spcPct val="145000"/>
              </a:lnSpc>
              <a:buNone/>
            </a:pPr>
            <a:r>
              <a:rPr lang="en-US" sz="1100" dirty="0">
                <a:solidFill>
                  <a:srgbClr val="E8E8E0"/>
                </a:solidFill>
                <a:latin typeface="Calibri" pitchFamily="34" charset="0"/>
                <a:ea typeface="Calibri" pitchFamily="34" charset="-122"/>
                <a:cs typeface="Calibri" pitchFamily="34" charset="-120"/>
              </a:rPr>
              <a:t>Billing export automation</a:t>
            </a:r>
            <a:endParaRPr lang="en-US" sz="1100" dirty="0"/>
          </a:p>
          <a:p>
            <a:pPr indent="0" marL="0">
              <a:lnSpc>
                <a:spcPct val="145000"/>
              </a:lnSpc>
              <a:buNone/>
            </a:pPr>
            <a:r>
              <a:rPr lang="en-US" sz="1100" dirty="0">
                <a:solidFill>
                  <a:srgbClr val="E8E8E0"/>
                </a:solidFill>
                <a:latin typeface="Calibri" pitchFamily="34" charset="0"/>
                <a:ea typeface="Calibri" pitchFamily="34" charset="-122"/>
                <a:cs typeface="Calibri" pitchFamily="34" charset="-120"/>
              </a:rPr>
              <a:t>Documentation iteration</a:t>
            </a:r>
            <a:endParaRPr lang="en-US" sz="1100" dirty="0"/>
          </a:p>
          <a:p>
            <a:pPr indent="0" marL="0">
              <a:lnSpc>
                <a:spcPct val="145000"/>
              </a:lnSpc>
              <a:buNone/>
            </a:pPr>
            <a:r>
              <a:rPr lang="en-US" sz="1100" dirty="0">
                <a:solidFill>
                  <a:srgbClr val="E8E8E0"/>
                </a:solidFill>
                <a:latin typeface="Calibri" pitchFamily="34" charset="0"/>
                <a:ea typeface="Calibri" pitchFamily="34" charset="-122"/>
                <a:cs typeface="Calibri" pitchFamily="34" charset="-120"/>
              </a:rPr>
              <a:t>Enrollment rate measurement</a:t>
            </a:r>
            <a:endParaRPr lang="en-US" sz="1100" dirty="0"/>
          </a:p>
        </p:txBody>
      </p:sp>
      <p:sp>
        <p:nvSpPr>
          <p:cNvPr id="15" name="Shape 13"/>
          <p:cNvSpPr/>
          <p:nvPr/>
        </p:nvSpPr>
        <p:spPr>
          <a:xfrm>
            <a:off x="4663440" y="1097280"/>
            <a:ext cx="2011680" cy="3840480"/>
          </a:xfrm>
          <a:prstGeom prst="roundRect">
            <a:avLst>
              <a:gd name="adj" fmla="val 5455"/>
            </a:avLst>
          </a:prstGeom>
          <a:solidFill>
            <a:srgbClr val="374738"/>
          </a:solidFill>
          <a:ln/>
        </p:spPr>
      </p:sp>
      <p:sp>
        <p:nvSpPr>
          <p:cNvPr id="16" name="Shape 14"/>
          <p:cNvSpPr/>
          <p:nvPr/>
        </p:nvSpPr>
        <p:spPr>
          <a:xfrm>
            <a:off x="4663440" y="1097280"/>
            <a:ext cx="2011680" cy="457200"/>
          </a:xfrm>
          <a:prstGeom prst="rect">
            <a:avLst/>
          </a:prstGeom>
          <a:solidFill>
            <a:srgbClr val="2E915E"/>
          </a:solidFill>
          <a:ln/>
        </p:spPr>
      </p:sp>
      <p:sp>
        <p:nvSpPr>
          <p:cNvPr id="17" name="Text 15"/>
          <p:cNvSpPr/>
          <p:nvPr/>
        </p:nvSpPr>
        <p:spPr>
          <a:xfrm>
            <a:off x="4754880" y="1115568"/>
            <a:ext cx="182880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Phase 3</a:t>
            </a:r>
            <a:endParaRPr lang="en-US" sz="1400" dirty="0"/>
          </a:p>
        </p:txBody>
      </p:sp>
      <p:sp>
        <p:nvSpPr>
          <p:cNvPr id="18" name="Text 16"/>
          <p:cNvSpPr/>
          <p:nvPr/>
        </p:nvSpPr>
        <p:spPr>
          <a:xfrm>
            <a:off x="4800600" y="1691640"/>
            <a:ext cx="1737360" cy="274320"/>
          </a:xfrm>
          <a:prstGeom prst="rect">
            <a:avLst/>
          </a:prstGeom>
          <a:noFill/>
          <a:ln/>
        </p:spPr>
        <p:txBody>
          <a:bodyPr wrap="square" lIns="0" tIns="0" rIns="0" bIns="0" rtlCol="0" anchor="ctr"/>
          <a:lstStyle/>
          <a:p>
            <a:pPr indent="0" marL="0">
              <a:buNone/>
            </a:pPr>
            <a:r>
              <a:rPr lang="en-US" sz="1100" dirty="0">
                <a:solidFill>
                  <a:srgbClr val="3DDC84"/>
                </a:solidFill>
                <a:latin typeface="Calibri" pitchFamily="34" charset="0"/>
                <a:ea typeface="Calibri" pitchFamily="34" charset="-122"/>
                <a:cs typeface="Calibri" pitchFamily="34" charset="-120"/>
              </a:rPr>
              <a:t>Months 8–14</a:t>
            </a:r>
            <a:endParaRPr lang="en-US" sz="1100" dirty="0"/>
          </a:p>
        </p:txBody>
      </p:sp>
      <p:sp>
        <p:nvSpPr>
          <p:cNvPr id="19" name="Text 17"/>
          <p:cNvSpPr/>
          <p:nvPr/>
        </p:nvSpPr>
        <p:spPr>
          <a:xfrm>
            <a:off x="4800600" y="1965960"/>
            <a:ext cx="17373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Revenue</a:t>
            </a:r>
            <a:endParaRPr lang="en-US" sz="1600" dirty="0"/>
          </a:p>
        </p:txBody>
      </p:sp>
      <p:sp>
        <p:nvSpPr>
          <p:cNvPr id="20" name="Text 18"/>
          <p:cNvSpPr/>
          <p:nvPr/>
        </p:nvSpPr>
        <p:spPr>
          <a:xfrm>
            <a:off x="4800600" y="2423160"/>
            <a:ext cx="1737360" cy="2286000"/>
          </a:xfrm>
          <a:prstGeom prst="rect">
            <a:avLst/>
          </a:prstGeom>
          <a:noFill/>
          <a:ln/>
        </p:spPr>
        <p:txBody>
          <a:bodyPr wrap="square" lIns="0" tIns="0" rIns="0" bIns="0" rtlCol="0" anchor="ctr"/>
          <a:lstStyle/>
          <a:p>
            <a:pPr indent="0" marL="0">
              <a:lnSpc>
                <a:spcPct val="145000"/>
              </a:lnSpc>
              <a:buNone/>
            </a:pPr>
            <a:r>
              <a:rPr lang="en-US" sz="1100" dirty="0">
                <a:solidFill>
                  <a:srgbClr val="E8E8E0"/>
                </a:solidFill>
                <a:latin typeface="Calibri" pitchFamily="34" charset="0"/>
                <a:ea typeface="Calibri" pitchFamily="34" charset="-122"/>
                <a:cs typeface="Calibri" pitchFamily="34" charset="-120"/>
              </a:rPr>
              <a:t>Convert pilots to contracts</a:t>
            </a:r>
            <a:endParaRPr lang="en-US" sz="1100" dirty="0"/>
          </a:p>
          <a:p>
            <a:pPr indent="0" marL="0">
              <a:lnSpc>
                <a:spcPct val="145000"/>
              </a:lnSpc>
              <a:buNone/>
            </a:pPr>
            <a:r>
              <a:rPr lang="en-US" sz="1100" dirty="0">
                <a:solidFill>
                  <a:srgbClr val="E8E8E0"/>
                </a:solidFill>
                <a:latin typeface="Calibri" pitchFamily="34" charset="0"/>
                <a:ea typeface="Calibri" pitchFamily="34" charset="-122"/>
                <a:cs typeface="Calibri" pitchFamily="34" charset="-120"/>
              </a:rPr>
              <a:t>EHR integration (Epic, eCW, athena)</a:t>
            </a:r>
            <a:endParaRPr lang="en-US" sz="1100" dirty="0"/>
          </a:p>
          <a:p>
            <a:pPr indent="0" marL="0">
              <a:lnSpc>
                <a:spcPct val="145000"/>
              </a:lnSpc>
              <a:buNone/>
            </a:pPr>
            <a:r>
              <a:rPr lang="en-US" sz="1100" dirty="0">
                <a:solidFill>
                  <a:srgbClr val="E8E8E0"/>
                </a:solidFill>
                <a:latin typeface="Calibri" pitchFamily="34" charset="0"/>
                <a:ea typeface="Calibri" pitchFamily="34" charset="-122"/>
                <a:cs typeface="Calibri" pitchFamily="34" charset="-120"/>
              </a:rPr>
              <a:t>Automated patient enrollment</a:t>
            </a:r>
            <a:endParaRPr lang="en-US" sz="1100" dirty="0"/>
          </a:p>
          <a:p>
            <a:pPr indent="0" marL="0">
              <a:lnSpc>
                <a:spcPct val="145000"/>
              </a:lnSpc>
              <a:buNone/>
            </a:pPr>
            <a:r>
              <a:rPr lang="en-US" sz="1100" dirty="0">
                <a:solidFill>
                  <a:srgbClr val="E8E8E0"/>
                </a:solidFill>
                <a:latin typeface="Calibri" pitchFamily="34" charset="0"/>
                <a:ea typeface="Calibri" pitchFamily="34" charset="-122"/>
                <a:cs typeface="Calibri" pitchFamily="34" charset="-120"/>
              </a:rPr>
              <a:t>Commission-based sales</a:t>
            </a:r>
            <a:endParaRPr lang="en-US" sz="1100" dirty="0"/>
          </a:p>
          <a:p>
            <a:pPr indent="0" marL="0">
              <a:lnSpc>
                <a:spcPct val="145000"/>
              </a:lnSpc>
              <a:buNone/>
            </a:pPr>
            <a:r>
              <a:rPr lang="en-US" sz="1100" dirty="0">
                <a:solidFill>
                  <a:srgbClr val="E8E8E0"/>
                </a:solidFill>
                <a:latin typeface="Calibri" pitchFamily="34" charset="0"/>
                <a:ea typeface="Calibri" pitchFamily="34" charset="-122"/>
                <a:cs typeface="Calibri" pitchFamily="34" charset="-120"/>
              </a:rPr>
              <a:t>10–15 paying clinics</a:t>
            </a:r>
            <a:endParaRPr lang="en-US" sz="1100" dirty="0"/>
          </a:p>
        </p:txBody>
      </p:sp>
      <p:sp>
        <p:nvSpPr>
          <p:cNvPr id="21" name="Shape 19"/>
          <p:cNvSpPr/>
          <p:nvPr/>
        </p:nvSpPr>
        <p:spPr>
          <a:xfrm>
            <a:off x="6858000" y="1097280"/>
            <a:ext cx="2011680" cy="3840480"/>
          </a:xfrm>
          <a:prstGeom prst="roundRect">
            <a:avLst>
              <a:gd name="adj" fmla="val 5455"/>
            </a:avLst>
          </a:prstGeom>
          <a:solidFill>
            <a:srgbClr val="374738"/>
          </a:solidFill>
          <a:ln/>
        </p:spPr>
      </p:sp>
      <p:sp>
        <p:nvSpPr>
          <p:cNvPr id="22" name="Shape 20"/>
          <p:cNvSpPr/>
          <p:nvPr/>
        </p:nvSpPr>
        <p:spPr>
          <a:xfrm>
            <a:off x="6858000" y="1097280"/>
            <a:ext cx="2011680" cy="457200"/>
          </a:xfrm>
          <a:prstGeom prst="rect">
            <a:avLst/>
          </a:prstGeom>
          <a:solidFill>
            <a:srgbClr val="216F64"/>
          </a:solidFill>
          <a:ln/>
        </p:spPr>
      </p:sp>
      <p:sp>
        <p:nvSpPr>
          <p:cNvPr id="23" name="Text 21"/>
          <p:cNvSpPr/>
          <p:nvPr/>
        </p:nvSpPr>
        <p:spPr>
          <a:xfrm>
            <a:off x="6949440" y="1115568"/>
            <a:ext cx="182880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Phase 4</a:t>
            </a:r>
            <a:endParaRPr lang="en-US" sz="1400" dirty="0"/>
          </a:p>
        </p:txBody>
      </p:sp>
      <p:sp>
        <p:nvSpPr>
          <p:cNvPr id="24" name="Text 22"/>
          <p:cNvSpPr/>
          <p:nvPr/>
        </p:nvSpPr>
        <p:spPr>
          <a:xfrm>
            <a:off x="6995160" y="1691640"/>
            <a:ext cx="1737360" cy="274320"/>
          </a:xfrm>
          <a:prstGeom prst="rect">
            <a:avLst/>
          </a:prstGeom>
          <a:noFill/>
          <a:ln/>
        </p:spPr>
        <p:txBody>
          <a:bodyPr wrap="square" lIns="0" tIns="0" rIns="0" bIns="0" rtlCol="0" anchor="ctr"/>
          <a:lstStyle/>
          <a:p>
            <a:pPr indent="0" marL="0">
              <a:buNone/>
            </a:pPr>
            <a:r>
              <a:rPr lang="en-US" sz="1100" dirty="0">
                <a:solidFill>
                  <a:srgbClr val="3DDC84"/>
                </a:solidFill>
                <a:latin typeface="Calibri" pitchFamily="34" charset="0"/>
                <a:ea typeface="Calibri" pitchFamily="34" charset="-122"/>
                <a:cs typeface="Calibri" pitchFamily="34" charset="-120"/>
              </a:rPr>
              <a:t>Months 14–24</a:t>
            </a:r>
            <a:endParaRPr lang="en-US" sz="1100" dirty="0"/>
          </a:p>
        </p:txBody>
      </p:sp>
      <p:sp>
        <p:nvSpPr>
          <p:cNvPr id="25" name="Text 23"/>
          <p:cNvSpPr/>
          <p:nvPr/>
        </p:nvSpPr>
        <p:spPr>
          <a:xfrm>
            <a:off x="6995160" y="1965960"/>
            <a:ext cx="17373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Scale</a:t>
            </a:r>
            <a:endParaRPr lang="en-US" sz="1600" dirty="0"/>
          </a:p>
        </p:txBody>
      </p:sp>
      <p:sp>
        <p:nvSpPr>
          <p:cNvPr id="26" name="Text 24"/>
          <p:cNvSpPr/>
          <p:nvPr/>
        </p:nvSpPr>
        <p:spPr>
          <a:xfrm>
            <a:off x="6995160" y="2423160"/>
            <a:ext cx="1737360" cy="2286000"/>
          </a:xfrm>
          <a:prstGeom prst="rect">
            <a:avLst/>
          </a:prstGeom>
          <a:noFill/>
          <a:ln/>
        </p:spPr>
        <p:txBody>
          <a:bodyPr wrap="square" lIns="0" tIns="0" rIns="0" bIns="0" rtlCol="0" anchor="ctr"/>
          <a:lstStyle/>
          <a:p>
            <a:pPr indent="0" marL="0">
              <a:lnSpc>
                <a:spcPct val="145000"/>
              </a:lnSpc>
              <a:buNone/>
            </a:pPr>
            <a:r>
              <a:rPr lang="en-US" sz="1100" dirty="0">
                <a:solidFill>
                  <a:srgbClr val="E8E8E0"/>
                </a:solidFill>
                <a:latin typeface="Calibri" pitchFamily="34" charset="0"/>
                <a:ea typeface="Calibri" pitchFamily="34" charset="-122"/>
                <a:cs typeface="Calibri" pitchFamily="34" charset="-120"/>
              </a:rPr>
              <a:t>Pre-seed raise ($1–2M)</a:t>
            </a:r>
            <a:endParaRPr lang="en-US" sz="1100" dirty="0"/>
          </a:p>
          <a:p>
            <a:pPr indent="0" marL="0">
              <a:lnSpc>
                <a:spcPct val="145000"/>
              </a:lnSpc>
              <a:buNone/>
            </a:pPr>
            <a:r>
              <a:rPr lang="en-US" sz="1100" dirty="0">
                <a:solidFill>
                  <a:srgbClr val="E8E8E0"/>
                </a:solidFill>
                <a:latin typeface="Calibri" pitchFamily="34" charset="0"/>
                <a:ea typeface="Calibri" pitchFamily="34" charset="-122"/>
                <a:cs typeface="Calibri" pitchFamily="34" charset="-120"/>
              </a:rPr>
              <a:t>SOC 2 Type II certification</a:t>
            </a:r>
            <a:endParaRPr lang="en-US" sz="1100" dirty="0"/>
          </a:p>
          <a:p>
            <a:pPr indent="0" marL="0">
              <a:lnSpc>
                <a:spcPct val="145000"/>
              </a:lnSpc>
              <a:buNone/>
            </a:pPr>
            <a:r>
              <a:rPr lang="en-US" sz="1100" dirty="0">
                <a:solidFill>
                  <a:srgbClr val="E8E8E0"/>
                </a:solidFill>
                <a:latin typeface="Calibri" pitchFamily="34" charset="0"/>
                <a:ea typeface="Calibri" pitchFamily="34" charset="-122"/>
                <a:cs typeface="Calibri" pitchFamily="34" charset="-120"/>
              </a:rPr>
              <a:t>80+ clinic deployment</a:t>
            </a:r>
            <a:endParaRPr lang="en-US" sz="1100" dirty="0"/>
          </a:p>
          <a:p>
            <a:pPr indent="0" marL="0">
              <a:lnSpc>
                <a:spcPct val="145000"/>
              </a:lnSpc>
              <a:buNone/>
            </a:pPr>
            <a:r>
              <a:rPr lang="en-US" sz="1100" dirty="0">
                <a:solidFill>
                  <a:srgbClr val="E8E8E0"/>
                </a:solidFill>
                <a:latin typeface="Calibri" pitchFamily="34" charset="0"/>
                <a:ea typeface="Calibri" pitchFamily="34" charset="-122"/>
                <a:cs typeface="Calibri" pitchFamily="34" charset="-120"/>
              </a:rPr>
              <a:t>Engineering team build</a:t>
            </a:r>
            <a:endParaRPr lang="en-US" sz="1100" dirty="0"/>
          </a:p>
          <a:p>
            <a:pPr indent="0" marL="0">
              <a:lnSpc>
                <a:spcPct val="145000"/>
              </a:lnSpc>
              <a:buNone/>
            </a:pPr>
            <a:r>
              <a:rPr lang="en-US" sz="1100" dirty="0">
                <a:solidFill>
                  <a:srgbClr val="E8E8E0"/>
                </a:solidFill>
                <a:latin typeface="Calibri" pitchFamily="34" charset="0"/>
                <a:ea typeface="Calibri" pitchFamily="34" charset="-122"/>
                <a:cs typeface="Calibri" pitchFamily="34" charset="-120"/>
              </a:rPr>
              <a:t>National FQHC infrastructure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C3E2D"/>
        </a:solidFill>
      </p:bgPr>
    </p:bg>
    <p:spTree>
      <p:nvGrpSpPr>
        <p:cNvPr id="1" name=""/>
        <p:cNvGrpSpPr/>
        <p:nvPr/>
      </p:nvGrpSpPr>
      <p:grpSpPr>
        <a:xfrm>
          <a:off x="0" y="0"/>
          <a:ext cx="0" cy="0"/>
          <a:chOff x="0" y="0"/>
          <a:chExt cx="0" cy="0"/>
        </a:xfrm>
      </p:grpSpPr>
      <p:sp>
        <p:nvSpPr>
          <p:cNvPr id="2" name="Text 0"/>
          <p:cNvSpPr/>
          <p:nvPr/>
        </p:nvSpPr>
        <p:spPr>
          <a:xfrm>
            <a:off x="731520" y="274320"/>
            <a:ext cx="7680960" cy="1097280"/>
          </a:xfrm>
          <a:prstGeom prst="rect">
            <a:avLst/>
          </a:prstGeom>
          <a:noFill/>
          <a:ln/>
        </p:spPr>
        <p:txBody>
          <a:bodyPr wrap="square" lIns="0" tIns="0" rIns="0" bIns="0"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From CCM Compliance Layer</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to Longitudinal Infrastructure</a:t>
            </a:r>
            <a:endParaRPr lang="en-US" sz="3200" dirty="0"/>
          </a:p>
        </p:txBody>
      </p:sp>
      <p:sp>
        <p:nvSpPr>
          <p:cNvPr id="3" name="Shape 1"/>
          <p:cNvSpPr/>
          <p:nvPr/>
        </p:nvSpPr>
        <p:spPr>
          <a:xfrm>
            <a:off x="457200" y="1645920"/>
            <a:ext cx="3931920" cy="2926080"/>
          </a:xfrm>
          <a:prstGeom prst="roundRect">
            <a:avLst>
              <a:gd name="adj" fmla="val 3750"/>
            </a:avLst>
          </a:prstGeom>
          <a:solidFill>
            <a:srgbClr val="374738"/>
          </a:solidFill>
          <a:ln/>
        </p:spPr>
      </p:sp>
      <p:sp>
        <p:nvSpPr>
          <p:cNvPr id="4" name="Text 2"/>
          <p:cNvSpPr/>
          <p:nvPr/>
        </p:nvSpPr>
        <p:spPr>
          <a:xfrm>
            <a:off x="640080" y="1783080"/>
            <a:ext cx="3566160" cy="457200"/>
          </a:xfrm>
          <a:prstGeom prst="rect">
            <a:avLst/>
          </a:prstGeom>
          <a:noFill/>
          <a:ln/>
        </p:spPr>
        <p:txBody>
          <a:bodyPr wrap="square" lIns="0" tIns="0" rIns="0" bIns="0" rtlCol="0" anchor="ctr"/>
          <a:lstStyle/>
          <a:p>
            <a:pPr indent="0" marL="0">
              <a:buNone/>
            </a:pPr>
            <a:r>
              <a:rPr lang="en-US" sz="1800" b="1" dirty="0">
                <a:solidFill>
                  <a:srgbClr val="3DDC84"/>
                </a:solidFill>
                <a:latin typeface="Calibri" pitchFamily="34" charset="0"/>
                <a:ea typeface="Calibri" pitchFamily="34" charset="-122"/>
                <a:cs typeface="Calibri" pitchFamily="34" charset="-120"/>
              </a:rPr>
              <a:t>Entry: CCM Infrastructure</a:t>
            </a:r>
            <a:endParaRPr lang="en-US" sz="1800" dirty="0"/>
          </a:p>
        </p:txBody>
      </p:sp>
      <p:sp>
        <p:nvSpPr>
          <p:cNvPr id="5" name="Text 3"/>
          <p:cNvSpPr/>
          <p:nvPr/>
        </p:nvSpPr>
        <p:spPr>
          <a:xfrm>
            <a:off x="822960" y="2377440"/>
            <a:ext cx="3200400" cy="320040"/>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Structured patient signal capture</a:t>
            </a:r>
            <a:endParaRPr lang="en-US" sz="1200" dirty="0"/>
          </a:p>
        </p:txBody>
      </p:sp>
      <p:sp>
        <p:nvSpPr>
          <p:cNvPr id="6" name="Text 4"/>
          <p:cNvSpPr/>
          <p:nvPr/>
        </p:nvSpPr>
        <p:spPr>
          <a:xfrm>
            <a:off x="822960" y="2743200"/>
            <a:ext cx="3200400" cy="320040"/>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CCM-compliant documentation generation</a:t>
            </a:r>
            <a:endParaRPr lang="en-US" sz="1200" dirty="0"/>
          </a:p>
        </p:txBody>
      </p:sp>
      <p:sp>
        <p:nvSpPr>
          <p:cNvPr id="7" name="Text 5"/>
          <p:cNvSpPr/>
          <p:nvPr/>
        </p:nvSpPr>
        <p:spPr>
          <a:xfrm>
            <a:off x="822960" y="3108960"/>
            <a:ext cx="3200400" cy="320040"/>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Automated time tracking + billing</a:t>
            </a:r>
            <a:endParaRPr lang="en-US" sz="1200" dirty="0"/>
          </a:p>
        </p:txBody>
      </p:sp>
      <p:sp>
        <p:nvSpPr>
          <p:cNvPr id="8" name="Text 6"/>
          <p:cNvSpPr/>
          <p:nvPr/>
        </p:nvSpPr>
        <p:spPr>
          <a:xfrm>
            <a:off x="822960" y="3474720"/>
            <a:ext cx="3200400" cy="320040"/>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Multilingual SMS/WhatsApp interface</a:t>
            </a:r>
            <a:endParaRPr lang="en-US" sz="1200" dirty="0"/>
          </a:p>
        </p:txBody>
      </p:sp>
      <p:sp>
        <p:nvSpPr>
          <p:cNvPr id="9" name="Text 7"/>
          <p:cNvSpPr/>
          <p:nvPr/>
        </p:nvSpPr>
        <p:spPr>
          <a:xfrm>
            <a:off x="822960" y="3840480"/>
            <a:ext cx="3200400" cy="320040"/>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Doctor-ready pre-visit summaries</a:t>
            </a:r>
            <a:endParaRPr lang="en-US" sz="1200" dirty="0"/>
          </a:p>
        </p:txBody>
      </p:sp>
      <p:sp>
        <p:nvSpPr>
          <p:cNvPr id="10" name="Shape 8"/>
          <p:cNvSpPr/>
          <p:nvPr/>
        </p:nvSpPr>
        <p:spPr>
          <a:xfrm>
            <a:off x="4754880" y="1645920"/>
            <a:ext cx="3931920" cy="2926080"/>
          </a:xfrm>
          <a:prstGeom prst="roundRect">
            <a:avLst>
              <a:gd name="adj" fmla="val 3750"/>
            </a:avLst>
          </a:prstGeom>
          <a:solidFill>
            <a:srgbClr val="216F64"/>
          </a:solidFill>
          <a:ln/>
        </p:spPr>
      </p:sp>
      <p:sp>
        <p:nvSpPr>
          <p:cNvPr id="11" name="Text 9"/>
          <p:cNvSpPr/>
          <p:nvPr/>
        </p:nvSpPr>
        <p:spPr>
          <a:xfrm>
            <a:off x="4937760" y="1783080"/>
            <a:ext cx="356616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Expansion: Full Signal Layer</a:t>
            </a:r>
            <a:endParaRPr lang="en-US" sz="1800" dirty="0"/>
          </a:p>
        </p:txBody>
      </p:sp>
      <p:sp>
        <p:nvSpPr>
          <p:cNvPr id="12" name="Text 10"/>
          <p:cNvSpPr/>
          <p:nvPr/>
        </p:nvSpPr>
        <p:spPr>
          <a:xfrm>
            <a:off x="5120640" y="2377440"/>
            <a:ext cx="3200400" cy="320040"/>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FHIR-native EHR integration</a:t>
            </a:r>
            <a:endParaRPr lang="en-US" sz="1200" dirty="0"/>
          </a:p>
        </p:txBody>
      </p:sp>
      <p:sp>
        <p:nvSpPr>
          <p:cNvPr id="13" name="Text 11"/>
          <p:cNvSpPr/>
          <p:nvPr/>
        </p:nvSpPr>
        <p:spPr>
          <a:xfrm>
            <a:off x="5120640" y="2743200"/>
            <a:ext cx="3200400" cy="320040"/>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Multi-condition longitudinal tracking</a:t>
            </a:r>
            <a:endParaRPr lang="en-US" sz="1200" dirty="0"/>
          </a:p>
        </p:txBody>
      </p:sp>
      <p:sp>
        <p:nvSpPr>
          <p:cNvPr id="14" name="Text 12"/>
          <p:cNvSpPr/>
          <p:nvPr/>
        </p:nvSpPr>
        <p:spPr>
          <a:xfrm>
            <a:off x="5120640" y="3108960"/>
            <a:ext cx="3200400" cy="320040"/>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Population health signal analytics</a:t>
            </a:r>
            <a:endParaRPr lang="en-US" sz="1200" dirty="0"/>
          </a:p>
        </p:txBody>
      </p:sp>
      <p:sp>
        <p:nvSpPr>
          <p:cNvPr id="15" name="Text 13"/>
          <p:cNvSpPr/>
          <p:nvPr/>
        </p:nvSpPr>
        <p:spPr>
          <a:xfrm>
            <a:off x="5120640" y="3474720"/>
            <a:ext cx="3200400" cy="320040"/>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Clinical decision support infrastructure</a:t>
            </a:r>
            <a:endParaRPr lang="en-US" sz="1200" dirty="0"/>
          </a:p>
        </p:txBody>
      </p:sp>
      <p:sp>
        <p:nvSpPr>
          <p:cNvPr id="16" name="Text 14"/>
          <p:cNvSpPr/>
          <p:nvPr/>
        </p:nvSpPr>
        <p:spPr>
          <a:xfrm>
            <a:off x="5120640" y="3840480"/>
            <a:ext cx="3200400" cy="320040"/>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Cross-provider signal continuity</a:t>
            </a:r>
            <a:endParaRPr lang="en-US" sz="1200" dirty="0"/>
          </a:p>
        </p:txBody>
      </p:sp>
      <p:sp>
        <p:nvSpPr>
          <p:cNvPr id="17" name="Text 15"/>
          <p:cNvSpPr/>
          <p:nvPr/>
        </p:nvSpPr>
        <p:spPr>
          <a:xfrm>
            <a:off x="4160520" y="2560320"/>
            <a:ext cx="822960" cy="640080"/>
          </a:xfrm>
          <a:prstGeom prst="rect">
            <a:avLst/>
          </a:prstGeom>
          <a:noFill/>
          <a:ln/>
        </p:spPr>
        <p:txBody>
          <a:bodyPr wrap="square" lIns="0" tIns="0" rIns="0" bIns="0" rtlCol="0" anchor="ctr"/>
          <a:lstStyle/>
          <a:p>
            <a:pPr algn="ctr" indent="0" marL="0">
              <a:buNone/>
            </a:pPr>
            <a:r>
              <a:rPr lang="en-US" sz="3600" dirty="0">
                <a:solidFill>
                  <a:srgbClr val="3DDC84"/>
                </a:solidFill>
                <a:latin typeface="Calibri" pitchFamily="34" charset="0"/>
                <a:ea typeface="Calibri" pitchFamily="34" charset="-122"/>
                <a:cs typeface="Calibri" pitchFamily="34" charset="-120"/>
              </a:rPr>
              <a:t>→</a:t>
            </a:r>
            <a:endParaRPr lang="en-US" sz="3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C3E2D"/>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Why This Team Builds This Infrastructure</a:t>
            </a:r>
            <a:endParaRPr lang="en-US" sz="3200" dirty="0"/>
          </a:p>
        </p:txBody>
      </p:sp>
      <p:sp>
        <p:nvSpPr>
          <p:cNvPr id="3" name="Shape 1"/>
          <p:cNvSpPr/>
          <p:nvPr/>
        </p:nvSpPr>
        <p:spPr>
          <a:xfrm>
            <a:off x="457200" y="1234440"/>
            <a:ext cx="8229600" cy="822960"/>
          </a:xfrm>
          <a:prstGeom prst="roundRect">
            <a:avLst>
              <a:gd name="adj" fmla="val 8889"/>
            </a:avLst>
          </a:prstGeom>
          <a:solidFill>
            <a:srgbClr val="374738"/>
          </a:solidFill>
          <a:ln/>
        </p:spPr>
      </p:sp>
      <p:sp>
        <p:nvSpPr>
          <p:cNvPr id="4" name="Text 2"/>
          <p:cNvSpPr/>
          <p:nvPr/>
        </p:nvSpPr>
        <p:spPr>
          <a:xfrm>
            <a:off x="731520" y="1252728"/>
            <a:ext cx="2377440" cy="786384"/>
          </a:xfrm>
          <a:prstGeom prst="rect">
            <a:avLst/>
          </a:prstGeom>
          <a:noFill/>
          <a:ln/>
        </p:spPr>
        <p:txBody>
          <a:bodyPr wrap="square" lIns="0" tIns="0" rIns="0" bIns="0" rtlCol="0" anchor="ctr"/>
          <a:lstStyle/>
          <a:p>
            <a:pPr indent="0" marL="0">
              <a:lnSpc>
                <a:spcPct val="120000"/>
              </a:lnSpc>
              <a:buNone/>
            </a:pPr>
            <a:r>
              <a:rPr lang="en-US" sz="1300" b="1" dirty="0">
                <a:solidFill>
                  <a:srgbClr val="3DDC84"/>
                </a:solidFill>
                <a:latin typeface="Calibri" pitchFamily="34" charset="0"/>
                <a:ea typeface="Calibri" pitchFamily="34" charset="-122"/>
                <a:cs typeface="Calibri" pitchFamily="34" charset="-120"/>
              </a:rPr>
              <a:t>15+ years designing</a:t>
            </a:r>
            <a:endParaRPr lang="en-US" sz="1300" dirty="0"/>
          </a:p>
          <a:p>
            <a:pPr indent="0" marL="0">
              <a:lnSpc>
                <a:spcPct val="120000"/>
              </a:lnSpc>
              <a:buNone/>
            </a:pPr>
            <a:r>
              <a:rPr lang="en-US" sz="1300" b="1" dirty="0">
                <a:solidFill>
                  <a:srgbClr val="3DDC84"/>
                </a:solidFill>
                <a:latin typeface="Calibri" pitchFamily="34" charset="0"/>
                <a:ea typeface="Calibri" pitchFamily="34" charset="-122"/>
                <a:cs typeface="Calibri" pitchFamily="34" charset="-120"/>
              </a:rPr>
              <a:t>system-level products</a:t>
            </a:r>
            <a:endParaRPr lang="en-US" sz="1300" dirty="0"/>
          </a:p>
        </p:txBody>
      </p:sp>
      <p:sp>
        <p:nvSpPr>
          <p:cNvPr id="5" name="Text 3"/>
          <p:cNvSpPr/>
          <p:nvPr/>
        </p:nvSpPr>
        <p:spPr>
          <a:xfrm>
            <a:off x="3200400" y="1252728"/>
            <a:ext cx="5212080" cy="786384"/>
          </a:xfrm>
          <a:prstGeom prst="rect">
            <a:avLst/>
          </a:prstGeom>
          <a:noFill/>
          <a:ln/>
        </p:spPr>
        <p:txBody>
          <a:bodyPr wrap="square" lIns="0" tIns="0" rIns="0" bIns="0" rtlCol="0" anchor="ctr"/>
          <a:lstStyle/>
          <a:p>
            <a:pPr indent="0" marL="0">
              <a:lnSpc>
                <a:spcPct val="125000"/>
              </a:lnSpc>
              <a:buNone/>
            </a:pPr>
            <a:r>
              <a:rPr lang="en-US" sz="1200" dirty="0">
                <a:solidFill>
                  <a:srgbClr val="E8E8E0"/>
                </a:solidFill>
                <a:latin typeface="Calibri" pitchFamily="34" charset="0"/>
                <a:ea typeface="Calibri" pitchFamily="34" charset="-122"/>
                <a:cs typeface="Calibri" pitchFamily="34" charset="-120"/>
              </a:rPr>
              <a:t>Enterprise-scale UX infrastructure for major organizations. This is not a consumer app. It is a clinical system that must feel native to healthcare workflows.</a:t>
            </a:r>
            <a:endParaRPr lang="en-US" sz="1200" dirty="0"/>
          </a:p>
        </p:txBody>
      </p:sp>
      <p:sp>
        <p:nvSpPr>
          <p:cNvPr id="6" name="Shape 4"/>
          <p:cNvSpPr/>
          <p:nvPr/>
        </p:nvSpPr>
        <p:spPr>
          <a:xfrm>
            <a:off x="457200" y="2194560"/>
            <a:ext cx="8229600" cy="822960"/>
          </a:xfrm>
          <a:prstGeom prst="roundRect">
            <a:avLst>
              <a:gd name="adj" fmla="val 8889"/>
            </a:avLst>
          </a:prstGeom>
          <a:solidFill>
            <a:srgbClr val="374738"/>
          </a:solidFill>
          <a:ln/>
        </p:spPr>
      </p:sp>
      <p:sp>
        <p:nvSpPr>
          <p:cNvPr id="7" name="Text 5"/>
          <p:cNvSpPr/>
          <p:nvPr/>
        </p:nvSpPr>
        <p:spPr>
          <a:xfrm>
            <a:off x="731520" y="2212848"/>
            <a:ext cx="2377440" cy="786384"/>
          </a:xfrm>
          <a:prstGeom prst="rect">
            <a:avLst/>
          </a:prstGeom>
          <a:noFill/>
          <a:ln/>
        </p:spPr>
        <p:txBody>
          <a:bodyPr wrap="square" lIns="0" tIns="0" rIns="0" bIns="0" rtlCol="0" anchor="ctr"/>
          <a:lstStyle/>
          <a:p>
            <a:pPr indent="0" marL="0">
              <a:lnSpc>
                <a:spcPct val="120000"/>
              </a:lnSpc>
              <a:buNone/>
            </a:pPr>
            <a:r>
              <a:rPr lang="en-US" sz="1300" b="1" dirty="0">
                <a:solidFill>
                  <a:srgbClr val="FFFFFF"/>
                </a:solidFill>
                <a:latin typeface="Calibri" pitchFamily="34" charset="0"/>
                <a:ea typeface="Calibri" pitchFamily="34" charset="-122"/>
                <a:cs typeface="Calibri" pitchFamily="34" charset="-120"/>
              </a:rPr>
              <a:t>Hispanic, bilingual</a:t>
            </a:r>
            <a:endParaRPr lang="en-US" sz="1300" dirty="0"/>
          </a:p>
          <a:p>
            <a:pPr indent="0" marL="0">
              <a:lnSpc>
                <a:spcPct val="120000"/>
              </a:lnSpc>
              <a:buNone/>
            </a:pPr>
            <a:r>
              <a:rPr lang="en-US" sz="1300" b="1" dirty="0">
                <a:solidFill>
                  <a:srgbClr val="FFFFFF"/>
                </a:solidFill>
                <a:latin typeface="Calibri" pitchFamily="34" charset="0"/>
                <a:ea typeface="Calibri" pitchFamily="34" charset="-122"/>
                <a:cs typeface="Calibri" pitchFamily="34" charset="-120"/>
              </a:rPr>
              <a:t>founder</a:t>
            </a:r>
            <a:endParaRPr lang="en-US" sz="1300" dirty="0"/>
          </a:p>
        </p:txBody>
      </p:sp>
      <p:sp>
        <p:nvSpPr>
          <p:cNvPr id="8" name="Text 6"/>
          <p:cNvSpPr/>
          <p:nvPr/>
        </p:nvSpPr>
        <p:spPr>
          <a:xfrm>
            <a:off x="3200400" y="2212848"/>
            <a:ext cx="5212080" cy="786384"/>
          </a:xfrm>
          <a:prstGeom prst="rect">
            <a:avLst/>
          </a:prstGeom>
          <a:noFill/>
          <a:ln/>
        </p:spPr>
        <p:txBody>
          <a:bodyPr wrap="square" lIns="0" tIns="0" rIns="0" bIns="0" rtlCol="0" anchor="ctr"/>
          <a:lstStyle/>
          <a:p>
            <a:pPr indent="0" marL="0">
              <a:lnSpc>
                <a:spcPct val="125000"/>
              </a:lnSpc>
              <a:buNone/>
            </a:pPr>
            <a:r>
              <a:rPr lang="en-US" sz="1200" dirty="0">
                <a:solidFill>
                  <a:srgbClr val="E8E8E0"/>
                </a:solidFill>
                <a:latin typeface="Calibri" pitchFamily="34" charset="0"/>
                <a:ea typeface="Calibri" pitchFamily="34" charset="-122"/>
                <a:cs typeface="Calibri" pitchFamily="34" charset="-120"/>
              </a:rPr>
              <a:t>65% of FQHC patients are Hispanic. Linguistic and cultural fluency is not positioning. It is an operational requirement for patient signal capture in this market.</a:t>
            </a:r>
            <a:endParaRPr lang="en-US" sz="1200" dirty="0"/>
          </a:p>
        </p:txBody>
      </p:sp>
      <p:sp>
        <p:nvSpPr>
          <p:cNvPr id="9" name="Shape 7"/>
          <p:cNvSpPr/>
          <p:nvPr/>
        </p:nvSpPr>
        <p:spPr>
          <a:xfrm>
            <a:off x="457200" y="3154680"/>
            <a:ext cx="8229600" cy="822960"/>
          </a:xfrm>
          <a:prstGeom prst="roundRect">
            <a:avLst>
              <a:gd name="adj" fmla="val 8889"/>
            </a:avLst>
          </a:prstGeom>
          <a:solidFill>
            <a:srgbClr val="374738"/>
          </a:solidFill>
          <a:ln/>
        </p:spPr>
      </p:sp>
      <p:sp>
        <p:nvSpPr>
          <p:cNvPr id="10" name="Text 8"/>
          <p:cNvSpPr/>
          <p:nvPr/>
        </p:nvSpPr>
        <p:spPr>
          <a:xfrm>
            <a:off x="731520" y="3172968"/>
            <a:ext cx="2377440" cy="786384"/>
          </a:xfrm>
          <a:prstGeom prst="rect">
            <a:avLst/>
          </a:prstGeom>
          <a:noFill/>
          <a:ln/>
        </p:spPr>
        <p:txBody>
          <a:bodyPr wrap="square" lIns="0" tIns="0" rIns="0" bIns="0" rtlCol="0" anchor="ctr"/>
          <a:lstStyle/>
          <a:p>
            <a:pPr indent="0" marL="0">
              <a:lnSpc>
                <a:spcPct val="120000"/>
              </a:lnSpc>
              <a:buNone/>
            </a:pPr>
            <a:r>
              <a:rPr lang="en-US" sz="1300" b="1" dirty="0">
                <a:solidFill>
                  <a:srgbClr val="3DDC84"/>
                </a:solidFill>
                <a:latin typeface="Calibri" pitchFamily="34" charset="0"/>
                <a:ea typeface="Calibri" pitchFamily="34" charset="-122"/>
                <a:cs typeface="Calibri" pitchFamily="34" charset="-120"/>
              </a:rPr>
              <a:t>Practicing physician</a:t>
            </a:r>
            <a:endParaRPr lang="en-US" sz="1300" dirty="0"/>
          </a:p>
          <a:p>
            <a:pPr indent="0" marL="0">
              <a:lnSpc>
                <a:spcPct val="120000"/>
              </a:lnSpc>
              <a:buNone/>
            </a:pPr>
            <a:r>
              <a:rPr lang="en-US" sz="1300" b="1" dirty="0">
                <a:solidFill>
                  <a:srgbClr val="3DDC84"/>
                </a:solidFill>
                <a:latin typeface="Calibri" pitchFamily="34" charset="0"/>
                <a:ea typeface="Calibri" pitchFamily="34" charset="-122"/>
                <a:cs typeface="Calibri" pitchFamily="34" charset="-120"/>
              </a:rPr>
              <a:t>as medical advisor</a:t>
            </a:r>
            <a:endParaRPr lang="en-US" sz="1300" dirty="0"/>
          </a:p>
        </p:txBody>
      </p:sp>
      <p:sp>
        <p:nvSpPr>
          <p:cNvPr id="11" name="Text 9"/>
          <p:cNvSpPr/>
          <p:nvPr/>
        </p:nvSpPr>
        <p:spPr>
          <a:xfrm>
            <a:off x="3200400" y="3172968"/>
            <a:ext cx="5212080" cy="786384"/>
          </a:xfrm>
          <a:prstGeom prst="rect">
            <a:avLst/>
          </a:prstGeom>
          <a:noFill/>
          <a:ln/>
        </p:spPr>
        <p:txBody>
          <a:bodyPr wrap="square" lIns="0" tIns="0" rIns="0" bIns="0" rtlCol="0" anchor="ctr"/>
          <a:lstStyle/>
          <a:p>
            <a:pPr indent="0" marL="0">
              <a:lnSpc>
                <a:spcPct val="125000"/>
              </a:lnSpc>
              <a:buNone/>
            </a:pPr>
            <a:r>
              <a:rPr lang="en-US" sz="1200" dirty="0">
                <a:solidFill>
                  <a:srgbClr val="E8E8E0"/>
                </a:solidFill>
                <a:latin typeface="Calibri" pitchFamily="34" charset="0"/>
                <a:ea typeface="Calibri" pitchFamily="34" charset="-122"/>
                <a:cs typeface="Calibri" pitchFamily="34" charset="-120"/>
              </a:rPr>
              <a:t>Every AI prompt, documentation format, and clinical output validated by a clinician. Not outsourced. Not advisory. Embedded in the architecture.</a:t>
            </a:r>
            <a:endParaRPr lang="en-US" sz="1200" dirty="0"/>
          </a:p>
        </p:txBody>
      </p:sp>
      <p:sp>
        <p:nvSpPr>
          <p:cNvPr id="12" name="Shape 10"/>
          <p:cNvSpPr/>
          <p:nvPr/>
        </p:nvSpPr>
        <p:spPr>
          <a:xfrm>
            <a:off x="457200" y="4114800"/>
            <a:ext cx="8229600" cy="822960"/>
          </a:xfrm>
          <a:prstGeom prst="roundRect">
            <a:avLst>
              <a:gd name="adj" fmla="val 8889"/>
            </a:avLst>
          </a:prstGeom>
          <a:solidFill>
            <a:srgbClr val="374738"/>
          </a:solidFill>
          <a:ln/>
        </p:spPr>
      </p:sp>
      <p:sp>
        <p:nvSpPr>
          <p:cNvPr id="13" name="Text 11"/>
          <p:cNvSpPr/>
          <p:nvPr/>
        </p:nvSpPr>
        <p:spPr>
          <a:xfrm>
            <a:off x="731520" y="4133088"/>
            <a:ext cx="2377440" cy="786384"/>
          </a:xfrm>
          <a:prstGeom prst="rect">
            <a:avLst/>
          </a:prstGeom>
          <a:noFill/>
          <a:ln/>
        </p:spPr>
        <p:txBody>
          <a:bodyPr wrap="square" lIns="0" tIns="0" rIns="0" bIns="0" rtlCol="0" anchor="ctr"/>
          <a:lstStyle/>
          <a:p>
            <a:pPr indent="0" marL="0">
              <a:lnSpc>
                <a:spcPct val="120000"/>
              </a:lnSpc>
              <a:buNone/>
            </a:pPr>
            <a:r>
              <a:rPr lang="en-US" sz="1300" b="1" dirty="0">
                <a:solidFill>
                  <a:srgbClr val="E8A838"/>
                </a:solidFill>
                <a:latin typeface="Calibri" pitchFamily="34" charset="0"/>
                <a:ea typeface="Calibri" pitchFamily="34" charset="-122"/>
                <a:cs typeface="Calibri" pitchFamily="34" charset="-120"/>
              </a:rPr>
              <a:t>Infrastructure already</a:t>
            </a:r>
            <a:endParaRPr lang="en-US" sz="1300" dirty="0"/>
          </a:p>
          <a:p>
            <a:pPr indent="0" marL="0">
              <a:lnSpc>
                <a:spcPct val="120000"/>
              </a:lnSpc>
              <a:buNone/>
            </a:pPr>
            <a:r>
              <a:rPr lang="en-US" sz="1300" b="1" dirty="0">
                <a:solidFill>
                  <a:srgbClr val="E8A838"/>
                </a:solidFill>
                <a:latin typeface="Calibri" pitchFamily="34" charset="0"/>
                <a:ea typeface="Calibri" pitchFamily="34" charset="-122"/>
                <a:cs typeface="Calibri" pitchFamily="34" charset="-120"/>
              </a:rPr>
              <a:t>deployed</a:t>
            </a:r>
            <a:endParaRPr lang="en-US" sz="1300" dirty="0"/>
          </a:p>
        </p:txBody>
      </p:sp>
      <p:sp>
        <p:nvSpPr>
          <p:cNvPr id="14" name="Text 12"/>
          <p:cNvSpPr/>
          <p:nvPr/>
        </p:nvSpPr>
        <p:spPr>
          <a:xfrm>
            <a:off x="3200400" y="4133088"/>
            <a:ext cx="5212080" cy="786384"/>
          </a:xfrm>
          <a:prstGeom prst="rect">
            <a:avLst/>
          </a:prstGeom>
          <a:noFill/>
          <a:ln/>
        </p:spPr>
        <p:txBody>
          <a:bodyPr wrap="square" lIns="0" tIns="0" rIns="0" bIns="0" rtlCol="0" anchor="ctr"/>
          <a:lstStyle/>
          <a:p>
            <a:pPr indent="0" marL="0">
              <a:lnSpc>
                <a:spcPct val="125000"/>
              </a:lnSpc>
              <a:buNone/>
            </a:pPr>
            <a:r>
              <a:rPr lang="en-US" sz="1200" dirty="0">
                <a:solidFill>
                  <a:srgbClr val="E8E8E0"/>
                </a:solidFill>
                <a:latin typeface="Calibri" pitchFamily="34" charset="0"/>
                <a:ea typeface="Calibri" pitchFamily="34" charset="-122"/>
                <a:cs typeface="Calibri" pitchFamily="34" charset="-120"/>
              </a:rPr>
              <a:t>CareLog is processing real patient signal in 4 languages with voice transcription, image analysis, and structured clinical output. Built and shipped by this team.</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C3E2D"/>
        </a:solidFill>
      </p:bgPr>
    </p:bg>
    <p:spTree>
      <p:nvGrpSpPr>
        <p:cNvPr id="1" name=""/>
        <p:cNvGrpSpPr/>
        <p:nvPr/>
      </p:nvGrpSpPr>
      <p:grpSpPr>
        <a:xfrm>
          <a:off x="0" y="0"/>
          <a:ext cx="0" cy="0"/>
          <a:chOff x="0" y="0"/>
          <a:chExt cx="0" cy="0"/>
        </a:xfrm>
      </p:grpSpPr>
      <p:sp>
        <p:nvSpPr>
          <p:cNvPr id="2" name="Text 0"/>
          <p:cNvSpPr/>
          <p:nvPr/>
        </p:nvSpPr>
        <p:spPr>
          <a:xfrm>
            <a:off x="731520" y="274320"/>
            <a:ext cx="7680960" cy="914400"/>
          </a:xfrm>
          <a:prstGeom prst="rect">
            <a:avLst/>
          </a:prstGeom>
          <a:noFill/>
          <a:ln/>
        </p:spPr>
        <p:txBody>
          <a:bodyPr wrap="square" lIns="0" tIns="0" rIns="0" bIns="0" rtlCol="0" anchor="ctr"/>
          <a:lstStyle/>
          <a:p>
            <a:pPr indent="0" marL="0">
              <a:lnSpc>
                <a:spcPct val="110000"/>
              </a:lnSpc>
              <a:buNone/>
            </a:pPr>
            <a:r>
              <a:rPr lang="en-US" sz="3400" b="1" dirty="0">
                <a:solidFill>
                  <a:srgbClr val="FFFFFF"/>
                </a:solidFill>
                <a:latin typeface="Georgia" pitchFamily="34" charset="0"/>
                <a:ea typeface="Georgia" pitchFamily="34" charset="-122"/>
                <a:cs typeface="Georgia" pitchFamily="34" charset="-120"/>
              </a:rPr>
              <a:t>Capital Required to Complete</a:t>
            </a:r>
            <a:endParaRPr lang="en-US" sz="3400" dirty="0"/>
          </a:p>
          <a:p>
            <a:pPr indent="0" marL="0">
              <a:lnSpc>
                <a:spcPct val="110000"/>
              </a:lnSpc>
              <a:buNone/>
            </a:pPr>
            <a:r>
              <a:rPr lang="en-US" sz="3400" b="1" dirty="0">
                <a:solidFill>
                  <a:srgbClr val="FFFFFF"/>
                </a:solidFill>
                <a:latin typeface="Georgia" pitchFamily="34" charset="0"/>
                <a:ea typeface="Georgia" pitchFamily="34" charset="-122"/>
                <a:cs typeface="Georgia" pitchFamily="34" charset="-120"/>
              </a:rPr>
              <a:t>the Infrastructure</a:t>
            </a:r>
            <a:endParaRPr lang="en-US" sz="3400" dirty="0"/>
          </a:p>
        </p:txBody>
      </p:sp>
      <p:sp>
        <p:nvSpPr>
          <p:cNvPr id="3" name="Shape 1"/>
          <p:cNvSpPr/>
          <p:nvPr/>
        </p:nvSpPr>
        <p:spPr>
          <a:xfrm>
            <a:off x="731520" y="1280160"/>
            <a:ext cx="7680960" cy="1097280"/>
          </a:xfrm>
          <a:prstGeom prst="roundRect">
            <a:avLst>
              <a:gd name="adj" fmla="val 10000"/>
            </a:avLst>
          </a:prstGeom>
          <a:solidFill>
            <a:srgbClr val="216F64"/>
          </a:solidFill>
          <a:ln/>
        </p:spPr>
      </p:sp>
      <p:sp>
        <p:nvSpPr>
          <p:cNvPr id="4" name="Text 2"/>
          <p:cNvSpPr/>
          <p:nvPr/>
        </p:nvSpPr>
        <p:spPr>
          <a:xfrm>
            <a:off x="914400" y="1325880"/>
            <a:ext cx="7315200" cy="10058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$250K–$500K Angel Round</a:t>
            </a:r>
            <a:endParaRPr lang="en-US" sz="2800" dirty="0"/>
          </a:p>
          <a:p>
            <a:pPr algn="ctr" indent="0" marL="0">
              <a:buNone/>
            </a:pPr>
            <a:r>
              <a:rPr lang="en-US" sz="1300" dirty="0">
                <a:solidFill>
                  <a:srgbClr val="E8E8E0"/>
                </a:solidFill>
                <a:latin typeface="Calibri" pitchFamily="34" charset="0"/>
                <a:ea typeface="Calibri" pitchFamily="34" charset="-122"/>
                <a:cs typeface="Calibri" pitchFamily="34" charset="-120"/>
              </a:rPr>
              <a:t>To reach HIPAA compliance, validate with 3 pilot FQHCs, and convert to 10 paying clinics.</a:t>
            </a:r>
            <a:endParaRPr lang="en-US" sz="2800" dirty="0"/>
          </a:p>
        </p:txBody>
      </p:sp>
      <p:sp>
        <p:nvSpPr>
          <p:cNvPr id="5" name="Text 3"/>
          <p:cNvSpPr/>
          <p:nvPr/>
        </p:nvSpPr>
        <p:spPr>
          <a:xfrm>
            <a:off x="731520" y="2651760"/>
            <a:ext cx="36576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Capital Deployment</a:t>
            </a:r>
            <a:endParaRPr lang="en-US" sz="1800" dirty="0"/>
          </a:p>
        </p:txBody>
      </p:sp>
      <p:sp>
        <p:nvSpPr>
          <p:cNvPr id="6" name="Text 4"/>
          <p:cNvSpPr/>
          <p:nvPr/>
        </p:nvSpPr>
        <p:spPr>
          <a:xfrm>
            <a:off x="914400" y="3108960"/>
            <a:ext cx="3931920" cy="310896"/>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HIPAA compliance + legal infrastructure</a:t>
            </a:r>
            <a:endParaRPr lang="en-US" sz="1200" dirty="0"/>
          </a:p>
        </p:txBody>
      </p:sp>
      <p:sp>
        <p:nvSpPr>
          <p:cNvPr id="7" name="Text 5"/>
          <p:cNvSpPr/>
          <p:nvPr/>
        </p:nvSpPr>
        <p:spPr>
          <a:xfrm>
            <a:off x="5029200" y="3108960"/>
            <a:ext cx="1371600" cy="310896"/>
          </a:xfrm>
          <a:prstGeom prst="rect">
            <a:avLst/>
          </a:prstGeom>
          <a:noFill/>
          <a:ln/>
        </p:spPr>
        <p:txBody>
          <a:bodyPr wrap="square" lIns="0" tIns="0" rIns="0" bIns="0" rtlCol="0" anchor="ctr"/>
          <a:lstStyle/>
          <a:p>
            <a:pPr algn="ctr" indent="0" marL="0">
              <a:buNone/>
            </a:pPr>
            <a:r>
              <a:rPr lang="en-US" sz="1200" b="1" dirty="0">
                <a:solidFill>
                  <a:srgbClr val="3DDC84"/>
                </a:solidFill>
                <a:latin typeface="Calibri" pitchFamily="34" charset="0"/>
                <a:ea typeface="Calibri" pitchFamily="34" charset="-122"/>
                <a:cs typeface="Calibri" pitchFamily="34" charset="-120"/>
              </a:rPr>
              <a:t>20%</a:t>
            </a:r>
            <a:endParaRPr lang="en-US" sz="1200" dirty="0"/>
          </a:p>
        </p:txBody>
      </p:sp>
      <p:sp>
        <p:nvSpPr>
          <p:cNvPr id="8" name="Text 6"/>
          <p:cNvSpPr/>
          <p:nvPr/>
        </p:nvSpPr>
        <p:spPr>
          <a:xfrm>
            <a:off x="6583680" y="3108960"/>
            <a:ext cx="1828800" cy="310896"/>
          </a:xfrm>
          <a:prstGeom prst="rect">
            <a:avLst/>
          </a:prstGeom>
          <a:noFill/>
          <a:ln/>
        </p:spPr>
        <p:txBody>
          <a:bodyPr wrap="square" lIns="0" tIns="0" rIns="0" bIns="0" rtlCol="0" anchor="ctr"/>
          <a:lstStyle/>
          <a:p>
            <a:pPr algn="r" indent="0" marL="0">
              <a:buNone/>
            </a:pPr>
            <a:r>
              <a:rPr lang="en-US" sz="1200" dirty="0">
                <a:solidFill>
                  <a:srgbClr val="E8E8E0"/>
                </a:solidFill>
                <a:latin typeface="Calibri" pitchFamily="34" charset="0"/>
                <a:ea typeface="Calibri" pitchFamily="34" charset="-122"/>
                <a:cs typeface="Calibri" pitchFamily="34" charset="-120"/>
              </a:rPr>
              <a:t>$50–$100K</a:t>
            </a:r>
            <a:endParaRPr lang="en-US" sz="1200" dirty="0"/>
          </a:p>
        </p:txBody>
      </p:sp>
      <p:sp>
        <p:nvSpPr>
          <p:cNvPr id="9" name="Shape 7"/>
          <p:cNvSpPr/>
          <p:nvPr/>
        </p:nvSpPr>
        <p:spPr>
          <a:xfrm>
            <a:off x="731520" y="3419856"/>
            <a:ext cx="7680960" cy="310896"/>
          </a:xfrm>
          <a:prstGeom prst="rect">
            <a:avLst/>
          </a:prstGeom>
          <a:solidFill>
            <a:srgbClr val="374738"/>
          </a:solidFill>
          <a:ln/>
        </p:spPr>
      </p:sp>
      <p:sp>
        <p:nvSpPr>
          <p:cNvPr id="10" name="Text 8"/>
          <p:cNvSpPr/>
          <p:nvPr/>
        </p:nvSpPr>
        <p:spPr>
          <a:xfrm>
            <a:off x="914400" y="3419856"/>
            <a:ext cx="3931920" cy="310896"/>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SMS channel infrastructure (Twilio + BAA)</a:t>
            </a:r>
            <a:endParaRPr lang="en-US" sz="1200" dirty="0"/>
          </a:p>
        </p:txBody>
      </p:sp>
      <p:sp>
        <p:nvSpPr>
          <p:cNvPr id="11" name="Text 9"/>
          <p:cNvSpPr/>
          <p:nvPr/>
        </p:nvSpPr>
        <p:spPr>
          <a:xfrm>
            <a:off x="5029200" y="3419856"/>
            <a:ext cx="1371600" cy="310896"/>
          </a:xfrm>
          <a:prstGeom prst="rect">
            <a:avLst/>
          </a:prstGeom>
          <a:noFill/>
          <a:ln/>
        </p:spPr>
        <p:txBody>
          <a:bodyPr wrap="square" lIns="0" tIns="0" rIns="0" bIns="0" rtlCol="0" anchor="ctr"/>
          <a:lstStyle/>
          <a:p>
            <a:pPr algn="ctr" indent="0" marL="0">
              <a:buNone/>
            </a:pPr>
            <a:r>
              <a:rPr lang="en-US" sz="1200" b="1" dirty="0">
                <a:solidFill>
                  <a:srgbClr val="3DDC84"/>
                </a:solidFill>
                <a:latin typeface="Calibri" pitchFamily="34" charset="0"/>
                <a:ea typeface="Calibri" pitchFamily="34" charset="-122"/>
                <a:cs typeface="Calibri" pitchFamily="34" charset="-120"/>
              </a:rPr>
              <a:t>10%</a:t>
            </a:r>
            <a:endParaRPr lang="en-US" sz="1200" dirty="0"/>
          </a:p>
        </p:txBody>
      </p:sp>
      <p:sp>
        <p:nvSpPr>
          <p:cNvPr id="12" name="Text 10"/>
          <p:cNvSpPr/>
          <p:nvPr/>
        </p:nvSpPr>
        <p:spPr>
          <a:xfrm>
            <a:off x="6583680" y="3419856"/>
            <a:ext cx="1828800" cy="310896"/>
          </a:xfrm>
          <a:prstGeom prst="rect">
            <a:avLst/>
          </a:prstGeom>
          <a:noFill/>
          <a:ln/>
        </p:spPr>
        <p:txBody>
          <a:bodyPr wrap="square" lIns="0" tIns="0" rIns="0" bIns="0" rtlCol="0" anchor="ctr"/>
          <a:lstStyle/>
          <a:p>
            <a:pPr algn="r" indent="0" marL="0">
              <a:buNone/>
            </a:pPr>
            <a:r>
              <a:rPr lang="en-US" sz="1200" dirty="0">
                <a:solidFill>
                  <a:srgbClr val="E8E8E0"/>
                </a:solidFill>
                <a:latin typeface="Calibri" pitchFamily="34" charset="0"/>
                <a:ea typeface="Calibri" pitchFamily="34" charset="-122"/>
                <a:cs typeface="Calibri" pitchFamily="34" charset="-120"/>
              </a:rPr>
              <a:t>$25–$50K</a:t>
            </a:r>
            <a:endParaRPr lang="en-US" sz="1200" dirty="0"/>
          </a:p>
        </p:txBody>
      </p:sp>
      <p:sp>
        <p:nvSpPr>
          <p:cNvPr id="13" name="Text 11"/>
          <p:cNvSpPr/>
          <p:nvPr/>
        </p:nvSpPr>
        <p:spPr>
          <a:xfrm>
            <a:off x="914400" y="3730752"/>
            <a:ext cx="3931920" cy="310896"/>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Engineering capacity (contract + hire)</a:t>
            </a:r>
            <a:endParaRPr lang="en-US" sz="1200" dirty="0"/>
          </a:p>
        </p:txBody>
      </p:sp>
      <p:sp>
        <p:nvSpPr>
          <p:cNvPr id="14" name="Text 12"/>
          <p:cNvSpPr/>
          <p:nvPr/>
        </p:nvSpPr>
        <p:spPr>
          <a:xfrm>
            <a:off x="5029200" y="3730752"/>
            <a:ext cx="1371600" cy="310896"/>
          </a:xfrm>
          <a:prstGeom prst="rect">
            <a:avLst/>
          </a:prstGeom>
          <a:noFill/>
          <a:ln/>
        </p:spPr>
        <p:txBody>
          <a:bodyPr wrap="square" lIns="0" tIns="0" rIns="0" bIns="0" rtlCol="0" anchor="ctr"/>
          <a:lstStyle/>
          <a:p>
            <a:pPr algn="ctr" indent="0" marL="0">
              <a:buNone/>
            </a:pPr>
            <a:r>
              <a:rPr lang="en-US" sz="1200" b="1" dirty="0">
                <a:solidFill>
                  <a:srgbClr val="3DDC84"/>
                </a:solidFill>
                <a:latin typeface="Calibri" pitchFamily="34" charset="0"/>
                <a:ea typeface="Calibri" pitchFamily="34" charset="-122"/>
                <a:cs typeface="Calibri" pitchFamily="34" charset="-120"/>
              </a:rPr>
              <a:t>30%</a:t>
            </a:r>
            <a:endParaRPr lang="en-US" sz="1200" dirty="0"/>
          </a:p>
        </p:txBody>
      </p:sp>
      <p:sp>
        <p:nvSpPr>
          <p:cNvPr id="15" name="Text 13"/>
          <p:cNvSpPr/>
          <p:nvPr/>
        </p:nvSpPr>
        <p:spPr>
          <a:xfrm>
            <a:off x="6583680" y="3730752"/>
            <a:ext cx="1828800" cy="310896"/>
          </a:xfrm>
          <a:prstGeom prst="rect">
            <a:avLst/>
          </a:prstGeom>
          <a:noFill/>
          <a:ln/>
        </p:spPr>
        <p:txBody>
          <a:bodyPr wrap="square" lIns="0" tIns="0" rIns="0" bIns="0" rtlCol="0" anchor="ctr"/>
          <a:lstStyle/>
          <a:p>
            <a:pPr algn="r" indent="0" marL="0">
              <a:buNone/>
            </a:pPr>
            <a:r>
              <a:rPr lang="en-US" sz="1200" dirty="0">
                <a:solidFill>
                  <a:srgbClr val="E8E8E0"/>
                </a:solidFill>
                <a:latin typeface="Calibri" pitchFamily="34" charset="0"/>
                <a:ea typeface="Calibri" pitchFamily="34" charset="-122"/>
                <a:cs typeface="Calibri" pitchFamily="34" charset="-120"/>
              </a:rPr>
              <a:t>$75–$150K</a:t>
            </a:r>
            <a:endParaRPr lang="en-US" sz="1200" dirty="0"/>
          </a:p>
        </p:txBody>
      </p:sp>
      <p:sp>
        <p:nvSpPr>
          <p:cNvPr id="16" name="Shape 14"/>
          <p:cNvSpPr/>
          <p:nvPr/>
        </p:nvSpPr>
        <p:spPr>
          <a:xfrm>
            <a:off x="731520" y="4041648"/>
            <a:ext cx="7680960" cy="310896"/>
          </a:xfrm>
          <a:prstGeom prst="rect">
            <a:avLst/>
          </a:prstGeom>
          <a:solidFill>
            <a:srgbClr val="374738"/>
          </a:solidFill>
          <a:ln/>
        </p:spPr>
      </p:sp>
      <p:sp>
        <p:nvSpPr>
          <p:cNvPr id="17" name="Text 15"/>
          <p:cNvSpPr/>
          <p:nvPr/>
        </p:nvSpPr>
        <p:spPr>
          <a:xfrm>
            <a:off x="914400" y="4041648"/>
            <a:ext cx="3931920" cy="310896"/>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Pilot deployment (3 FQHCs, 90-day free)</a:t>
            </a:r>
            <a:endParaRPr lang="en-US" sz="1200" dirty="0"/>
          </a:p>
        </p:txBody>
      </p:sp>
      <p:sp>
        <p:nvSpPr>
          <p:cNvPr id="18" name="Text 16"/>
          <p:cNvSpPr/>
          <p:nvPr/>
        </p:nvSpPr>
        <p:spPr>
          <a:xfrm>
            <a:off x="5029200" y="4041648"/>
            <a:ext cx="1371600" cy="310896"/>
          </a:xfrm>
          <a:prstGeom prst="rect">
            <a:avLst/>
          </a:prstGeom>
          <a:noFill/>
          <a:ln/>
        </p:spPr>
        <p:txBody>
          <a:bodyPr wrap="square" lIns="0" tIns="0" rIns="0" bIns="0" rtlCol="0" anchor="ctr"/>
          <a:lstStyle/>
          <a:p>
            <a:pPr algn="ctr" indent="0" marL="0">
              <a:buNone/>
            </a:pPr>
            <a:r>
              <a:rPr lang="en-US" sz="1200" b="1" dirty="0">
                <a:solidFill>
                  <a:srgbClr val="3DDC84"/>
                </a:solidFill>
                <a:latin typeface="Calibri" pitchFamily="34" charset="0"/>
                <a:ea typeface="Calibri" pitchFamily="34" charset="-122"/>
                <a:cs typeface="Calibri" pitchFamily="34" charset="-120"/>
              </a:rPr>
              <a:t>15%</a:t>
            </a:r>
            <a:endParaRPr lang="en-US" sz="1200" dirty="0"/>
          </a:p>
        </p:txBody>
      </p:sp>
      <p:sp>
        <p:nvSpPr>
          <p:cNvPr id="19" name="Text 17"/>
          <p:cNvSpPr/>
          <p:nvPr/>
        </p:nvSpPr>
        <p:spPr>
          <a:xfrm>
            <a:off x="6583680" y="4041648"/>
            <a:ext cx="1828800" cy="310896"/>
          </a:xfrm>
          <a:prstGeom prst="rect">
            <a:avLst/>
          </a:prstGeom>
          <a:noFill/>
          <a:ln/>
        </p:spPr>
        <p:txBody>
          <a:bodyPr wrap="square" lIns="0" tIns="0" rIns="0" bIns="0" rtlCol="0" anchor="ctr"/>
          <a:lstStyle/>
          <a:p>
            <a:pPr algn="r" indent="0" marL="0">
              <a:buNone/>
            </a:pPr>
            <a:r>
              <a:rPr lang="en-US" sz="1200" dirty="0">
                <a:solidFill>
                  <a:srgbClr val="E8E8E0"/>
                </a:solidFill>
                <a:latin typeface="Calibri" pitchFamily="34" charset="0"/>
                <a:ea typeface="Calibri" pitchFamily="34" charset="-122"/>
                <a:cs typeface="Calibri" pitchFamily="34" charset="-120"/>
              </a:rPr>
              <a:t>$37–$75K</a:t>
            </a:r>
            <a:endParaRPr lang="en-US" sz="1200" dirty="0"/>
          </a:p>
        </p:txBody>
      </p:sp>
      <p:sp>
        <p:nvSpPr>
          <p:cNvPr id="20" name="Text 18"/>
          <p:cNvSpPr/>
          <p:nvPr/>
        </p:nvSpPr>
        <p:spPr>
          <a:xfrm>
            <a:off x="914400" y="4352544"/>
            <a:ext cx="3931920" cy="310896"/>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Clinic acquisition + market development</a:t>
            </a:r>
            <a:endParaRPr lang="en-US" sz="1200" dirty="0"/>
          </a:p>
        </p:txBody>
      </p:sp>
      <p:sp>
        <p:nvSpPr>
          <p:cNvPr id="21" name="Text 19"/>
          <p:cNvSpPr/>
          <p:nvPr/>
        </p:nvSpPr>
        <p:spPr>
          <a:xfrm>
            <a:off x="5029200" y="4352544"/>
            <a:ext cx="1371600" cy="310896"/>
          </a:xfrm>
          <a:prstGeom prst="rect">
            <a:avLst/>
          </a:prstGeom>
          <a:noFill/>
          <a:ln/>
        </p:spPr>
        <p:txBody>
          <a:bodyPr wrap="square" lIns="0" tIns="0" rIns="0" bIns="0" rtlCol="0" anchor="ctr"/>
          <a:lstStyle/>
          <a:p>
            <a:pPr algn="ctr" indent="0" marL="0">
              <a:buNone/>
            </a:pPr>
            <a:r>
              <a:rPr lang="en-US" sz="1200" b="1" dirty="0">
                <a:solidFill>
                  <a:srgbClr val="3DDC84"/>
                </a:solidFill>
                <a:latin typeface="Calibri" pitchFamily="34" charset="0"/>
                <a:ea typeface="Calibri" pitchFamily="34" charset="-122"/>
                <a:cs typeface="Calibri" pitchFamily="34" charset="-120"/>
              </a:rPr>
              <a:t>15%</a:t>
            </a:r>
            <a:endParaRPr lang="en-US" sz="1200" dirty="0"/>
          </a:p>
        </p:txBody>
      </p:sp>
      <p:sp>
        <p:nvSpPr>
          <p:cNvPr id="22" name="Text 20"/>
          <p:cNvSpPr/>
          <p:nvPr/>
        </p:nvSpPr>
        <p:spPr>
          <a:xfrm>
            <a:off x="6583680" y="4352544"/>
            <a:ext cx="1828800" cy="310896"/>
          </a:xfrm>
          <a:prstGeom prst="rect">
            <a:avLst/>
          </a:prstGeom>
          <a:noFill/>
          <a:ln/>
        </p:spPr>
        <p:txBody>
          <a:bodyPr wrap="square" lIns="0" tIns="0" rIns="0" bIns="0" rtlCol="0" anchor="ctr"/>
          <a:lstStyle/>
          <a:p>
            <a:pPr algn="r" indent="0" marL="0">
              <a:buNone/>
            </a:pPr>
            <a:r>
              <a:rPr lang="en-US" sz="1200" dirty="0">
                <a:solidFill>
                  <a:srgbClr val="E8E8E0"/>
                </a:solidFill>
                <a:latin typeface="Calibri" pitchFamily="34" charset="0"/>
                <a:ea typeface="Calibri" pitchFamily="34" charset="-122"/>
                <a:cs typeface="Calibri" pitchFamily="34" charset="-120"/>
              </a:rPr>
              <a:t>$37–$75K</a:t>
            </a:r>
            <a:endParaRPr lang="en-US" sz="1200" dirty="0"/>
          </a:p>
        </p:txBody>
      </p:sp>
      <p:sp>
        <p:nvSpPr>
          <p:cNvPr id="23" name="Shape 21"/>
          <p:cNvSpPr/>
          <p:nvPr/>
        </p:nvSpPr>
        <p:spPr>
          <a:xfrm>
            <a:off x="731520" y="4663440"/>
            <a:ext cx="7680960" cy="310896"/>
          </a:xfrm>
          <a:prstGeom prst="rect">
            <a:avLst/>
          </a:prstGeom>
          <a:solidFill>
            <a:srgbClr val="374738"/>
          </a:solidFill>
          <a:ln/>
        </p:spPr>
      </p:sp>
      <p:sp>
        <p:nvSpPr>
          <p:cNvPr id="24" name="Text 22"/>
          <p:cNvSpPr/>
          <p:nvPr/>
        </p:nvSpPr>
        <p:spPr>
          <a:xfrm>
            <a:off x="914400" y="4663440"/>
            <a:ext cx="3931920" cy="310896"/>
          </a:xfrm>
          <a:prstGeom prst="rect">
            <a:avLst/>
          </a:prstGeom>
          <a:noFill/>
          <a:ln/>
        </p:spPr>
        <p:txBody>
          <a:bodyPr wrap="square" lIns="0" tIns="0" rIns="0" bIns="0" rtlCol="0" anchor="ctr"/>
          <a:lstStyle/>
          <a:p>
            <a:pPr indent="0" marL="0">
              <a:buNone/>
            </a:pPr>
            <a:r>
              <a:rPr lang="en-US" sz="1200" dirty="0">
                <a:solidFill>
                  <a:srgbClr val="E8E8E0"/>
                </a:solidFill>
                <a:latin typeface="Calibri" pitchFamily="34" charset="0"/>
                <a:ea typeface="Calibri" pitchFamily="34" charset="-122"/>
                <a:cs typeface="Calibri" pitchFamily="34" charset="-120"/>
              </a:rPr>
              <a:t>Operating runway</a:t>
            </a:r>
            <a:endParaRPr lang="en-US" sz="1200" dirty="0"/>
          </a:p>
        </p:txBody>
      </p:sp>
      <p:sp>
        <p:nvSpPr>
          <p:cNvPr id="25" name="Text 23"/>
          <p:cNvSpPr/>
          <p:nvPr/>
        </p:nvSpPr>
        <p:spPr>
          <a:xfrm>
            <a:off x="5029200" y="4663440"/>
            <a:ext cx="1371600" cy="310896"/>
          </a:xfrm>
          <a:prstGeom prst="rect">
            <a:avLst/>
          </a:prstGeom>
          <a:noFill/>
          <a:ln/>
        </p:spPr>
        <p:txBody>
          <a:bodyPr wrap="square" lIns="0" tIns="0" rIns="0" bIns="0" rtlCol="0" anchor="ctr"/>
          <a:lstStyle/>
          <a:p>
            <a:pPr algn="ctr" indent="0" marL="0">
              <a:buNone/>
            </a:pPr>
            <a:r>
              <a:rPr lang="en-US" sz="1200" b="1" dirty="0">
                <a:solidFill>
                  <a:srgbClr val="3DDC84"/>
                </a:solidFill>
                <a:latin typeface="Calibri" pitchFamily="34" charset="0"/>
                <a:ea typeface="Calibri" pitchFamily="34" charset="-122"/>
                <a:cs typeface="Calibri" pitchFamily="34" charset="-120"/>
              </a:rPr>
              <a:t>10%</a:t>
            </a:r>
            <a:endParaRPr lang="en-US" sz="1200" dirty="0"/>
          </a:p>
        </p:txBody>
      </p:sp>
      <p:sp>
        <p:nvSpPr>
          <p:cNvPr id="26" name="Text 24"/>
          <p:cNvSpPr/>
          <p:nvPr/>
        </p:nvSpPr>
        <p:spPr>
          <a:xfrm>
            <a:off x="6583680" y="4663440"/>
            <a:ext cx="1828800" cy="310896"/>
          </a:xfrm>
          <a:prstGeom prst="rect">
            <a:avLst/>
          </a:prstGeom>
          <a:noFill/>
          <a:ln/>
        </p:spPr>
        <p:txBody>
          <a:bodyPr wrap="square" lIns="0" tIns="0" rIns="0" bIns="0" rtlCol="0" anchor="ctr"/>
          <a:lstStyle/>
          <a:p>
            <a:pPr algn="r" indent="0" marL="0">
              <a:buNone/>
            </a:pPr>
            <a:r>
              <a:rPr lang="en-US" sz="1200" dirty="0">
                <a:solidFill>
                  <a:srgbClr val="E8E8E0"/>
                </a:solidFill>
                <a:latin typeface="Calibri" pitchFamily="34" charset="0"/>
                <a:ea typeface="Calibri" pitchFamily="34" charset="-122"/>
                <a:cs typeface="Calibri" pitchFamily="34" charset="-120"/>
              </a:rPr>
              <a:t>$25–$50K</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C3E2D"/>
        </a:solidFill>
      </p:bgPr>
    </p:bg>
    <p:spTree>
      <p:nvGrpSpPr>
        <p:cNvPr id="1" name=""/>
        <p:cNvGrpSpPr/>
        <p:nvPr/>
      </p:nvGrpSpPr>
      <p:grpSpPr>
        <a:xfrm>
          <a:off x="0" y="0"/>
          <a:ext cx="0" cy="0"/>
          <a:chOff x="0" y="0"/>
          <a:chExt cx="0" cy="0"/>
        </a:xfrm>
      </p:grpSpPr>
      <p:sp>
        <p:nvSpPr>
          <p:cNvPr id="2" name="Text 0"/>
          <p:cNvSpPr/>
          <p:nvPr/>
        </p:nvSpPr>
        <p:spPr>
          <a:xfrm>
            <a:off x="2011680" y="822960"/>
            <a:ext cx="2926080" cy="1188720"/>
          </a:xfrm>
          <a:prstGeom prst="rect">
            <a:avLst/>
          </a:prstGeom>
          <a:noFill/>
          <a:ln/>
        </p:spPr>
        <p:txBody>
          <a:bodyPr wrap="square" lIns="0" tIns="0" rIns="0" bIns="0" rtlCol="0" anchor="ctr"/>
          <a:lstStyle/>
          <a:p>
            <a:pPr algn="r" indent="0" marL="0">
              <a:buNone/>
            </a:pPr>
            <a:r>
              <a:rPr lang="en-US" sz="6400" b="1" dirty="0">
                <a:solidFill>
                  <a:srgbClr val="FFFFFF"/>
                </a:solidFill>
                <a:latin typeface="Georgia" pitchFamily="34" charset="0"/>
                <a:ea typeface="Georgia" pitchFamily="34" charset="-122"/>
                <a:cs typeface="Georgia" pitchFamily="34" charset="-120"/>
              </a:rPr>
              <a:t>Care</a:t>
            </a:r>
            <a:endParaRPr lang="en-US" sz="6400" dirty="0"/>
          </a:p>
        </p:txBody>
      </p:sp>
      <p:sp>
        <p:nvSpPr>
          <p:cNvPr id="3" name="Text 1"/>
          <p:cNvSpPr/>
          <p:nvPr/>
        </p:nvSpPr>
        <p:spPr>
          <a:xfrm>
            <a:off x="4754880" y="822960"/>
            <a:ext cx="2560320" cy="1188720"/>
          </a:xfrm>
          <a:prstGeom prst="rect">
            <a:avLst/>
          </a:prstGeom>
          <a:noFill/>
          <a:ln/>
        </p:spPr>
        <p:txBody>
          <a:bodyPr wrap="square" lIns="0" tIns="0" rIns="0" bIns="0" rtlCol="0" anchor="ctr"/>
          <a:lstStyle/>
          <a:p>
            <a:pPr algn="l" indent="0" marL="0">
              <a:buNone/>
            </a:pPr>
            <a:r>
              <a:rPr lang="en-US" sz="6400" b="1" dirty="0">
                <a:solidFill>
                  <a:srgbClr val="3DDC84"/>
                </a:solidFill>
                <a:latin typeface="Georgia" pitchFamily="34" charset="0"/>
                <a:ea typeface="Georgia" pitchFamily="34" charset="-122"/>
                <a:cs typeface="Georgia" pitchFamily="34" charset="-120"/>
              </a:rPr>
              <a:t>Log</a:t>
            </a:r>
            <a:endParaRPr lang="en-US" sz="6400" dirty="0"/>
          </a:p>
        </p:txBody>
      </p:sp>
      <p:sp>
        <p:nvSpPr>
          <p:cNvPr id="4" name="Text 2"/>
          <p:cNvSpPr/>
          <p:nvPr/>
        </p:nvSpPr>
        <p:spPr>
          <a:xfrm>
            <a:off x="1371600" y="2103120"/>
            <a:ext cx="6400800" cy="914400"/>
          </a:xfrm>
          <a:prstGeom prst="rect">
            <a:avLst/>
          </a:prstGeom>
          <a:noFill/>
          <a:ln/>
        </p:spPr>
        <p:txBody>
          <a:bodyPr wrap="square" lIns="0" tIns="0" rIns="0" bIns="0" rtlCol="0" anchor="ctr"/>
          <a:lstStyle/>
          <a:p>
            <a:pPr algn="ctr" indent="0" marL="0">
              <a:lnSpc>
                <a:spcPct val="140000"/>
              </a:lnSpc>
              <a:buNone/>
            </a:pPr>
            <a:r>
              <a:rPr lang="en-US" sz="2000" dirty="0">
                <a:solidFill>
                  <a:srgbClr val="E8E8E0"/>
                </a:solidFill>
                <a:latin typeface="Calibri" pitchFamily="34" charset="0"/>
                <a:ea typeface="Calibri" pitchFamily="34" charset="-122"/>
                <a:cs typeface="Calibri" pitchFamily="34" charset="-120"/>
              </a:rPr>
              <a:t>The longitudinal signal layer</a:t>
            </a:r>
            <a:endParaRPr lang="en-US" sz="2000" dirty="0"/>
          </a:p>
          <a:p>
            <a:pPr algn="ctr" indent="0" marL="0">
              <a:lnSpc>
                <a:spcPct val="140000"/>
              </a:lnSpc>
              <a:buNone/>
            </a:pPr>
            <a:r>
              <a:rPr lang="en-US" sz="2000" dirty="0">
                <a:solidFill>
                  <a:srgbClr val="E8E8E0"/>
                </a:solidFill>
                <a:latin typeface="Calibri" pitchFamily="34" charset="0"/>
                <a:ea typeface="Calibri" pitchFamily="34" charset="-122"/>
                <a:cs typeface="Calibri" pitchFamily="34" charset="-120"/>
              </a:rPr>
              <a:t>modern medicine has been operating without.</a:t>
            </a:r>
            <a:endParaRPr lang="en-US" sz="2000" dirty="0"/>
          </a:p>
        </p:txBody>
      </p:sp>
      <p:sp>
        <p:nvSpPr>
          <p:cNvPr id="5" name="Text 3"/>
          <p:cNvSpPr/>
          <p:nvPr/>
        </p:nvSpPr>
        <p:spPr>
          <a:xfrm>
            <a:off x="1371600" y="3108960"/>
            <a:ext cx="6400800" cy="457200"/>
          </a:xfrm>
          <a:prstGeom prst="rect">
            <a:avLst/>
          </a:prstGeom>
          <a:noFill/>
          <a:ln/>
        </p:spPr>
        <p:txBody>
          <a:bodyPr wrap="square" lIns="0" tIns="0" rIns="0" bIns="0" rtlCol="0" anchor="ctr"/>
          <a:lstStyle/>
          <a:p>
            <a:pPr algn="ctr" indent="0" marL="0">
              <a:buNone/>
            </a:pPr>
            <a:r>
              <a:rPr lang="en-US" sz="1600" b="1" dirty="0">
                <a:solidFill>
                  <a:srgbClr val="3DDC84"/>
                </a:solidFill>
                <a:latin typeface="Calibri" pitchFamily="34" charset="0"/>
                <a:ea typeface="Calibri" pitchFamily="34" charset="-122"/>
                <a:cs typeface="Calibri" pitchFamily="34" charset="-120"/>
              </a:rPr>
              <a:t>Clinically required. Economically self-sustaining. Now operational.</a:t>
            </a:r>
            <a:endParaRPr lang="en-US" sz="1600" dirty="0"/>
          </a:p>
        </p:txBody>
      </p:sp>
      <p:sp>
        <p:nvSpPr>
          <p:cNvPr id="6" name="Text 4"/>
          <p:cNvSpPr/>
          <p:nvPr/>
        </p:nvSpPr>
        <p:spPr>
          <a:xfrm>
            <a:off x="914400" y="3794760"/>
            <a:ext cx="7315200" cy="457200"/>
          </a:xfrm>
          <a:prstGeom prst="rect">
            <a:avLst/>
          </a:prstGeom>
          <a:noFill/>
          <a:ln/>
        </p:spPr>
        <p:txBody>
          <a:bodyPr wrap="square" lIns="0" tIns="0" rIns="0" bIns="0" rtlCol="0" anchor="ctr"/>
          <a:lstStyle/>
          <a:p>
            <a:pPr algn="ctr" indent="0" marL="0">
              <a:buNone/>
            </a:pPr>
            <a:r>
              <a:rPr lang="en-US" sz="1700" i="1" dirty="0">
                <a:solidFill>
                  <a:srgbClr val="FFFFFF"/>
                </a:solidFill>
                <a:latin typeface="Georgia" pitchFamily="34" charset="0"/>
                <a:ea typeface="Georgia" pitchFamily="34" charset="-122"/>
                <a:cs typeface="Georgia" pitchFamily="34" charset="-120"/>
              </a:rPr>
              <a:t>This is not a nice-to-have. This is the layer medicine has been missing.</a:t>
            </a:r>
            <a:endParaRPr lang="en-US" sz="1700" dirty="0"/>
          </a:p>
        </p:txBody>
      </p:sp>
      <p:sp>
        <p:nvSpPr>
          <p:cNvPr id="7" name="Text 5"/>
          <p:cNvSpPr/>
          <p:nvPr/>
        </p:nvSpPr>
        <p:spPr>
          <a:xfrm>
            <a:off x="914400" y="4526280"/>
            <a:ext cx="7315200" cy="365760"/>
          </a:xfrm>
          <a:prstGeom prst="rect">
            <a:avLst/>
          </a:prstGeom>
          <a:noFill/>
          <a:ln/>
        </p:spPr>
        <p:txBody>
          <a:bodyPr wrap="square" lIns="0" tIns="0" rIns="0" bIns="0" rtlCol="0" anchor="ctr"/>
          <a:lstStyle/>
          <a:p>
            <a:pPr algn="ctr" indent="0" marL="0">
              <a:buNone/>
            </a:pPr>
            <a:r>
              <a:rPr lang="en-US" sz="1300" dirty="0">
                <a:solidFill>
                  <a:srgbClr val="999999"/>
                </a:solidFill>
                <a:latin typeface="Calibri" pitchFamily="34" charset="0"/>
                <a:ea typeface="Calibri" pitchFamily="34" charset="-122"/>
                <a:cs typeface="Calibri" pitchFamily="34" charset="-120"/>
              </a:rPr>
              <a:t>Jeff Mariano  |  jmariano19@gmail.com  |  carelog.vivebien.io</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CareLog - Investor Deck</dc:title>
  <dc:subject>PptxGenJS Presentation</dc:subject>
  <dc:creator>Jeff Mariano</dc:creator>
  <cp:lastModifiedBy>Jeff Mariano</cp:lastModifiedBy>
  <cp:revision>1</cp:revision>
  <dcterms:created xsi:type="dcterms:W3CDTF">2026-02-13T13:49:26Z</dcterms:created>
  <dcterms:modified xsi:type="dcterms:W3CDTF">2026-02-13T13:49:26Z</dcterms:modified>
</cp:coreProperties>
</file>